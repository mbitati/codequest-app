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 complet POO &amp; UML.
22 slides couvrant : procedurale vs POO, procedure/fonction/methode, classes, encapsulation, constructeurs, final, heritage, UML.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CODING : montrer un programme procedural (tout dans main) puis le meme en POO (classe + objet)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Definitions officielles du cours. Procedure = void, Fonction = retourne une valeur.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que la classe est le MOULE, l'objet est le GATEAU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PROVOQUER l'erreur : inv.nom = "test" -&gt; Eclipse souligne en rouge 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qu'un objet sans constructeur a des valeurs null/0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usages de final a montrer en live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 fondamental de la POO. Montrer l'analogie parent/enfant.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PROVOQUER l'erreur : oublier super() -&gt; Eclipse erreur 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 &amp; UML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a la POO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 au UML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/ Eclipse - Cours Complet V2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D737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Objectifs du cours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Comprendre la difference entre procedurale et POO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8988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Distinguer procedure, fonction et methode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6537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Creer des classes avec encapsulation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340864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Utiliser constructeurs et surcharge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81635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Comprendre final (variable, methode, classe)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291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Maitriser l'heritage (extends, super, protected, @Override)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7673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Lire et creer des diagrammes UML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Sommaire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1440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14400"/>
            <a:ext cx="54864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87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Procedurale vs POO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37360"/>
            <a:ext cx="54864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10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Procedure, Fonction, Methode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60320"/>
            <a:ext cx="54864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334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Classe et Objet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38328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383280"/>
            <a:ext cx="54864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456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Encapsulation (private, getters/setters)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3749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1440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914400"/>
            <a:ext cx="54864" cy="685800"/>
          </a:xfrm>
          <a:prstGeom prst="rect">
            <a:avLst/>
          </a:prstGeom>
          <a:solidFill>
            <a:srgbClr val="14A3C7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9875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Constructeurs et surcharge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1280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173736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1737360"/>
            <a:ext cx="54864" cy="685800"/>
          </a:xfrm>
          <a:prstGeom prst="rect">
            <a:avLst/>
          </a:prstGeom>
          <a:solidFill>
            <a:srgbClr val="14A3C7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1810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Le mot-cle final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56032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560320"/>
            <a:ext cx="54864" cy="685800"/>
          </a:xfrm>
          <a:prstGeom prst="rect">
            <a:avLst/>
          </a:prstGeom>
          <a:solidFill>
            <a:srgbClr val="14A3C7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6334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Heritage (extends, super, protected)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46320" y="2926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383280"/>
            <a:ext cx="39319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3383280"/>
            <a:ext cx="54864" cy="685800"/>
          </a:xfrm>
          <a:prstGeom prst="rect">
            <a:avLst/>
          </a:prstGeom>
          <a:solidFill>
            <a:srgbClr val="14A3C7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456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UML : diagramme de classes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46320" y="3749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Procedurale vs POO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" y="100584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005840"/>
            <a:ext cx="54864" cy="2926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137160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Code lineaire, du haut vers le bas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Donnees et fonctions separees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Fonctions manipulent des variables globales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Difficile a maintenir quand le projet grossit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100584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005840"/>
            <a:ext cx="54864" cy="2926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0" y="137160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Code organise en objets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Chaque objet = donnees + comportements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Encapsulation protege les donnees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Facile a etendre (heritage)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Procedure vs Fonction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005840"/>
            <a:ext cx="54864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 (void)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1371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 quelque chose mais ne retourne RIEN.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afficher(String msg)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System.out.println(msg);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100584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005840"/>
            <a:ext cx="54864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(return)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0" y="13716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 un calcul et RETOURNE un resultat.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additionner(int a, int b)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return a + b;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POO, les deux s'appellent METHODES quand elles appartiennent a une classe.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Methode en POO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502920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9728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Calculatrice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Methode-procedure (void)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afficherResultat(int n)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System.out.println("Resultat: " + n);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Methode-fonction (return)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additionner(int a, int b)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 + b;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0" y="1005840"/>
            <a:ext cx="3017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1005840"/>
            <a:ext cx="54864" cy="10972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078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types de methodes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0" y="1371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Accesseurs (getters)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Mutateurs (setters)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Methodes metier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2286000"/>
            <a:ext cx="3017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2286000"/>
            <a:ext cx="54864" cy="1097280"/>
          </a:xfrm>
          <a:prstGeom prst="rect">
            <a:avLst/>
          </a:prstGeom>
          <a:solidFill>
            <a:srgbClr val="14A3C7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2359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0" y="2651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+ parametres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additionner(int, int)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Classe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" y="1005840"/>
            <a:ext cx="502920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109728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Invention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nom;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annee;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inventeur;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0" y="1005840"/>
            <a:ext cx="30175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1005840"/>
            <a:ext cx="54864" cy="16459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8"/>
          <p:cNvSpPr/>
          <p:nvPr/>
        </p:nvSpPr>
        <p:spPr>
          <a:xfrm>
            <a:off x="5852160" y="1078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classe =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852160" y="137160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PLAN (moule)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definit 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Les attributs (donnees)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Les methodes (comportements)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Classe vs Objet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502920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9728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La classe = le moule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Invention { ...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Les objets = les gateaux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Invention tel = new Invention("Telephone", 1876);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Invention amp = new Invention("Ampoule", 1879);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Chaque objet a ses propres valeurs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tel.getNom(); // "Telephone"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amp.getNom(); // "Ampoule"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0" y="1005840"/>
            <a:ext cx="3017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100584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078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0" y="1371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mot-cle new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 un OBJET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 la classe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2286000"/>
            <a:ext cx="30175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669280" y="2286000"/>
            <a:ext cx="54864" cy="1097280"/>
          </a:xfrm>
          <a:prstGeom prst="rect">
            <a:avLst/>
          </a:prstGeom>
          <a:solidFill>
            <a:srgbClr val="14A3C7"/>
          </a:solidFill>
          <a:ln/>
        </p:spPr>
      </p:sp>
      <p:sp>
        <p:nvSpPr>
          <p:cNvPr id="14" name="Text 12"/>
          <p:cNvSpPr/>
          <p:nvPr/>
        </p:nvSpPr>
        <p:spPr>
          <a:xfrm>
            <a:off x="5852160" y="2359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52160" y="2651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 reference 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L'OBJET COURANT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(celui sur lequel on travaille)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Encapsulation : private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" y="1005840"/>
            <a:ext cx="502920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109728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Invention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nom;  // INACCESSIBLE depuis l'exterieur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getNom()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nom;       // LECTURE via getter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setNom(String nom)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(nom != null &amp;&amp; !nom.isEmpty())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this.nom = nom; // ECRITURE via setter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0" y="1005840"/>
            <a:ext cx="30175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1005840"/>
            <a:ext cx="54864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5852160" y="1078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private 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852160" y="1371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Proteger les donnees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Controler l'acces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Valider les modifications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Le setter peut REFUSER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une valeur invalide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Getters et Setters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502920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972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GETTER = lire la valeur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 getNom()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this.nom;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SETTER = modifier avec validation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setNom(String nom)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(nom != null &amp;&amp; !nom.isEmpty())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this.nom = nom;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SETTER sans validation = DANGEREUX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0" y="1005840"/>
            <a:ext cx="3017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1005840"/>
            <a:ext cx="54864" cy="13716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078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getNom() / setNom()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getAnnee() / setAnnee()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getPrix() / setPrix()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Constructeur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" y="1005840"/>
            <a:ext cx="502920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10972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Invention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nom;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annee;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Constructeur = meme nom que la classe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Invention(String nom, int annee)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this.nom = nom;     // this = l'objet en cours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this.annee = annee;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Utilisation 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Invention inv = new Invention("Telephone", 1876);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0" y="1005840"/>
            <a:ext cx="3017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9280" y="1005840"/>
            <a:ext cx="54864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5852160" y="1078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85216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Meme nom que la classe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Pas de type de retour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Appele par new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Initialise les attributs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Surcharge de constructeurs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5029200" cy="3108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9728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Invention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nom;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annee;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Constructeur complet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Invention(String nom, int annee)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this.nom = nom;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this.annee = annee;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Constructeur minimal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Invention(String nom)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this(nom, 0); // appelle l'autre constructeur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0" y="1005840"/>
            <a:ext cx="3017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1005840"/>
            <a:ext cx="54864" cy="1371600"/>
          </a:xfrm>
          <a:prstGeom prst="rect">
            <a:avLst/>
          </a:prstGeom>
          <a:solidFill>
            <a:srgbClr val="14A3C7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078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Surcharge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0" y="13716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Meme nom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parametres DIFFERENTS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choisit le bon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automatiquement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mot-cle final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" y="10058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005840"/>
            <a:ext cx="54864" cy="2286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0789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variable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13716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CONSTANTE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double TVA = 0.077;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TVA = 0.08; ERREUR !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10058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005840"/>
            <a:ext cx="54864" cy="2286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0789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methode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Non redefinissable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final void afficher()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// Les enfants 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// peuvent PAS modifier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10058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35040" y="1005840"/>
            <a:ext cx="54864" cy="2286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4"/>
          <p:cNvSpPr/>
          <p:nvPr/>
        </p:nvSpPr>
        <p:spPr>
          <a:xfrm>
            <a:off x="6217920" y="10789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classe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217920" y="13716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Non heritable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final class Securite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// Personne ne peut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// extends cette classe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L'Heritage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classe enfant HERITE de tous les attributs et methodes de la classe parent.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18288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828800"/>
            <a:ext cx="54864" cy="20116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901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parent (mere)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19456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nom, annee, inventeur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decrire()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Le modele GENERAL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46320" y="18288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1828800"/>
            <a:ext cx="54864" cy="2011680"/>
          </a:xfrm>
          <a:prstGeom prst="rect">
            <a:avLst/>
          </a:prstGeom>
          <a:solidFill>
            <a:srgbClr val="14A3C7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0" y="1901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enfant (fille)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0" y="2194560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InventionLogicielle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herite de tout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AJOUTE : langage, nbLignes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REDEFINIT : decrire()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Le modele SPECIALISE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clause extends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00" cy="31089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97280"/>
            <a:ext cx="5212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InventionLogicielle extends Invention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langage;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InventionLogicielle(String nom, int annee,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String inventeur, String langage)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super(nom, annee, inventeur); // appelle le parent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this.langage = langage;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decrire()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nom + " en " + langage;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26480" y="100584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0789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1371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herite de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 tout 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est public ou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du parent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clause super()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" y="1005840"/>
            <a:ext cx="548640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1097280"/>
            <a:ext cx="52120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OBLIGATOIRE en PREMIERE LIGNE du constructeur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InventionLogicielle(String nom, int annee, String lang)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super(nom, annee);  // appelle Invention(nom, annee)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this.langage = lang;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 on oublie super() 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ERREUR : Implicit super constructor Invention()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is undefined. Must explicitly invoke another constructor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26480" y="10058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26480" y="1005840"/>
            <a:ext cx="54864" cy="1371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6309360" y="10789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09360" y="13716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 DOIT etre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PREMIERE instruction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constructeur enfant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L'accessibilite protected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502920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9728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Invention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String nom;   // visible par les enfants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secret;     // PAS visible par les enfants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InvLogicielle extends Invention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test()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System.out.println(nom);    // OK (protected)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System.out.println(secret); // ERREUR (private)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2E0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669280" y="1005840"/>
            <a:ext cx="30175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0" y="1005840"/>
            <a:ext cx="54864" cy="2286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1078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0" y="13716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private : classe seulement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protected : classe + enfants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public : tout le monde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= entre les deux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Surcharge vs Redefinition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0584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54864" cy="2560320"/>
          </a:xfrm>
          <a:prstGeom prst="rect">
            <a:avLst/>
          </a:prstGeom>
          <a:solidFill>
            <a:srgbClr val="14A3C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Surcharge (Overloading)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 classe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 nom de methode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Parametres DIFFERENTS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afficher(String 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afficher(int 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afficher(String s, int 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05840"/>
            <a:ext cx="54864" cy="2560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078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Redefinition (Overriding)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37160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ENFANT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 nom de methode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MEMES parametres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@Override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String decrire()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// comportement DIFFERENT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UML : Diagramme de classes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0" y="914400"/>
            <a:ext cx="3657600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914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0" y="1371600"/>
            <a:ext cx="3657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3716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nom : String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annee : 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inventeur : String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228600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2860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Invention(nom, annee, inv)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getNom() : String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getAnnee() : 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decrire() : String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914400"/>
            <a:ext cx="22860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914400"/>
            <a:ext cx="54864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9875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 UML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128016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= private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= public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= protected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= package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914400"/>
            <a:ext cx="21031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0" y="914400"/>
            <a:ext cx="54864" cy="1371600"/>
          </a:xfrm>
          <a:prstGeom prst="rect">
            <a:avLst/>
          </a:prstGeom>
          <a:solidFill>
            <a:srgbClr val="14A3C7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987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40880" y="12801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Nom de la classe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Attributs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Methodes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UML : Heritage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0" y="822960"/>
            <a:ext cx="2743200" cy="3657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822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887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nom : String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annee : int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decrire() : String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2926080"/>
            <a:ext cx="2743200" cy="365760"/>
          </a:xfrm>
          <a:prstGeom prst="rect">
            <a:avLst/>
          </a:prstGeom>
          <a:solidFill>
            <a:srgbClr val="14A3C7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InvLogicielle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29184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4A3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291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langage : String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decrire() : String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0" y="2926080"/>
            <a:ext cx="2743200" cy="365760"/>
          </a:xfrm>
          <a:prstGeom prst="rect">
            <a:avLst/>
          </a:prstGeom>
          <a:solidFill>
            <a:srgbClr val="14A3C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InvMecanique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329184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4A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3291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nbPieces : int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decrire() : String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0" y="1920240"/>
            <a:ext cx="2286000" cy="100584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920240"/>
            <a:ext cx="2286000" cy="100584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Fleche triangle creux = heritage (extends)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2E0C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Recapitulatif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1554480" cy="128016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280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Moule/plan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84832" y="1097280"/>
            <a:ext cx="1554480" cy="1280160"/>
          </a:xfrm>
          <a:prstGeom prst="rect">
            <a:avLst/>
          </a:prstGeom>
          <a:solidFill>
            <a:srgbClr val="14A3C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84832" y="1280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84832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(new)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03904" y="1097280"/>
            <a:ext cx="1554480" cy="128016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03904" y="1280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private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03904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22976" y="1097280"/>
            <a:ext cx="1554480" cy="128016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22976" y="1280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Getter/Setter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22976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 controle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42048" y="1097280"/>
            <a:ext cx="1554480" cy="128016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42048" y="1280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Constructeur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42048" y="1737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743200"/>
            <a:ext cx="1554480" cy="1280160"/>
          </a:xfrm>
          <a:prstGeom prst="rect">
            <a:avLst/>
          </a:prstGeom>
          <a:solidFill>
            <a:srgbClr val="64748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Constante/scelle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084832" y="2743200"/>
            <a:ext cx="1554480" cy="128016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084832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extends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084832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803904" y="2743200"/>
            <a:ext cx="1554480" cy="1280160"/>
          </a:xfrm>
          <a:prstGeom prst="rect">
            <a:avLst/>
          </a:prstGeom>
          <a:solidFill>
            <a:srgbClr val="14A3C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803904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super()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803904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parent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522976" y="2743200"/>
            <a:ext cx="1554480" cy="128016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22976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@Override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22976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Redefinition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242048" y="2743200"/>
            <a:ext cx="1554480" cy="128016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242048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242048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POO &amp; UML - Cours Complet V2</dc:title>
  <dc:subject>PptxGenJS Presentation</dc:subject>
  <dc:creator>CodeQuest</dc:creator>
  <cp:lastModifiedBy>CodeQuest</cp:lastModifiedBy>
  <cp:revision>1</cp:revision>
  <dcterms:created xsi:type="dcterms:W3CDTF">2026-03-26T13:04:03Z</dcterms:created>
  <dcterms:modified xsi:type="dcterms:W3CDTF">2026-03-26T13:04:03Z</dcterms:modified>
</cp:coreProperties>
</file>