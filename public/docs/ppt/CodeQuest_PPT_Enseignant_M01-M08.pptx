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PPT de référence pour l'enseignant. Contient la théorie, les exemples de code, les notes pédagogiques, et le déroulement de chaque module.
Cycle par concept : Théorie (15min) → Mini-jeu web (10-15min) → Code guidé Eclipse (30-45min) → Exercice autonome → Correction → Mémo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01 — CONDITIONS
Durée estimée : 1 séance de 4 périodes
Prérequis : variables, types, System.out.println
Objectif : l'élève sait écrire des if/else, switch, utiliser &amp;&amp;, ||, !
Jeu web : Potion de Vérité + Labyrinthe des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CODING : montrer d'abord sans else, puis ajouter else. Provoquer l'erreur = vs == en live dans Eclipse pour montrer le warning.
Faire varier la valeur de age et demander aux élèves de prédire le résultat AVANT d'exécuter.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CODING : écrire le if/else if d'abord, puis montrer que switch est plus lisible pour ce cas.
⚠ Oublier le break dans switch → effet cascade ! Le montrer volontairement.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CODING : construire progressivement. D'abord age &gt;= 18, puis ajouter &amp;&amp; permis.
Exercice rapide oral : demander aux élèves d'évaluer mentalement des expressions avant de les tester.
JEU WEB à lancer après : La Potion de Vérité (10 min) — chaque condition correcte remplit la bouteille.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02 — BOUCLES
Durée estimée : 1 séance de 4 périodes
Prérequis : conditions (M01)
Objectif : l'élève sait écrire les 3 types de boucles et choisir la bonne
Jeu web : Le Serpent des Boucles + Bubble Sort visuel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CODING : commencer par un for simple qui affiche 1 à 5. Puis parcours de tableau.
Montrer for-each APRÈS le for classique — les élèves doivent comprendre les index d'abord.
⚠ Erreur à provoquer : boucle infinie (oublier i++) → forcer l'arrêt dans Eclipse (bouton stop rouge).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CODING : montrer while pour saisie utilisateur (boucle jusqu'à entrée valide).
Montrer la différence : while peut ne jamais s'exécuter, do-while s'exécute au moins une fois.
JEU WEB après : Le Serpent des Boucles (prédire la longueur du serpent selon les paramètres de boucle).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03 — OOP FONDAMENTAUX
Durée estimée : 2 séances de 4 périodes
Prérequis : conditions + boucles (M01-M02)
Objectif : créer une classe complète avec attributs privés, constructeur, getters/setters, méthodes
Jeu web : L'Usine à Objets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CODING PROGRESSIF :
1. Classe vide avec juste le nom
2. Ajouter UN attribut (String nom)
3. Ajouter le constructeur avec this
4. PROVOQUER L'ERREUR : accéder à nom depuis le main sans getter → Eclipse dit 'not visible'
5. Ajouter le getter → ça marche
C'est LE moment clé du cours. Les élèves doivent VOIR l'erreur pour comprendre private.
JEU WEB : L'Usine à Objets — assembler une classe pièce par pièce.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CODING : créer le main dans un fichier séparé. Montrer que new appelle le constructeur.
Démontrer que i1 et i2 sont INDÉPENDANTS (modifier l'un ne change pas l'autre).
Erreur à provoquer : i1.nom → Eclipse souligne en rouge → POURQUOI ? Parce que private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04 — MANIPULATION DE DONNÉES
Durée estimée : 1-2 séances de 4 périodes
Prérequis : OOP (M03)
Objectif : manipuler des Strings et ArrayList, implémenter un CRUD complet
Jeu web : Terminal CRUD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CODING : tester chaque méthode une par une. Montrer que s.toUpperCase() ne modifie pas s → il faut s = s.toUpperCase().
⚠ Erreur classique == vs .equals() : créer deux Strings identiques avec new String('test') et montrer que == retourne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CODING : créer une ArrayList, ajouter des éléments, puis montrer le CRUD complet.
Montrer que remove(0) DÉCALE les index → source de bugs fréquente.
Exercice : catalogue d'inventions avec menu interactif (Scanner + ArrayList).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05 — HÉRITAGE
Durée estimée : 1-2 séances de 4 périodes
Prérequis : OOP complète (M03)
Objectif : créer une hiérarchie de classes avec héritage, comprendre le polymorphisme
Jeu web : Quiz Héritage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CODING PROGRESSIF :
1. Classe Invention seule
2. Créer InventionLogicielle extends Invention
3. ERREUR : pas de super() → Eclipse dit 'constructor undefined'
4. Ajouter super(nom, annee) → ça compile
5. Montrer que l'enfant a accès à protected mais pas à private
Provoquer l'erreur volontairement ! C'est comme ça qu'ils apprennent.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slide le plus important de M05. Montrer que i2 est déclaré comme Invention mais appelle la méthode de InventionLogicielle → MAGIE du polymorphisme.
Analogie : un ArrayList&lt;Invention&gt; peut contenir des Inventions et des InventionLogicielles mélangées. Quand on appelle decrire() en boucle, chaque objet 'sait' quelle version utiliser.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06 — PROJET GIT
Durée estimée : 1 séance de 4 périodes
Prérequis : code fonctionnel (M01-M05)
Objectif : versionner son code, travailler en équipe sur GitHub
Jeu web : Terminal 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CODING : faire tout le workflow en live devant les élèves.
1. Créer un repo local
2. Ajouter des fichiers Java
3. Commit
4. Créer le repo sur GitHub
5. Push
Chaque élève doit reproduire sur son poste. Le Terminal Git (jeu web) renforce ensuite les commandes.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07 — SÉCURITÉ
Durée estimée : 1 séance de 4 périodes
Prérequis : OOP + ArrayList (M03-M04)
Objectif : écrire du code qui ne plante JAMAIS face à des entrées invalides
Jeu web : Security Scanner (8 failles à trouver)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CODING : écrire d'abord SANS try-catch, entrer 'abc' → CRASH NumberFormatException.
Puis entourer de try-catch → le programme affiche un message propre au lieu de crasher.
Montrer la différence entre 'le programme plante' et 'le programme gère l'erreur'.
JEU WEB : Security Scanner — 8 extraits de code avec des failles, les élèves doivent les identifier.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CLÉ : la boucle while + try-catch pour la saisie.
Ce pattern est réutilisable partout. Le faire écrire par les élèves comme un 'template' qu'ils gardent.
Exercice : créer une classe ValidationUtils avec des méthodes statiques réutilisables (lireEntier, lireString).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08 — BUILD &amp; DEPLOY
Durée estimée : 1 séance de 4 périodes
Prérequis : Git (M06) + code complet
Objectif : créer un JAR exécutable et une Release GitHub
Jeu web : Pipeline de Déploiement (remettre les étapes dans l'ordre)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CODING : montrer les DEUX méthodes (terminal ET Eclipse export).
Le JAR doit être exécutable sur une machine qui n'a PAS Eclipse → c'est le test final.
Faire tester entre élèves : l'un crée le JAR, l'autre le télécharge et l'exécute.
JEU WEB : Pipeline de Déploiement — remettre les 8 étapes dans le bon ordre.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récap. Chaque module = 1 séance de 4 périodes (sauf M03 et M05 qui peuvent prendre 2 séances).
Total : ~12-14 séances pour couvrir M01-M08.
Chaque module suit le cycle : Théorie → Mini-jeu web → Code guidé → Exercice → Correction → Mémo.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Text 1"/>
          <p:cNvSpPr/>
          <p:nvPr/>
        </p:nvSpPr>
        <p:spPr>
          <a:xfrm>
            <a:off x="548640" y="274320"/>
            <a:ext cx="3657600" cy="457200"/>
          </a:xfrm>
          <a:prstGeom prst="rect">
            <a:avLst/>
          </a:prstGeom>
          <a:noFill/>
          <a:ln/>
        </p:spPr>
        <p:txBody>
          <a:bodyPr wrap="square" rtlCol="0" anchor="ctr"/>
          <a:lstStyle/>
          <a:p>
            <a:pPr indent="0" marL="0">
              <a:buNone/>
            </a:pPr>
            <a:r>
              <a:rPr lang="en-US" sz="1200" b="1" spc="600" kern="0" dirty="0">
                <a:solidFill>
                  <a:srgbClr val="32E0C4"/>
                </a:solidFill>
                <a:latin typeface="Consolas" pitchFamily="34" charset="0"/>
                <a:ea typeface="Consolas" pitchFamily="34" charset="-122"/>
                <a:cs typeface="Consolas" pitchFamily="34" charset="-120"/>
              </a:rPr>
              <a:t>CODEQUEST</a:t>
            </a:r>
            <a:endParaRPr lang="en-US" sz="1200" dirty="0"/>
          </a:p>
        </p:txBody>
      </p:sp>
      <p:sp>
        <p:nvSpPr>
          <p:cNvPr id="4" name="Text 2"/>
          <p:cNvSpPr/>
          <p:nvPr/>
        </p:nvSpPr>
        <p:spPr>
          <a:xfrm>
            <a:off x="548640" y="594360"/>
            <a:ext cx="3657600" cy="320040"/>
          </a:xfrm>
          <a:prstGeom prst="rect">
            <a:avLst/>
          </a:prstGeom>
          <a:noFill/>
          <a:ln/>
        </p:spPr>
        <p:txBody>
          <a:bodyPr wrap="square" rtlCol="0" anchor="ctr"/>
          <a:lstStyle/>
          <a:p>
            <a:pPr indent="0" marL="0">
              <a:buNone/>
            </a:pPr>
            <a:r>
              <a:rPr lang="en-US" sz="900" spc="300" kern="0" dirty="0">
                <a:solidFill>
                  <a:srgbClr val="94A3B8"/>
                </a:solidFill>
                <a:latin typeface="Calibri" pitchFamily="34" charset="0"/>
                <a:ea typeface="Calibri" pitchFamily="34" charset="-122"/>
                <a:cs typeface="Calibri" pitchFamily="34" charset="-120"/>
              </a:rPr>
              <a:t>LE LABO DE L'INVENTEUR</a:t>
            </a:r>
            <a:endParaRPr lang="en-US" sz="900" dirty="0"/>
          </a:p>
        </p:txBody>
      </p:sp>
      <p:sp>
        <p:nvSpPr>
          <p:cNvPr id="5" name="Text 3"/>
          <p:cNvSpPr/>
          <p:nvPr/>
        </p:nvSpPr>
        <p:spPr>
          <a:xfrm>
            <a:off x="548640" y="1463040"/>
            <a:ext cx="8046720" cy="1371600"/>
          </a:xfrm>
          <a:prstGeom prst="rect">
            <a:avLst/>
          </a:prstGeom>
          <a:noFill/>
          <a:ln/>
        </p:spPr>
        <p:txBody>
          <a:bodyPr wrap="square" rtlCol="0" anchor="ctr"/>
          <a:lstStyle/>
          <a:p>
            <a:pPr indent="0" marL="0">
              <a:buNone/>
            </a:pPr>
            <a:r>
              <a:rPr lang="en-US" sz="4000" b="1" dirty="0">
                <a:solidFill>
                  <a:srgbClr val="FFFFFF"/>
                </a:solidFill>
                <a:latin typeface="Trebuchet MS" pitchFamily="34" charset="0"/>
                <a:ea typeface="Trebuchet MS" pitchFamily="34" charset="-122"/>
                <a:cs typeface="Trebuchet MS" pitchFamily="34" charset="-120"/>
              </a:rPr>
              <a:t>Guide Enseignant</a:t>
            </a:r>
            <a:endParaRPr lang="en-US" sz="4000" dirty="0"/>
          </a:p>
          <a:p>
            <a:pPr indent="0" marL="0">
              <a:buNone/>
            </a:pPr>
            <a:r>
              <a:rPr lang="en-US" sz="4000" b="1" dirty="0">
                <a:solidFill>
                  <a:srgbClr val="FFFFFF"/>
                </a:solidFill>
                <a:latin typeface="Trebuchet MS" pitchFamily="34" charset="0"/>
                <a:ea typeface="Trebuchet MS" pitchFamily="34" charset="-122"/>
                <a:cs typeface="Trebuchet MS" pitchFamily="34" charset="-120"/>
              </a:rPr>
              <a:t>Modules M01 — M08</a:t>
            </a:r>
            <a:endParaRPr lang="en-US" sz="4000" dirty="0"/>
          </a:p>
        </p:txBody>
      </p:sp>
      <p:sp>
        <p:nvSpPr>
          <p:cNvPr id="6" name="Text 4"/>
          <p:cNvSpPr/>
          <p:nvPr/>
        </p:nvSpPr>
        <p:spPr>
          <a:xfrm>
            <a:off x="548640" y="2834640"/>
            <a:ext cx="8046720" cy="731520"/>
          </a:xfrm>
          <a:prstGeom prst="rect">
            <a:avLst/>
          </a:prstGeom>
          <a:noFill/>
          <a:ln/>
        </p:spPr>
        <p:txBody>
          <a:bodyPr wrap="square" rtlCol="0" anchor="ctr"/>
          <a:lstStyle/>
          <a:p>
            <a:pPr indent="0" marL="0">
              <a:buNone/>
            </a:pPr>
            <a:r>
              <a:rPr lang="en-US" sz="1800" dirty="0">
                <a:solidFill>
                  <a:srgbClr val="32E0C4"/>
                </a:solidFill>
                <a:latin typeface="Calibri" pitchFamily="34" charset="0"/>
                <a:ea typeface="Calibri" pitchFamily="34" charset="-122"/>
                <a:cs typeface="Calibri" pitchFamily="34" charset="-120"/>
              </a:rPr>
              <a:t>Phase 1 (Rattrapage LO1-LO2) + Phase 2 (LO3 Implémentation)</a:t>
            </a:r>
            <a:endParaRPr lang="en-US" sz="1800" dirty="0"/>
          </a:p>
        </p:txBody>
      </p:sp>
      <p:sp>
        <p:nvSpPr>
          <p:cNvPr id="7" name="Shape 5"/>
          <p:cNvSpPr/>
          <p:nvPr/>
        </p:nvSpPr>
        <p:spPr>
          <a:xfrm>
            <a:off x="0" y="4754880"/>
            <a:ext cx="9144000" cy="388620"/>
          </a:xfrm>
          <a:prstGeom prst="rect">
            <a:avLst/>
          </a:prstGeom>
          <a:solidFill>
            <a:srgbClr val="0D7377"/>
          </a:solidFill>
          <a:ln/>
        </p:spPr>
      </p:sp>
      <p:sp>
        <p:nvSpPr>
          <p:cNvPr id="8" name="Text 6"/>
          <p:cNvSpPr/>
          <p:nvPr/>
        </p:nvSpPr>
        <p:spPr>
          <a:xfrm>
            <a:off x="548640" y="4754880"/>
            <a:ext cx="7315200" cy="38862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Guide Enseignant — BTEC HND Unit 1: Programming</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737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Text 1"/>
          <p:cNvSpPr/>
          <p:nvPr/>
        </p:nvSpPr>
        <p:spPr>
          <a:xfrm>
            <a:off x="548640" y="548640"/>
            <a:ext cx="3657600" cy="365760"/>
          </a:xfrm>
          <a:prstGeom prst="rect">
            <a:avLst/>
          </a:prstGeom>
          <a:noFill/>
          <a:ln/>
        </p:spPr>
        <p:txBody>
          <a:bodyPr wrap="square" rtlCol="0" anchor="ctr"/>
          <a:lstStyle/>
          <a:p>
            <a:pPr indent="0" marL="0">
              <a:buNone/>
            </a:pPr>
            <a:r>
              <a:rPr lang="en-US" sz="1200" b="1" spc="600" kern="0" dirty="0">
                <a:solidFill>
                  <a:srgbClr val="32E0C4"/>
                </a:solidFill>
                <a:latin typeface="Consolas" pitchFamily="34" charset="0"/>
                <a:ea typeface="Consolas" pitchFamily="34" charset="-122"/>
                <a:cs typeface="Consolas" pitchFamily="34" charset="-120"/>
              </a:rPr>
              <a:t>MODULE 1</a:t>
            </a:r>
            <a:endParaRPr lang="en-US" sz="1200" dirty="0"/>
          </a:p>
        </p:txBody>
      </p:sp>
      <p:pic>
        <p:nvPicPr>
          <p:cNvPr id="4" name="Image 0" descr="preencoded.png">    </p:cNvPr>
          <p:cNvPicPr>
            <a:picLocks noChangeAspect="1"/>
          </p:cNvPicPr>
          <p:nvPr/>
        </p:nvPicPr>
        <p:blipFill>
          <a:blip r:embed="rId1"/>
          <a:stretch>
            <a:fillRect/>
          </a:stretch>
        </p:blipFill>
        <p:spPr>
          <a:xfrm>
            <a:off x="7772400" y="731520"/>
            <a:ext cx="914400" cy="914400"/>
          </a:xfrm>
          <a:prstGeom prst="rect">
            <a:avLst/>
          </a:prstGeom>
        </p:spPr>
      </p:pic>
      <p:sp>
        <p:nvSpPr>
          <p:cNvPr id="5" name="Text 2"/>
          <p:cNvSpPr/>
          <p:nvPr/>
        </p:nvSpPr>
        <p:spPr>
          <a:xfrm>
            <a:off x="548640" y="1371600"/>
            <a:ext cx="6858000" cy="1097280"/>
          </a:xfrm>
          <a:prstGeom prst="rect">
            <a:avLst/>
          </a:prstGeom>
          <a:noFill/>
          <a:ln/>
        </p:spPr>
        <p:txBody>
          <a:bodyPr wrap="square"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Les Conditions</a:t>
            </a:r>
            <a:endParaRPr lang="en-US" sz="3600" dirty="0"/>
          </a:p>
        </p:txBody>
      </p:sp>
      <p:sp>
        <p:nvSpPr>
          <p:cNvPr id="6" name="Text 3"/>
          <p:cNvSpPr/>
          <p:nvPr/>
        </p:nvSpPr>
        <p:spPr>
          <a:xfrm>
            <a:off x="548640" y="2560320"/>
            <a:ext cx="6858000" cy="640080"/>
          </a:xfrm>
          <a:prstGeom prst="rect">
            <a:avLst/>
          </a:prstGeom>
          <a:noFill/>
          <a:ln/>
        </p:spPr>
        <p:txBody>
          <a:bodyPr wrap="square" rtlCol="0" anchor="ctr"/>
          <a:lstStyle/>
          <a:p>
            <a:pPr indent="0" marL="0">
              <a:buNone/>
            </a:pPr>
            <a:r>
              <a:rPr lang="en-US" sz="1600" dirty="0">
                <a:solidFill>
                  <a:srgbClr val="E8F8F5"/>
                </a:solidFill>
                <a:latin typeface="Calibri" pitchFamily="34" charset="0"/>
                <a:ea typeface="Calibri" pitchFamily="34" charset="-122"/>
                <a:cs typeface="Calibri" pitchFamily="34" charset="-120"/>
              </a:rPr>
              <a:t>if / else / switch · Opérateurs logiques · Comparaisons</a:t>
            </a:r>
            <a:endParaRPr lang="en-US" sz="1600" dirty="0"/>
          </a:p>
        </p:txBody>
      </p:sp>
      <p:sp>
        <p:nvSpPr>
          <p:cNvPr id="7" name="Shape 4"/>
          <p:cNvSpPr/>
          <p:nvPr/>
        </p:nvSpPr>
        <p:spPr>
          <a:xfrm>
            <a:off x="0" y="4754880"/>
            <a:ext cx="9144000" cy="388620"/>
          </a:xfrm>
          <a:prstGeom prst="rect">
            <a:avLst/>
          </a:prstGeom>
          <a:solidFill>
            <a:srgbClr val="0F172A"/>
          </a:solidFill>
          <a:ln/>
        </p:spPr>
      </p:sp>
      <p:sp>
        <p:nvSpPr>
          <p:cNvPr id="8" name="Text 5"/>
          <p:cNvSpPr/>
          <p:nvPr/>
        </p:nvSpPr>
        <p:spPr>
          <a:xfrm>
            <a:off x="548640" y="4754880"/>
            <a:ext cx="7315200" cy="3886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M01 — Les Conditions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Shape 1"/>
          <p:cNvSpPr/>
          <p:nvPr/>
        </p:nvSpPr>
        <p:spPr>
          <a:xfrm>
            <a:off x="0" y="54864"/>
            <a:ext cx="9144000" cy="685800"/>
          </a:xfrm>
          <a:prstGeom prst="rect">
            <a:avLst/>
          </a:prstGeom>
          <a:solidFill>
            <a:srgbClr val="F1F5F9"/>
          </a:solidFill>
          <a:ln/>
        </p:spPr>
      </p:sp>
      <p:sp>
        <p:nvSpPr>
          <p:cNvPr id="4" name="Text 2"/>
          <p:cNvSpPr/>
          <p:nvPr/>
        </p:nvSpPr>
        <p:spPr>
          <a:xfrm>
            <a:off x="548640" y="109728"/>
            <a:ext cx="7315200" cy="594360"/>
          </a:xfrm>
          <a:prstGeom prst="rect">
            <a:avLst/>
          </a:prstGeom>
          <a:noFill/>
          <a:ln/>
        </p:spPr>
        <p:txBody>
          <a:bodyPr wrap="square" lIns="0" tIns="0" rIns="0" bIns="0" rtlCol="0" anchor="ctr"/>
          <a:lstStyle/>
          <a:p>
            <a:pPr indent="0" marL="0">
              <a:buNone/>
            </a:pPr>
            <a:r>
              <a:rPr lang="en-US" sz="2200" b="1" dirty="0">
                <a:solidFill>
                  <a:srgbClr val="1E293B"/>
                </a:solidFill>
                <a:latin typeface="Trebuchet MS" pitchFamily="34" charset="0"/>
                <a:ea typeface="Trebuchet MS" pitchFamily="34" charset="-122"/>
                <a:cs typeface="Trebuchet MS" pitchFamily="34" charset="-120"/>
              </a:rPr>
              <a:t>if / else — La base de la décision</a:t>
            </a:r>
            <a:endParaRPr lang="en-US" sz="2200" dirty="0"/>
          </a:p>
        </p:txBody>
      </p:sp>
      <p:sp>
        <p:nvSpPr>
          <p:cNvPr id="5" name="Shape 3"/>
          <p:cNvSpPr/>
          <p:nvPr/>
        </p:nvSpPr>
        <p:spPr>
          <a:xfrm>
            <a:off x="0" y="4754880"/>
            <a:ext cx="9144000" cy="388620"/>
          </a:xfrm>
          <a:prstGeom prst="rect">
            <a:avLst/>
          </a:prstGeom>
          <a:solidFill>
            <a:srgbClr val="0F172A"/>
          </a:solidFill>
          <a:ln/>
        </p:spPr>
      </p:sp>
      <p:sp>
        <p:nvSpPr>
          <p:cNvPr id="6" name="Text 4"/>
          <p:cNvSpPr/>
          <p:nvPr/>
        </p:nvSpPr>
        <p:spPr>
          <a:xfrm>
            <a:off x="548640" y="4754880"/>
            <a:ext cx="7315200" cy="3886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M01 — Conditions</a:t>
            </a:r>
            <a:endParaRPr lang="en-US" sz="900" dirty="0"/>
          </a:p>
        </p:txBody>
      </p:sp>
      <p:sp>
        <p:nvSpPr>
          <p:cNvPr id="7" name="Shape 5"/>
          <p:cNvSpPr/>
          <p:nvPr/>
        </p:nvSpPr>
        <p:spPr>
          <a:xfrm>
            <a:off x="457200" y="1005840"/>
            <a:ext cx="3931920" cy="2011680"/>
          </a:xfrm>
          <a:prstGeom prst="rect">
            <a:avLst/>
          </a:prstGeom>
          <a:solidFill>
            <a:srgbClr val="1E293B"/>
          </a:solidFill>
          <a:ln/>
          <a:effectLst>
            <a:outerShdw sx="100000" sy="100000" kx="0" ky="0" algn="bl" rotWithShape="0" blurRad="101600" dist="38100" dir="8100000">
              <a:srgbClr val="000000">
                <a:alpha val="12000"/>
              </a:srgbClr>
            </a:outerShdw>
          </a:effectLst>
        </p:spPr>
      </p:sp>
      <p:sp>
        <p:nvSpPr>
          <p:cNvPr id="8" name="Text 6"/>
          <p:cNvSpPr/>
          <p:nvPr/>
        </p:nvSpPr>
        <p:spPr>
          <a:xfrm>
            <a:off x="594360" y="1097280"/>
            <a:ext cx="3657600" cy="1828800"/>
          </a:xfrm>
          <a:prstGeom prst="rect">
            <a:avLst/>
          </a:prstGeom>
          <a:noFill/>
          <a:ln/>
        </p:spPr>
        <p:txBody>
          <a:bodyPr wrap="square" rtlCol="0" anchor="t"/>
          <a:lstStyle/>
          <a:p>
            <a:pPr indent="0" marL="0">
              <a:buNone/>
            </a:pPr>
            <a:r>
              <a:rPr lang="en-US" sz="1000" dirty="0">
                <a:solidFill>
                  <a:srgbClr val="32E0C4"/>
                </a:solidFill>
                <a:latin typeface="Consolas" pitchFamily="34" charset="0"/>
                <a:ea typeface="Consolas" pitchFamily="34" charset="-122"/>
                <a:cs typeface="Consolas" pitchFamily="34" charset="-120"/>
              </a:rPr>
              <a:t>int age = 20;</a:t>
            </a:r>
            <a:endParaRPr lang="en-US" sz="1000" dirty="0"/>
          </a:p>
          <a:p>
            <a:pPr indent="0" marL="0">
              <a:buNone/>
            </a:pP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if (age &gt;= 18)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System.out.println("Majeur");</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else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System.out.println("Mineur");</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a:t>
            </a:r>
            <a:endParaRPr lang="en-US" sz="1000" dirty="0"/>
          </a:p>
        </p:txBody>
      </p:sp>
      <p:sp>
        <p:nvSpPr>
          <p:cNvPr id="9" name="Shape 7"/>
          <p:cNvSpPr/>
          <p:nvPr/>
        </p:nvSpPr>
        <p:spPr>
          <a:xfrm>
            <a:off x="4754880" y="1005840"/>
            <a:ext cx="3931920" cy="9144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0" name="Shape 8"/>
          <p:cNvSpPr/>
          <p:nvPr/>
        </p:nvSpPr>
        <p:spPr>
          <a:xfrm>
            <a:off x="4754880" y="1005840"/>
            <a:ext cx="54864" cy="914400"/>
          </a:xfrm>
          <a:prstGeom prst="rect">
            <a:avLst/>
          </a:prstGeom>
          <a:solidFill>
            <a:srgbClr val="0D7377"/>
          </a:solidFill>
          <a:ln/>
        </p:spPr>
      </p:sp>
      <p:sp>
        <p:nvSpPr>
          <p:cNvPr id="11" name="Text 9"/>
          <p:cNvSpPr/>
          <p:nvPr/>
        </p:nvSpPr>
        <p:spPr>
          <a:xfrm>
            <a:off x="4937760" y="1097280"/>
            <a:ext cx="3657600" cy="320040"/>
          </a:xfrm>
          <a:prstGeom prst="rect">
            <a:avLst/>
          </a:prstGeom>
          <a:noFill/>
          <a:ln/>
        </p:spPr>
        <p:txBody>
          <a:bodyPr wrap="square" lIns="0" tIns="0" rIns="0" bIns="0" rtlCol="0" anchor="ctr"/>
          <a:lstStyle/>
          <a:p>
            <a:pPr indent="0" marL="0">
              <a:buNone/>
            </a:pPr>
            <a:r>
              <a:rPr lang="en-US" sz="1300" b="1" dirty="0">
                <a:solidFill>
                  <a:srgbClr val="0D7377"/>
                </a:solidFill>
                <a:latin typeface="Calibri" pitchFamily="34" charset="0"/>
                <a:ea typeface="Calibri" pitchFamily="34" charset="-122"/>
                <a:cs typeface="Calibri" pitchFamily="34" charset="-120"/>
              </a:rPr>
              <a:t>Syntaxe</a:t>
            </a:r>
            <a:endParaRPr lang="en-US" sz="1300" dirty="0"/>
          </a:p>
        </p:txBody>
      </p:sp>
      <p:sp>
        <p:nvSpPr>
          <p:cNvPr id="12" name="Text 10"/>
          <p:cNvSpPr/>
          <p:nvPr/>
        </p:nvSpPr>
        <p:spPr>
          <a:xfrm>
            <a:off x="4937760" y="1417320"/>
            <a:ext cx="3657600" cy="41148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if (condition) { ... }</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else { ... }   ← optionnel</a:t>
            </a:r>
            <a:endParaRPr lang="en-US" sz="1000" dirty="0"/>
          </a:p>
        </p:txBody>
      </p:sp>
      <p:sp>
        <p:nvSpPr>
          <p:cNvPr id="13" name="Shape 11"/>
          <p:cNvSpPr/>
          <p:nvPr/>
        </p:nvSpPr>
        <p:spPr>
          <a:xfrm>
            <a:off x="4754880" y="2103120"/>
            <a:ext cx="3931920" cy="9144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4" name="Shape 12"/>
          <p:cNvSpPr/>
          <p:nvPr/>
        </p:nvSpPr>
        <p:spPr>
          <a:xfrm>
            <a:off x="4754880" y="2103120"/>
            <a:ext cx="54864" cy="914400"/>
          </a:xfrm>
          <a:prstGeom prst="rect">
            <a:avLst/>
          </a:prstGeom>
          <a:solidFill>
            <a:srgbClr val="F59E0B"/>
          </a:solidFill>
          <a:ln/>
        </p:spPr>
      </p:sp>
      <p:sp>
        <p:nvSpPr>
          <p:cNvPr id="15" name="Text 13"/>
          <p:cNvSpPr/>
          <p:nvPr/>
        </p:nvSpPr>
        <p:spPr>
          <a:xfrm>
            <a:off x="4937760" y="2194560"/>
            <a:ext cx="3657600" cy="320040"/>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Opérateurs</a:t>
            </a:r>
            <a:endParaRPr lang="en-US" sz="1300" dirty="0"/>
          </a:p>
        </p:txBody>
      </p:sp>
      <p:sp>
        <p:nvSpPr>
          <p:cNvPr id="16" name="Text 14"/>
          <p:cNvSpPr/>
          <p:nvPr/>
        </p:nvSpPr>
        <p:spPr>
          <a:xfrm>
            <a:off x="4937760" y="2514600"/>
            <a:ext cx="3657600" cy="41148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  !=  &gt;  &lt;  &gt;=  &lt;=</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 == compare, = affecte !</a:t>
            </a:r>
            <a:endParaRPr lang="en-US" sz="1000" dirty="0"/>
          </a:p>
        </p:txBody>
      </p:sp>
      <p:sp>
        <p:nvSpPr>
          <p:cNvPr id="17" name="Text 15"/>
          <p:cNvSpPr/>
          <p:nvPr/>
        </p:nvSpPr>
        <p:spPr>
          <a:xfrm>
            <a:off x="457200" y="3291840"/>
            <a:ext cx="8229600" cy="365760"/>
          </a:xfrm>
          <a:prstGeom prst="rect">
            <a:avLst/>
          </a:prstGeom>
          <a:noFill/>
          <a:ln/>
        </p:spPr>
        <p:txBody>
          <a:bodyPr wrap="square" rtlCol="0" anchor="ctr"/>
          <a:lstStyle/>
          <a:p>
            <a:pPr indent="0" marL="0">
              <a:buNone/>
            </a:pPr>
            <a:r>
              <a:rPr lang="en-US" sz="1100" b="1" dirty="0">
                <a:solidFill>
                  <a:srgbClr val="EF4444"/>
                </a:solidFill>
              </a:rPr>
              <a:t>Erreur classique : </a:t>
            </a:r>
            <a:pPr indent="0" marL="0">
              <a:buNone/>
            </a:pPr>
            <a:r>
              <a:rPr lang="en-US" sz="1000" dirty="0">
                <a:solidFill>
                  <a:srgbClr val="EF4444"/>
                </a:solidFill>
                <a:latin typeface="Consolas" pitchFamily="34" charset="0"/>
                <a:ea typeface="Consolas" pitchFamily="34" charset="-122"/>
                <a:cs typeface="Consolas" pitchFamily="34" charset="-120"/>
              </a:rPr>
              <a:t>if (age = 18) au lieu de if (age == 18)</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Shape 1"/>
          <p:cNvSpPr/>
          <p:nvPr/>
        </p:nvSpPr>
        <p:spPr>
          <a:xfrm>
            <a:off x="0" y="54864"/>
            <a:ext cx="9144000" cy="685800"/>
          </a:xfrm>
          <a:prstGeom prst="rect">
            <a:avLst/>
          </a:prstGeom>
          <a:solidFill>
            <a:srgbClr val="F1F5F9"/>
          </a:solidFill>
          <a:ln/>
        </p:spPr>
      </p:sp>
      <p:sp>
        <p:nvSpPr>
          <p:cNvPr id="4" name="Text 2"/>
          <p:cNvSpPr/>
          <p:nvPr/>
        </p:nvSpPr>
        <p:spPr>
          <a:xfrm>
            <a:off x="548640" y="109728"/>
            <a:ext cx="7315200" cy="594360"/>
          </a:xfrm>
          <a:prstGeom prst="rect">
            <a:avLst/>
          </a:prstGeom>
          <a:noFill/>
          <a:ln/>
        </p:spPr>
        <p:txBody>
          <a:bodyPr wrap="square" lIns="0" tIns="0" rIns="0" bIns="0" rtlCol="0" anchor="ctr"/>
          <a:lstStyle/>
          <a:p>
            <a:pPr indent="0" marL="0">
              <a:buNone/>
            </a:pPr>
            <a:r>
              <a:rPr lang="en-US" sz="2200" b="1" dirty="0">
                <a:solidFill>
                  <a:srgbClr val="1E293B"/>
                </a:solidFill>
                <a:latin typeface="Trebuchet MS" pitchFamily="34" charset="0"/>
                <a:ea typeface="Trebuchet MS" pitchFamily="34" charset="-122"/>
                <a:cs typeface="Trebuchet MS" pitchFamily="34" charset="-120"/>
              </a:rPr>
              <a:t>else if et switch — Choix multiples</a:t>
            </a:r>
            <a:endParaRPr lang="en-US" sz="2200" dirty="0"/>
          </a:p>
        </p:txBody>
      </p:sp>
      <p:sp>
        <p:nvSpPr>
          <p:cNvPr id="5" name="Shape 3"/>
          <p:cNvSpPr/>
          <p:nvPr/>
        </p:nvSpPr>
        <p:spPr>
          <a:xfrm>
            <a:off x="0" y="4754880"/>
            <a:ext cx="9144000" cy="388620"/>
          </a:xfrm>
          <a:prstGeom prst="rect">
            <a:avLst/>
          </a:prstGeom>
          <a:solidFill>
            <a:srgbClr val="0F172A"/>
          </a:solidFill>
          <a:ln/>
        </p:spPr>
      </p:sp>
      <p:sp>
        <p:nvSpPr>
          <p:cNvPr id="6" name="Text 4"/>
          <p:cNvSpPr/>
          <p:nvPr/>
        </p:nvSpPr>
        <p:spPr>
          <a:xfrm>
            <a:off x="548640" y="4754880"/>
            <a:ext cx="7315200" cy="3886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M01 — Conditions</a:t>
            </a:r>
            <a:endParaRPr lang="en-US" sz="900" dirty="0"/>
          </a:p>
        </p:txBody>
      </p:sp>
      <p:sp>
        <p:nvSpPr>
          <p:cNvPr id="7" name="Shape 5"/>
          <p:cNvSpPr/>
          <p:nvPr/>
        </p:nvSpPr>
        <p:spPr>
          <a:xfrm>
            <a:off x="457200" y="1005840"/>
            <a:ext cx="3931920" cy="2743200"/>
          </a:xfrm>
          <a:prstGeom prst="rect">
            <a:avLst/>
          </a:prstGeom>
          <a:solidFill>
            <a:srgbClr val="1E293B"/>
          </a:solidFill>
          <a:ln/>
          <a:effectLst>
            <a:outerShdw sx="100000" sy="100000" kx="0" ky="0" algn="bl" rotWithShape="0" blurRad="101600" dist="38100" dir="8100000">
              <a:srgbClr val="000000">
                <a:alpha val="12000"/>
              </a:srgbClr>
            </a:outerShdw>
          </a:effectLst>
        </p:spPr>
      </p:sp>
      <p:sp>
        <p:nvSpPr>
          <p:cNvPr id="8" name="Text 6"/>
          <p:cNvSpPr/>
          <p:nvPr/>
        </p:nvSpPr>
        <p:spPr>
          <a:xfrm>
            <a:off x="594360" y="1097280"/>
            <a:ext cx="3657600" cy="2560320"/>
          </a:xfrm>
          <a:prstGeom prst="rect">
            <a:avLst/>
          </a:prstGeom>
          <a:noFill/>
          <a:ln/>
        </p:spPr>
        <p:txBody>
          <a:bodyPr wrap="square" rtlCol="0" anchor="t"/>
          <a:lstStyle/>
          <a:p>
            <a:pPr indent="0" marL="0">
              <a:buNone/>
            </a:pPr>
            <a:r>
              <a:rPr lang="en-US" sz="1000" dirty="0">
                <a:solidFill>
                  <a:srgbClr val="32E0C4"/>
                </a:solidFill>
                <a:latin typeface="Consolas" pitchFamily="34" charset="0"/>
                <a:ea typeface="Consolas" pitchFamily="34" charset="-122"/>
                <a:cs typeface="Consolas" pitchFamily="34" charset="-120"/>
              </a:rPr>
              <a:t>int note = 85;</a:t>
            </a:r>
            <a:endParaRPr lang="en-US" sz="1000" dirty="0"/>
          </a:p>
          <a:p>
            <a:pPr indent="0" marL="0">
              <a:buNone/>
            </a:pP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if (note &gt;= 90)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System.out.println("A");</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else if (note &gt;= 80)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System.out.println("B");</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else if (note &gt;= 70)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System.out.println("C");</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else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System.out.println("F");</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a:t>
            </a:r>
            <a:endParaRPr lang="en-US" sz="1000" dirty="0"/>
          </a:p>
        </p:txBody>
      </p:sp>
      <p:sp>
        <p:nvSpPr>
          <p:cNvPr id="9" name="Shape 7"/>
          <p:cNvSpPr/>
          <p:nvPr/>
        </p:nvSpPr>
        <p:spPr>
          <a:xfrm>
            <a:off x="4754880" y="1005840"/>
            <a:ext cx="3931920" cy="2743200"/>
          </a:xfrm>
          <a:prstGeom prst="rect">
            <a:avLst/>
          </a:prstGeom>
          <a:solidFill>
            <a:srgbClr val="1E293B"/>
          </a:solidFill>
          <a:ln/>
          <a:effectLst>
            <a:outerShdw sx="100000" sy="100000" kx="0" ky="0" algn="bl" rotWithShape="0" blurRad="101600" dist="38100" dir="8100000">
              <a:srgbClr val="000000">
                <a:alpha val="12000"/>
              </a:srgbClr>
            </a:outerShdw>
          </a:effectLst>
        </p:spPr>
      </p:sp>
      <p:sp>
        <p:nvSpPr>
          <p:cNvPr id="10" name="Text 8"/>
          <p:cNvSpPr/>
          <p:nvPr/>
        </p:nvSpPr>
        <p:spPr>
          <a:xfrm>
            <a:off x="4892040" y="1097280"/>
            <a:ext cx="3657600" cy="2560320"/>
          </a:xfrm>
          <a:prstGeom prst="rect">
            <a:avLst/>
          </a:prstGeom>
          <a:noFill/>
          <a:ln/>
        </p:spPr>
        <p:txBody>
          <a:bodyPr wrap="square" rtlCol="0" anchor="t"/>
          <a:lstStyle/>
          <a:p>
            <a:pPr indent="0" marL="0">
              <a:buNone/>
            </a:pPr>
            <a:r>
              <a:rPr lang="en-US" sz="1000" dirty="0">
                <a:solidFill>
                  <a:srgbClr val="32E0C4"/>
                </a:solidFill>
                <a:latin typeface="Consolas" pitchFamily="34" charset="0"/>
                <a:ea typeface="Consolas" pitchFamily="34" charset="-122"/>
                <a:cs typeface="Consolas" pitchFamily="34" charset="-120"/>
              </a:rPr>
              <a:t>String jour = "lundi";</a:t>
            </a:r>
            <a:endParaRPr lang="en-US" sz="1000" dirty="0"/>
          </a:p>
          <a:p>
            <a:pPr indent="0" marL="0">
              <a:buNone/>
            </a:pP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switch (jour)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case "lundi":</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System.out.println("Début");</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break;</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case "vendredi":</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System.out.println("Fin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break;</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default:</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System.out.println("Milieu");</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a:t>
            </a:r>
            <a:endParaRPr lang="en-US" sz="1000" dirty="0"/>
          </a:p>
        </p:txBody>
      </p:sp>
      <p:sp>
        <p:nvSpPr>
          <p:cNvPr id="11" name="Text 9"/>
          <p:cNvSpPr/>
          <p:nvPr/>
        </p:nvSpPr>
        <p:spPr>
          <a:xfrm>
            <a:off x="457200" y="3931920"/>
            <a:ext cx="8229600" cy="457200"/>
          </a:xfrm>
          <a:prstGeom prst="rect">
            <a:avLst/>
          </a:prstGeom>
          <a:noFill/>
          <a:ln/>
        </p:spPr>
        <p:txBody>
          <a:bodyPr wrap="square"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switch = quand on compare UNE variable à plusieurs valeurs exactes. if/else if = conditions complexes.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Shape 1"/>
          <p:cNvSpPr/>
          <p:nvPr/>
        </p:nvSpPr>
        <p:spPr>
          <a:xfrm>
            <a:off x="0" y="54864"/>
            <a:ext cx="9144000" cy="685800"/>
          </a:xfrm>
          <a:prstGeom prst="rect">
            <a:avLst/>
          </a:prstGeom>
          <a:solidFill>
            <a:srgbClr val="F1F5F9"/>
          </a:solidFill>
          <a:ln/>
        </p:spPr>
      </p:sp>
      <p:sp>
        <p:nvSpPr>
          <p:cNvPr id="4" name="Text 2"/>
          <p:cNvSpPr/>
          <p:nvPr/>
        </p:nvSpPr>
        <p:spPr>
          <a:xfrm>
            <a:off x="548640" y="109728"/>
            <a:ext cx="7315200" cy="594360"/>
          </a:xfrm>
          <a:prstGeom prst="rect">
            <a:avLst/>
          </a:prstGeom>
          <a:noFill/>
          <a:ln/>
        </p:spPr>
        <p:txBody>
          <a:bodyPr wrap="square" lIns="0" tIns="0" rIns="0" bIns="0" rtlCol="0" anchor="ctr"/>
          <a:lstStyle/>
          <a:p>
            <a:pPr indent="0" marL="0">
              <a:buNone/>
            </a:pPr>
            <a:r>
              <a:rPr lang="en-US" sz="2200" b="1" dirty="0">
                <a:solidFill>
                  <a:srgbClr val="1E293B"/>
                </a:solidFill>
                <a:latin typeface="Trebuchet MS" pitchFamily="34" charset="0"/>
                <a:ea typeface="Trebuchet MS" pitchFamily="34" charset="-122"/>
                <a:cs typeface="Trebuchet MS" pitchFamily="34" charset="-120"/>
              </a:rPr>
              <a:t>Opérateurs logiques — &amp;&amp;  ||  !</a:t>
            </a:r>
            <a:endParaRPr lang="en-US" sz="2200" dirty="0"/>
          </a:p>
        </p:txBody>
      </p:sp>
      <p:sp>
        <p:nvSpPr>
          <p:cNvPr id="5" name="Shape 3"/>
          <p:cNvSpPr/>
          <p:nvPr/>
        </p:nvSpPr>
        <p:spPr>
          <a:xfrm>
            <a:off x="0" y="4754880"/>
            <a:ext cx="9144000" cy="388620"/>
          </a:xfrm>
          <a:prstGeom prst="rect">
            <a:avLst/>
          </a:prstGeom>
          <a:solidFill>
            <a:srgbClr val="0F172A"/>
          </a:solidFill>
          <a:ln/>
        </p:spPr>
      </p:sp>
      <p:sp>
        <p:nvSpPr>
          <p:cNvPr id="6" name="Text 4"/>
          <p:cNvSpPr/>
          <p:nvPr/>
        </p:nvSpPr>
        <p:spPr>
          <a:xfrm>
            <a:off x="548640" y="4754880"/>
            <a:ext cx="7315200" cy="3886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M01 — Conditions</a:t>
            </a:r>
            <a:endParaRPr lang="en-US" sz="900" dirty="0"/>
          </a:p>
        </p:txBody>
      </p:sp>
      <p:sp>
        <p:nvSpPr>
          <p:cNvPr id="7" name="Shape 5"/>
          <p:cNvSpPr/>
          <p:nvPr/>
        </p:nvSpPr>
        <p:spPr>
          <a:xfrm>
            <a:off x="457200" y="1005840"/>
            <a:ext cx="4572000" cy="3200400"/>
          </a:xfrm>
          <a:prstGeom prst="rect">
            <a:avLst/>
          </a:prstGeom>
          <a:solidFill>
            <a:srgbClr val="1E293B"/>
          </a:solidFill>
          <a:ln/>
          <a:effectLst>
            <a:outerShdw sx="100000" sy="100000" kx="0" ky="0" algn="bl" rotWithShape="0" blurRad="101600" dist="38100" dir="8100000">
              <a:srgbClr val="000000">
                <a:alpha val="12000"/>
              </a:srgbClr>
            </a:outerShdw>
          </a:effectLst>
        </p:spPr>
      </p:sp>
      <p:sp>
        <p:nvSpPr>
          <p:cNvPr id="8" name="Text 6"/>
          <p:cNvSpPr/>
          <p:nvPr/>
        </p:nvSpPr>
        <p:spPr>
          <a:xfrm>
            <a:off x="594360" y="1097280"/>
            <a:ext cx="4297680" cy="3017520"/>
          </a:xfrm>
          <a:prstGeom prst="rect">
            <a:avLst/>
          </a:prstGeom>
          <a:noFill/>
          <a:ln/>
        </p:spPr>
        <p:txBody>
          <a:bodyPr wrap="square" rtlCol="0" anchor="t"/>
          <a:lstStyle/>
          <a:p>
            <a:pPr indent="0" marL="0">
              <a:buNone/>
            </a:pPr>
            <a:r>
              <a:rPr lang="en-US" sz="1000" dirty="0">
                <a:solidFill>
                  <a:srgbClr val="32E0C4"/>
                </a:solidFill>
                <a:latin typeface="Consolas" pitchFamily="34" charset="0"/>
                <a:ea typeface="Consolas" pitchFamily="34" charset="-122"/>
                <a:cs typeface="Consolas" pitchFamily="34" charset="-120"/>
              </a:rPr>
              <a:t>int age = 25;</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boolean permis = true;</a:t>
            </a:r>
            <a:endParaRPr lang="en-US" sz="1000" dirty="0"/>
          </a:p>
          <a:p>
            <a:pPr indent="0" marL="0">
              <a:buNone/>
            </a:pP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ET : les DEUX doivent être vraies</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if (age &gt;= 18 &amp;&amp; permis)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System.out.println("Peut conduire");</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a:t>
            </a:r>
            <a:endParaRPr lang="en-US" sz="1000" dirty="0"/>
          </a:p>
          <a:p>
            <a:pPr indent="0" marL="0">
              <a:buNone/>
            </a:pP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OU : au moins UNE vraie</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if (age &lt; 12 || age &gt; 65)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System.out.println("Tarif réduit");</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a:t>
            </a:r>
            <a:endParaRPr lang="en-US" sz="1000" dirty="0"/>
          </a:p>
          <a:p>
            <a:pPr indent="0" marL="0">
              <a:buNone/>
            </a:pP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NON : inverse le résultat</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if (!permis)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System.out.println("Pas de permis");</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a:t>
            </a:r>
            <a:endParaRPr lang="en-US" sz="1000" dirty="0"/>
          </a:p>
        </p:txBody>
      </p:sp>
      <p:sp>
        <p:nvSpPr>
          <p:cNvPr id="9" name="Shape 7"/>
          <p:cNvSpPr/>
          <p:nvPr/>
        </p:nvSpPr>
        <p:spPr>
          <a:xfrm>
            <a:off x="5303520" y="1005840"/>
            <a:ext cx="3383280" cy="9144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0" name="Shape 8"/>
          <p:cNvSpPr/>
          <p:nvPr/>
        </p:nvSpPr>
        <p:spPr>
          <a:xfrm>
            <a:off x="5303520" y="1005840"/>
            <a:ext cx="54864" cy="914400"/>
          </a:xfrm>
          <a:prstGeom prst="rect">
            <a:avLst/>
          </a:prstGeom>
          <a:solidFill>
            <a:srgbClr val="10B981"/>
          </a:solidFill>
          <a:ln/>
        </p:spPr>
      </p:sp>
      <p:sp>
        <p:nvSpPr>
          <p:cNvPr id="11" name="Text 9"/>
          <p:cNvSpPr/>
          <p:nvPr/>
        </p:nvSpPr>
        <p:spPr>
          <a:xfrm>
            <a:off x="5486400" y="1097280"/>
            <a:ext cx="3108960" cy="320040"/>
          </a:xfrm>
          <a:prstGeom prst="rect">
            <a:avLst/>
          </a:prstGeom>
          <a:noFill/>
          <a:ln/>
        </p:spPr>
        <p:txBody>
          <a:bodyPr wrap="square" lIns="0" tIns="0" rIns="0" bIns="0" rtlCol="0" anchor="ctr"/>
          <a:lstStyle/>
          <a:p>
            <a:pPr indent="0" marL="0">
              <a:buNone/>
            </a:pPr>
            <a:r>
              <a:rPr lang="en-US" sz="1300" b="1" dirty="0">
                <a:solidFill>
                  <a:srgbClr val="10B981"/>
                </a:solidFill>
                <a:latin typeface="Calibri" pitchFamily="34" charset="0"/>
                <a:ea typeface="Calibri" pitchFamily="34" charset="-122"/>
                <a:cs typeface="Calibri" pitchFamily="34" charset="-120"/>
              </a:rPr>
              <a:t>&amp;&amp;  (ET)</a:t>
            </a:r>
            <a:endParaRPr lang="en-US" sz="1300" dirty="0"/>
          </a:p>
        </p:txBody>
      </p:sp>
      <p:sp>
        <p:nvSpPr>
          <p:cNvPr id="12" name="Text 10"/>
          <p:cNvSpPr/>
          <p:nvPr/>
        </p:nvSpPr>
        <p:spPr>
          <a:xfrm>
            <a:off x="5486400" y="1417320"/>
            <a:ext cx="3108960" cy="41148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true &amp;&amp; true = true</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tout le reste = false</a:t>
            </a:r>
            <a:endParaRPr lang="en-US" sz="1000" dirty="0"/>
          </a:p>
        </p:txBody>
      </p:sp>
      <p:sp>
        <p:nvSpPr>
          <p:cNvPr id="13" name="Shape 11"/>
          <p:cNvSpPr/>
          <p:nvPr/>
        </p:nvSpPr>
        <p:spPr>
          <a:xfrm>
            <a:off x="5303520" y="2103120"/>
            <a:ext cx="3383280" cy="9144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4" name="Shape 12"/>
          <p:cNvSpPr/>
          <p:nvPr/>
        </p:nvSpPr>
        <p:spPr>
          <a:xfrm>
            <a:off x="5303520" y="2103120"/>
            <a:ext cx="54864" cy="914400"/>
          </a:xfrm>
          <a:prstGeom prst="rect">
            <a:avLst/>
          </a:prstGeom>
          <a:solidFill>
            <a:srgbClr val="14A3C7"/>
          </a:solidFill>
          <a:ln/>
        </p:spPr>
      </p:sp>
      <p:sp>
        <p:nvSpPr>
          <p:cNvPr id="15" name="Text 13"/>
          <p:cNvSpPr/>
          <p:nvPr/>
        </p:nvSpPr>
        <p:spPr>
          <a:xfrm>
            <a:off x="5486400" y="2194560"/>
            <a:ext cx="3108960" cy="320040"/>
          </a:xfrm>
          <a:prstGeom prst="rect">
            <a:avLst/>
          </a:prstGeom>
          <a:noFill/>
          <a:ln/>
        </p:spPr>
        <p:txBody>
          <a:bodyPr wrap="square" lIns="0" tIns="0" rIns="0" bIns="0" rtlCol="0" anchor="ctr"/>
          <a:lstStyle/>
          <a:p>
            <a:pPr indent="0" marL="0">
              <a:buNone/>
            </a:pPr>
            <a:r>
              <a:rPr lang="en-US" sz="1300" b="1" dirty="0">
                <a:solidFill>
                  <a:srgbClr val="14A3C7"/>
                </a:solidFill>
                <a:latin typeface="Calibri" pitchFamily="34" charset="0"/>
                <a:ea typeface="Calibri" pitchFamily="34" charset="-122"/>
                <a:cs typeface="Calibri" pitchFamily="34" charset="-120"/>
              </a:rPr>
              <a:t>||  (OU)</a:t>
            </a:r>
            <a:endParaRPr lang="en-US" sz="1300" dirty="0"/>
          </a:p>
        </p:txBody>
      </p:sp>
      <p:sp>
        <p:nvSpPr>
          <p:cNvPr id="16" name="Text 14"/>
          <p:cNvSpPr/>
          <p:nvPr/>
        </p:nvSpPr>
        <p:spPr>
          <a:xfrm>
            <a:off x="5486400" y="2514600"/>
            <a:ext cx="3108960" cy="41148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false || false = false</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tout le reste = true</a:t>
            </a:r>
            <a:endParaRPr lang="en-US" sz="1000" dirty="0"/>
          </a:p>
        </p:txBody>
      </p:sp>
      <p:sp>
        <p:nvSpPr>
          <p:cNvPr id="17" name="Shape 15"/>
          <p:cNvSpPr/>
          <p:nvPr/>
        </p:nvSpPr>
        <p:spPr>
          <a:xfrm>
            <a:off x="5303520" y="3200400"/>
            <a:ext cx="3383280" cy="9144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8" name="Shape 16"/>
          <p:cNvSpPr/>
          <p:nvPr/>
        </p:nvSpPr>
        <p:spPr>
          <a:xfrm>
            <a:off x="5303520" y="3200400"/>
            <a:ext cx="54864" cy="914400"/>
          </a:xfrm>
          <a:prstGeom prst="rect">
            <a:avLst/>
          </a:prstGeom>
          <a:solidFill>
            <a:srgbClr val="EF4444"/>
          </a:solidFill>
          <a:ln/>
        </p:spPr>
      </p:sp>
      <p:sp>
        <p:nvSpPr>
          <p:cNvPr id="19" name="Text 17"/>
          <p:cNvSpPr/>
          <p:nvPr/>
        </p:nvSpPr>
        <p:spPr>
          <a:xfrm>
            <a:off x="5486400" y="3291840"/>
            <a:ext cx="3108960" cy="320040"/>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  (NON)</a:t>
            </a:r>
            <a:endParaRPr lang="en-US" sz="1300" dirty="0"/>
          </a:p>
        </p:txBody>
      </p:sp>
      <p:sp>
        <p:nvSpPr>
          <p:cNvPr id="20" name="Text 18"/>
          <p:cNvSpPr/>
          <p:nvPr/>
        </p:nvSpPr>
        <p:spPr>
          <a:xfrm>
            <a:off x="5486400" y="3611880"/>
            <a:ext cx="3108960" cy="41148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!true = false</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!false = true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737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Text 1"/>
          <p:cNvSpPr/>
          <p:nvPr/>
        </p:nvSpPr>
        <p:spPr>
          <a:xfrm>
            <a:off x="548640" y="548640"/>
            <a:ext cx="3657600" cy="365760"/>
          </a:xfrm>
          <a:prstGeom prst="rect">
            <a:avLst/>
          </a:prstGeom>
          <a:noFill/>
          <a:ln/>
        </p:spPr>
        <p:txBody>
          <a:bodyPr wrap="square" rtlCol="0" anchor="ctr"/>
          <a:lstStyle/>
          <a:p>
            <a:pPr indent="0" marL="0">
              <a:buNone/>
            </a:pPr>
            <a:r>
              <a:rPr lang="en-US" sz="1200" b="1" spc="600" kern="0" dirty="0">
                <a:solidFill>
                  <a:srgbClr val="32E0C4"/>
                </a:solidFill>
                <a:latin typeface="Consolas" pitchFamily="34" charset="0"/>
                <a:ea typeface="Consolas" pitchFamily="34" charset="-122"/>
                <a:cs typeface="Consolas" pitchFamily="34" charset="-120"/>
              </a:rPr>
              <a:t>MODULE 2</a:t>
            </a:r>
            <a:endParaRPr lang="en-US" sz="1200" dirty="0"/>
          </a:p>
        </p:txBody>
      </p:sp>
      <p:pic>
        <p:nvPicPr>
          <p:cNvPr id="4" name="Image 0" descr="preencoded.png">    </p:cNvPr>
          <p:cNvPicPr>
            <a:picLocks noChangeAspect="1"/>
          </p:cNvPicPr>
          <p:nvPr/>
        </p:nvPicPr>
        <p:blipFill>
          <a:blip r:embed="rId1"/>
          <a:stretch>
            <a:fillRect/>
          </a:stretch>
        </p:blipFill>
        <p:spPr>
          <a:xfrm>
            <a:off x="7772400" y="731520"/>
            <a:ext cx="914400" cy="914400"/>
          </a:xfrm>
          <a:prstGeom prst="rect">
            <a:avLst/>
          </a:prstGeom>
        </p:spPr>
      </p:pic>
      <p:sp>
        <p:nvSpPr>
          <p:cNvPr id="5" name="Text 2"/>
          <p:cNvSpPr/>
          <p:nvPr/>
        </p:nvSpPr>
        <p:spPr>
          <a:xfrm>
            <a:off x="548640" y="1371600"/>
            <a:ext cx="6858000" cy="1097280"/>
          </a:xfrm>
          <a:prstGeom prst="rect">
            <a:avLst/>
          </a:prstGeom>
          <a:noFill/>
          <a:ln/>
        </p:spPr>
        <p:txBody>
          <a:bodyPr wrap="square"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Les Boucles</a:t>
            </a:r>
            <a:endParaRPr lang="en-US" sz="3600" dirty="0"/>
          </a:p>
        </p:txBody>
      </p:sp>
      <p:sp>
        <p:nvSpPr>
          <p:cNvPr id="6" name="Text 3"/>
          <p:cNvSpPr/>
          <p:nvPr/>
        </p:nvSpPr>
        <p:spPr>
          <a:xfrm>
            <a:off x="548640" y="2560320"/>
            <a:ext cx="6858000" cy="640080"/>
          </a:xfrm>
          <a:prstGeom prst="rect">
            <a:avLst/>
          </a:prstGeom>
          <a:noFill/>
          <a:ln/>
        </p:spPr>
        <p:txBody>
          <a:bodyPr wrap="square" rtlCol="0" anchor="ctr"/>
          <a:lstStyle/>
          <a:p>
            <a:pPr indent="0" marL="0">
              <a:buNone/>
            </a:pPr>
            <a:r>
              <a:rPr lang="en-US" sz="1600" dirty="0">
                <a:solidFill>
                  <a:srgbClr val="E8F8F5"/>
                </a:solidFill>
                <a:latin typeface="Calibri" pitchFamily="34" charset="0"/>
                <a:ea typeface="Calibri" pitchFamily="34" charset="-122"/>
                <a:cs typeface="Calibri" pitchFamily="34" charset="-120"/>
              </a:rPr>
              <a:t>for / while / do-while · break / continue</a:t>
            </a:r>
            <a:endParaRPr lang="en-US" sz="1600" dirty="0"/>
          </a:p>
        </p:txBody>
      </p:sp>
      <p:sp>
        <p:nvSpPr>
          <p:cNvPr id="7" name="Shape 4"/>
          <p:cNvSpPr/>
          <p:nvPr/>
        </p:nvSpPr>
        <p:spPr>
          <a:xfrm>
            <a:off x="0" y="4754880"/>
            <a:ext cx="9144000" cy="388620"/>
          </a:xfrm>
          <a:prstGeom prst="rect">
            <a:avLst/>
          </a:prstGeom>
          <a:solidFill>
            <a:srgbClr val="0F172A"/>
          </a:solidFill>
          <a:ln/>
        </p:spPr>
      </p:sp>
      <p:sp>
        <p:nvSpPr>
          <p:cNvPr id="8" name="Text 5"/>
          <p:cNvSpPr/>
          <p:nvPr/>
        </p:nvSpPr>
        <p:spPr>
          <a:xfrm>
            <a:off x="548640" y="4754880"/>
            <a:ext cx="7315200" cy="3886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M02 — Les Boucles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Shape 1"/>
          <p:cNvSpPr/>
          <p:nvPr/>
        </p:nvSpPr>
        <p:spPr>
          <a:xfrm>
            <a:off x="0" y="54864"/>
            <a:ext cx="9144000" cy="685800"/>
          </a:xfrm>
          <a:prstGeom prst="rect">
            <a:avLst/>
          </a:prstGeom>
          <a:solidFill>
            <a:srgbClr val="F1F5F9"/>
          </a:solidFill>
          <a:ln/>
        </p:spPr>
      </p:sp>
      <p:sp>
        <p:nvSpPr>
          <p:cNvPr id="4" name="Text 2"/>
          <p:cNvSpPr/>
          <p:nvPr/>
        </p:nvSpPr>
        <p:spPr>
          <a:xfrm>
            <a:off x="548640" y="109728"/>
            <a:ext cx="7315200" cy="594360"/>
          </a:xfrm>
          <a:prstGeom prst="rect">
            <a:avLst/>
          </a:prstGeom>
          <a:noFill/>
          <a:ln/>
        </p:spPr>
        <p:txBody>
          <a:bodyPr wrap="square" lIns="0" tIns="0" rIns="0" bIns="0" rtlCol="0" anchor="ctr"/>
          <a:lstStyle/>
          <a:p>
            <a:pPr indent="0" marL="0">
              <a:buNone/>
            </a:pPr>
            <a:r>
              <a:rPr lang="en-US" sz="2200" b="1" dirty="0">
                <a:solidFill>
                  <a:srgbClr val="1E293B"/>
                </a:solidFill>
                <a:latin typeface="Trebuchet MS" pitchFamily="34" charset="0"/>
                <a:ea typeface="Trebuchet MS" pitchFamily="34" charset="-122"/>
                <a:cs typeface="Trebuchet MS" pitchFamily="34" charset="-120"/>
              </a:rPr>
              <a:t>for — Quand on connaît le nombre d'itérations</a:t>
            </a:r>
            <a:endParaRPr lang="en-US" sz="2200" dirty="0"/>
          </a:p>
        </p:txBody>
      </p:sp>
      <p:sp>
        <p:nvSpPr>
          <p:cNvPr id="5" name="Shape 3"/>
          <p:cNvSpPr/>
          <p:nvPr/>
        </p:nvSpPr>
        <p:spPr>
          <a:xfrm>
            <a:off x="0" y="4754880"/>
            <a:ext cx="9144000" cy="388620"/>
          </a:xfrm>
          <a:prstGeom prst="rect">
            <a:avLst/>
          </a:prstGeom>
          <a:solidFill>
            <a:srgbClr val="0F172A"/>
          </a:solidFill>
          <a:ln/>
        </p:spPr>
      </p:sp>
      <p:sp>
        <p:nvSpPr>
          <p:cNvPr id="6" name="Text 4"/>
          <p:cNvSpPr/>
          <p:nvPr/>
        </p:nvSpPr>
        <p:spPr>
          <a:xfrm>
            <a:off x="548640" y="4754880"/>
            <a:ext cx="7315200" cy="3886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M02 — Boucles</a:t>
            </a:r>
            <a:endParaRPr lang="en-US" sz="900" dirty="0"/>
          </a:p>
        </p:txBody>
      </p:sp>
      <p:sp>
        <p:nvSpPr>
          <p:cNvPr id="7" name="Shape 5"/>
          <p:cNvSpPr/>
          <p:nvPr/>
        </p:nvSpPr>
        <p:spPr>
          <a:xfrm>
            <a:off x="457200" y="1005840"/>
            <a:ext cx="4572000" cy="3474720"/>
          </a:xfrm>
          <a:prstGeom prst="rect">
            <a:avLst/>
          </a:prstGeom>
          <a:solidFill>
            <a:srgbClr val="1E293B"/>
          </a:solidFill>
          <a:ln/>
          <a:effectLst>
            <a:outerShdw sx="100000" sy="100000" kx="0" ky="0" algn="bl" rotWithShape="0" blurRad="101600" dist="38100" dir="8100000">
              <a:srgbClr val="000000">
                <a:alpha val="12000"/>
              </a:srgbClr>
            </a:outerShdw>
          </a:effectLst>
        </p:spPr>
      </p:sp>
      <p:sp>
        <p:nvSpPr>
          <p:cNvPr id="8" name="Text 6"/>
          <p:cNvSpPr/>
          <p:nvPr/>
        </p:nvSpPr>
        <p:spPr>
          <a:xfrm>
            <a:off x="594360" y="1097280"/>
            <a:ext cx="4297680" cy="3291840"/>
          </a:xfrm>
          <a:prstGeom prst="rect">
            <a:avLst/>
          </a:prstGeom>
          <a:noFill/>
          <a:ln/>
        </p:spPr>
        <p:txBody>
          <a:bodyPr wrap="square" rtlCol="0" anchor="t"/>
          <a:lstStyle/>
          <a:p>
            <a:pPr indent="0" marL="0">
              <a:buNone/>
            </a:pPr>
            <a:r>
              <a:rPr lang="en-US" sz="1000" dirty="0">
                <a:solidFill>
                  <a:srgbClr val="32E0C4"/>
                </a:solidFill>
                <a:latin typeface="Consolas" pitchFamily="34" charset="0"/>
                <a:ea typeface="Consolas" pitchFamily="34" charset="-122"/>
                <a:cs typeface="Consolas" pitchFamily="34" charset="-120"/>
              </a:rPr>
              <a:t>// Compter de 1 à 5</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for (int i = 1; i &lt;= 5; i++)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System.out.println("Tour " + i);</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a:t>
            </a:r>
            <a:endParaRPr lang="en-US" sz="1000" dirty="0"/>
          </a:p>
          <a:p>
            <a:pPr indent="0" marL="0">
              <a:buNone/>
            </a:pP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Parcourir un tableau</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String[] noms = {"Ada", "Bob", "Eve"};</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for (int i = 0; i &lt; noms.length; i++)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System.out.println(noms[i]);</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a:t>
            </a:r>
            <a:endParaRPr lang="en-US" sz="1000" dirty="0"/>
          </a:p>
          <a:p>
            <a:pPr indent="0" marL="0">
              <a:buNone/>
            </a:pP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for-each (plus simple pour parcourir)</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for (String nom : noms)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System.out.println(nom);</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a:t>
            </a:r>
            <a:endParaRPr lang="en-US" sz="1000" dirty="0"/>
          </a:p>
        </p:txBody>
      </p:sp>
      <p:sp>
        <p:nvSpPr>
          <p:cNvPr id="9" name="Shape 7"/>
          <p:cNvSpPr/>
          <p:nvPr/>
        </p:nvSpPr>
        <p:spPr>
          <a:xfrm>
            <a:off x="5303520" y="1005840"/>
            <a:ext cx="3383280" cy="10972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0" name="Shape 8"/>
          <p:cNvSpPr/>
          <p:nvPr/>
        </p:nvSpPr>
        <p:spPr>
          <a:xfrm>
            <a:off x="5303520" y="1005840"/>
            <a:ext cx="54864" cy="1097280"/>
          </a:xfrm>
          <a:prstGeom prst="rect">
            <a:avLst/>
          </a:prstGeom>
          <a:solidFill>
            <a:srgbClr val="0D7377"/>
          </a:solidFill>
          <a:ln/>
        </p:spPr>
      </p:sp>
      <p:sp>
        <p:nvSpPr>
          <p:cNvPr id="11" name="Text 9"/>
          <p:cNvSpPr/>
          <p:nvPr/>
        </p:nvSpPr>
        <p:spPr>
          <a:xfrm>
            <a:off x="5486400" y="1097280"/>
            <a:ext cx="3108960" cy="320040"/>
          </a:xfrm>
          <a:prstGeom prst="rect">
            <a:avLst/>
          </a:prstGeom>
          <a:noFill/>
          <a:ln/>
        </p:spPr>
        <p:txBody>
          <a:bodyPr wrap="square" lIns="0" tIns="0" rIns="0" bIns="0" rtlCol="0" anchor="ctr"/>
          <a:lstStyle/>
          <a:p>
            <a:pPr indent="0" marL="0">
              <a:buNone/>
            </a:pPr>
            <a:r>
              <a:rPr lang="en-US" sz="1300" b="1" dirty="0">
                <a:solidFill>
                  <a:srgbClr val="0D7377"/>
                </a:solidFill>
                <a:latin typeface="Calibri" pitchFamily="34" charset="0"/>
                <a:ea typeface="Calibri" pitchFamily="34" charset="-122"/>
                <a:cs typeface="Calibri" pitchFamily="34" charset="-120"/>
              </a:rPr>
              <a:t>Structure du for</a:t>
            </a:r>
            <a:endParaRPr lang="en-US" sz="1300" dirty="0"/>
          </a:p>
        </p:txBody>
      </p:sp>
      <p:sp>
        <p:nvSpPr>
          <p:cNvPr id="12" name="Text 10"/>
          <p:cNvSpPr/>
          <p:nvPr/>
        </p:nvSpPr>
        <p:spPr>
          <a:xfrm>
            <a:off x="5486400" y="1417320"/>
            <a:ext cx="3108960" cy="59436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for (init; condition; incrémentation)</a:t>
            </a:r>
            <a:endParaRPr lang="en-US" sz="1000" dirty="0"/>
          </a:p>
          <a:p>
            <a:pPr indent="0" marL="0">
              <a:buNone/>
            </a:pP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init : int i = 0</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condition : i &lt; 10</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incrémentation : i++</a:t>
            </a:r>
            <a:endParaRPr lang="en-US" sz="1000" dirty="0"/>
          </a:p>
        </p:txBody>
      </p:sp>
      <p:sp>
        <p:nvSpPr>
          <p:cNvPr id="13" name="Shape 11"/>
          <p:cNvSpPr/>
          <p:nvPr/>
        </p:nvSpPr>
        <p:spPr>
          <a:xfrm>
            <a:off x="5303520" y="2286000"/>
            <a:ext cx="3383280" cy="9144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4" name="Shape 12"/>
          <p:cNvSpPr/>
          <p:nvPr/>
        </p:nvSpPr>
        <p:spPr>
          <a:xfrm>
            <a:off x="5303520" y="2286000"/>
            <a:ext cx="54864" cy="914400"/>
          </a:xfrm>
          <a:prstGeom prst="rect">
            <a:avLst/>
          </a:prstGeom>
          <a:solidFill>
            <a:srgbClr val="F59E0B"/>
          </a:solidFill>
          <a:ln/>
        </p:spPr>
      </p:sp>
      <p:sp>
        <p:nvSpPr>
          <p:cNvPr id="15" name="Text 13"/>
          <p:cNvSpPr/>
          <p:nvPr/>
        </p:nvSpPr>
        <p:spPr>
          <a:xfrm>
            <a:off x="5486400" y="2377440"/>
            <a:ext cx="3108960" cy="320040"/>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Piège classique</a:t>
            </a:r>
            <a:endParaRPr lang="en-US" sz="1300" dirty="0"/>
          </a:p>
        </p:txBody>
      </p:sp>
      <p:sp>
        <p:nvSpPr>
          <p:cNvPr id="16" name="Text 14"/>
          <p:cNvSpPr/>
          <p:nvPr/>
        </p:nvSpPr>
        <p:spPr>
          <a:xfrm>
            <a:off x="5486400" y="2697480"/>
            <a:ext cx="3108960" cy="41148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for (int i = 1; i &lt;= 5; i++)</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 5 tours (1,2,3,4,5)</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for (int i = 0; i &lt; 5; i++)</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 5 tours (0,1,2,3,4)</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Shape 1"/>
          <p:cNvSpPr/>
          <p:nvPr/>
        </p:nvSpPr>
        <p:spPr>
          <a:xfrm>
            <a:off x="0" y="54864"/>
            <a:ext cx="9144000" cy="685800"/>
          </a:xfrm>
          <a:prstGeom prst="rect">
            <a:avLst/>
          </a:prstGeom>
          <a:solidFill>
            <a:srgbClr val="F1F5F9"/>
          </a:solidFill>
          <a:ln/>
        </p:spPr>
      </p:sp>
      <p:sp>
        <p:nvSpPr>
          <p:cNvPr id="4" name="Text 2"/>
          <p:cNvSpPr/>
          <p:nvPr/>
        </p:nvSpPr>
        <p:spPr>
          <a:xfrm>
            <a:off x="548640" y="109728"/>
            <a:ext cx="7315200" cy="594360"/>
          </a:xfrm>
          <a:prstGeom prst="rect">
            <a:avLst/>
          </a:prstGeom>
          <a:noFill/>
          <a:ln/>
        </p:spPr>
        <p:txBody>
          <a:bodyPr wrap="square" lIns="0" tIns="0" rIns="0" bIns="0" rtlCol="0" anchor="ctr"/>
          <a:lstStyle/>
          <a:p>
            <a:pPr indent="0" marL="0">
              <a:buNone/>
            </a:pPr>
            <a:r>
              <a:rPr lang="en-US" sz="2200" b="1" dirty="0">
                <a:solidFill>
                  <a:srgbClr val="1E293B"/>
                </a:solidFill>
                <a:latin typeface="Trebuchet MS" pitchFamily="34" charset="0"/>
                <a:ea typeface="Trebuchet MS" pitchFamily="34" charset="-122"/>
                <a:cs typeface="Trebuchet MS" pitchFamily="34" charset="-120"/>
              </a:rPr>
              <a:t>while et do-while — Boucles conditionnelles</a:t>
            </a:r>
            <a:endParaRPr lang="en-US" sz="2200" dirty="0"/>
          </a:p>
        </p:txBody>
      </p:sp>
      <p:sp>
        <p:nvSpPr>
          <p:cNvPr id="5" name="Shape 3"/>
          <p:cNvSpPr/>
          <p:nvPr/>
        </p:nvSpPr>
        <p:spPr>
          <a:xfrm>
            <a:off x="0" y="4754880"/>
            <a:ext cx="9144000" cy="388620"/>
          </a:xfrm>
          <a:prstGeom prst="rect">
            <a:avLst/>
          </a:prstGeom>
          <a:solidFill>
            <a:srgbClr val="0F172A"/>
          </a:solidFill>
          <a:ln/>
        </p:spPr>
      </p:sp>
      <p:sp>
        <p:nvSpPr>
          <p:cNvPr id="6" name="Text 4"/>
          <p:cNvSpPr/>
          <p:nvPr/>
        </p:nvSpPr>
        <p:spPr>
          <a:xfrm>
            <a:off x="548640" y="4754880"/>
            <a:ext cx="7315200" cy="3886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M02 — Boucles</a:t>
            </a:r>
            <a:endParaRPr lang="en-US" sz="900" dirty="0"/>
          </a:p>
        </p:txBody>
      </p:sp>
      <p:sp>
        <p:nvSpPr>
          <p:cNvPr id="7" name="Shape 5"/>
          <p:cNvSpPr/>
          <p:nvPr/>
        </p:nvSpPr>
        <p:spPr>
          <a:xfrm>
            <a:off x="457200" y="1005840"/>
            <a:ext cx="3931920" cy="1828800"/>
          </a:xfrm>
          <a:prstGeom prst="rect">
            <a:avLst/>
          </a:prstGeom>
          <a:solidFill>
            <a:srgbClr val="1E293B"/>
          </a:solidFill>
          <a:ln/>
          <a:effectLst>
            <a:outerShdw sx="100000" sy="100000" kx="0" ky="0" algn="bl" rotWithShape="0" blurRad="101600" dist="38100" dir="8100000">
              <a:srgbClr val="000000">
                <a:alpha val="12000"/>
              </a:srgbClr>
            </a:outerShdw>
          </a:effectLst>
        </p:spPr>
      </p:sp>
      <p:sp>
        <p:nvSpPr>
          <p:cNvPr id="8" name="Text 6"/>
          <p:cNvSpPr/>
          <p:nvPr/>
        </p:nvSpPr>
        <p:spPr>
          <a:xfrm>
            <a:off x="594360" y="1097280"/>
            <a:ext cx="3657600" cy="1645920"/>
          </a:xfrm>
          <a:prstGeom prst="rect">
            <a:avLst/>
          </a:prstGeom>
          <a:noFill/>
          <a:ln/>
        </p:spPr>
        <p:txBody>
          <a:bodyPr wrap="square" rtlCol="0" anchor="t"/>
          <a:lstStyle/>
          <a:p>
            <a:pPr indent="0" marL="0">
              <a:buNone/>
            </a:pPr>
            <a:r>
              <a:rPr lang="en-US" sz="1000" dirty="0">
                <a:solidFill>
                  <a:srgbClr val="32E0C4"/>
                </a:solidFill>
                <a:latin typeface="Consolas" pitchFamily="34" charset="0"/>
                <a:ea typeface="Consolas" pitchFamily="34" charset="-122"/>
                <a:cs typeface="Consolas" pitchFamily="34" charset="-120"/>
              </a:rPr>
              <a:t>// while : teste AVANT</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int compteur = 0;</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while (compteur &lt; 3)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System.out.println(compteur);</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compteur++;</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a:t>
            </a:r>
            <a:endParaRPr lang="en-US" sz="1000" dirty="0"/>
          </a:p>
        </p:txBody>
      </p:sp>
      <p:sp>
        <p:nvSpPr>
          <p:cNvPr id="9" name="Shape 7"/>
          <p:cNvSpPr/>
          <p:nvPr/>
        </p:nvSpPr>
        <p:spPr>
          <a:xfrm>
            <a:off x="457200" y="3017520"/>
            <a:ext cx="3931920" cy="1828800"/>
          </a:xfrm>
          <a:prstGeom prst="rect">
            <a:avLst/>
          </a:prstGeom>
          <a:solidFill>
            <a:srgbClr val="1E293B"/>
          </a:solidFill>
          <a:ln/>
          <a:effectLst>
            <a:outerShdw sx="100000" sy="100000" kx="0" ky="0" algn="bl" rotWithShape="0" blurRad="101600" dist="38100" dir="8100000">
              <a:srgbClr val="000000">
                <a:alpha val="12000"/>
              </a:srgbClr>
            </a:outerShdw>
          </a:effectLst>
        </p:spPr>
      </p:sp>
      <p:sp>
        <p:nvSpPr>
          <p:cNvPr id="10" name="Text 8"/>
          <p:cNvSpPr/>
          <p:nvPr/>
        </p:nvSpPr>
        <p:spPr>
          <a:xfrm>
            <a:off x="594360" y="3108960"/>
            <a:ext cx="3657600" cy="1645920"/>
          </a:xfrm>
          <a:prstGeom prst="rect">
            <a:avLst/>
          </a:prstGeom>
          <a:noFill/>
          <a:ln/>
        </p:spPr>
        <p:txBody>
          <a:bodyPr wrap="square" rtlCol="0" anchor="t"/>
          <a:lstStyle/>
          <a:p>
            <a:pPr indent="0" marL="0">
              <a:buNone/>
            </a:pPr>
            <a:r>
              <a:rPr lang="en-US" sz="1000" dirty="0">
                <a:solidFill>
                  <a:srgbClr val="32E0C4"/>
                </a:solidFill>
                <a:latin typeface="Consolas" pitchFamily="34" charset="0"/>
                <a:ea typeface="Consolas" pitchFamily="34" charset="-122"/>
                <a:cs typeface="Consolas" pitchFamily="34" charset="-120"/>
              </a:rPr>
              <a:t>// do-while : exécute AU MOINS 1 fois</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Scanner sc = new Scanner(System.in);</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String reponse;</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do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System.out.print("Continuer? (o/n)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reponse = sc.nextLine();</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while (reponse.equals("o"));</a:t>
            </a:r>
            <a:endParaRPr lang="en-US" sz="1000" dirty="0"/>
          </a:p>
        </p:txBody>
      </p:sp>
      <p:sp>
        <p:nvSpPr>
          <p:cNvPr id="11" name="Shape 9"/>
          <p:cNvSpPr/>
          <p:nvPr/>
        </p:nvSpPr>
        <p:spPr>
          <a:xfrm>
            <a:off x="4754880" y="1005840"/>
            <a:ext cx="3931920" cy="10972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2" name="Shape 10"/>
          <p:cNvSpPr/>
          <p:nvPr/>
        </p:nvSpPr>
        <p:spPr>
          <a:xfrm>
            <a:off x="4754880" y="1005840"/>
            <a:ext cx="54864" cy="1097280"/>
          </a:xfrm>
          <a:prstGeom prst="rect">
            <a:avLst/>
          </a:prstGeom>
          <a:solidFill>
            <a:srgbClr val="0D7377"/>
          </a:solidFill>
          <a:ln/>
        </p:spPr>
      </p:sp>
      <p:sp>
        <p:nvSpPr>
          <p:cNvPr id="13" name="Text 11"/>
          <p:cNvSpPr/>
          <p:nvPr/>
        </p:nvSpPr>
        <p:spPr>
          <a:xfrm>
            <a:off x="4937760" y="1097280"/>
            <a:ext cx="3657600" cy="320040"/>
          </a:xfrm>
          <a:prstGeom prst="rect">
            <a:avLst/>
          </a:prstGeom>
          <a:noFill/>
          <a:ln/>
        </p:spPr>
        <p:txBody>
          <a:bodyPr wrap="square" lIns="0" tIns="0" rIns="0" bIns="0" rtlCol="0" anchor="ctr"/>
          <a:lstStyle/>
          <a:p>
            <a:pPr indent="0" marL="0">
              <a:buNone/>
            </a:pPr>
            <a:r>
              <a:rPr lang="en-US" sz="1300" b="1" dirty="0">
                <a:solidFill>
                  <a:srgbClr val="0D7377"/>
                </a:solidFill>
                <a:latin typeface="Calibri" pitchFamily="34" charset="0"/>
                <a:ea typeface="Calibri" pitchFamily="34" charset="-122"/>
                <a:cs typeface="Calibri" pitchFamily="34" charset="-120"/>
              </a:rPr>
              <a:t>Quand utiliser quoi ?</a:t>
            </a:r>
            <a:endParaRPr lang="en-US" sz="1300" dirty="0"/>
          </a:p>
        </p:txBody>
      </p:sp>
      <p:sp>
        <p:nvSpPr>
          <p:cNvPr id="14" name="Text 12"/>
          <p:cNvSpPr/>
          <p:nvPr/>
        </p:nvSpPr>
        <p:spPr>
          <a:xfrm>
            <a:off x="4937760" y="1417320"/>
            <a:ext cx="3657600" cy="59436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for → nombre d'itérations connu</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while → condition à vérifier avant</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do-while → au moins 1 exécution</a:t>
            </a:r>
            <a:endParaRPr lang="en-US" sz="1000" dirty="0"/>
          </a:p>
        </p:txBody>
      </p:sp>
      <p:sp>
        <p:nvSpPr>
          <p:cNvPr id="15" name="Shape 13"/>
          <p:cNvSpPr/>
          <p:nvPr/>
        </p:nvSpPr>
        <p:spPr>
          <a:xfrm>
            <a:off x="4754880" y="2286000"/>
            <a:ext cx="3931920" cy="9144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6" name="Shape 14"/>
          <p:cNvSpPr/>
          <p:nvPr/>
        </p:nvSpPr>
        <p:spPr>
          <a:xfrm>
            <a:off x="4754880" y="2286000"/>
            <a:ext cx="54864" cy="914400"/>
          </a:xfrm>
          <a:prstGeom prst="rect">
            <a:avLst/>
          </a:prstGeom>
          <a:solidFill>
            <a:srgbClr val="14A3C7"/>
          </a:solidFill>
          <a:ln/>
        </p:spPr>
      </p:sp>
      <p:sp>
        <p:nvSpPr>
          <p:cNvPr id="17" name="Text 15"/>
          <p:cNvSpPr/>
          <p:nvPr/>
        </p:nvSpPr>
        <p:spPr>
          <a:xfrm>
            <a:off x="4937760" y="2377440"/>
            <a:ext cx="3657600" cy="320040"/>
          </a:xfrm>
          <a:prstGeom prst="rect">
            <a:avLst/>
          </a:prstGeom>
          <a:noFill/>
          <a:ln/>
        </p:spPr>
        <p:txBody>
          <a:bodyPr wrap="square" lIns="0" tIns="0" rIns="0" bIns="0" rtlCol="0" anchor="ctr"/>
          <a:lstStyle/>
          <a:p>
            <a:pPr indent="0" marL="0">
              <a:buNone/>
            </a:pPr>
            <a:r>
              <a:rPr lang="en-US" sz="1300" b="1" dirty="0">
                <a:solidFill>
                  <a:srgbClr val="14A3C7"/>
                </a:solidFill>
                <a:latin typeface="Calibri" pitchFamily="34" charset="0"/>
                <a:ea typeface="Calibri" pitchFamily="34" charset="-122"/>
                <a:cs typeface="Calibri" pitchFamily="34" charset="-120"/>
              </a:rPr>
              <a:t>break &amp; continue</a:t>
            </a:r>
            <a:endParaRPr lang="en-US" sz="1300" dirty="0"/>
          </a:p>
        </p:txBody>
      </p:sp>
      <p:sp>
        <p:nvSpPr>
          <p:cNvPr id="18" name="Text 16"/>
          <p:cNvSpPr/>
          <p:nvPr/>
        </p:nvSpPr>
        <p:spPr>
          <a:xfrm>
            <a:off x="4937760" y="2697480"/>
            <a:ext cx="3657600" cy="41148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break → sort de la boucle</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continue → passe au tour suivant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737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Text 1"/>
          <p:cNvSpPr/>
          <p:nvPr/>
        </p:nvSpPr>
        <p:spPr>
          <a:xfrm>
            <a:off x="548640" y="548640"/>
            <a:ext cx="3657600" cy="365760"/>
          </a:xfrm>
          <a:prstGeom prst="rect">
            <a:avLst/>
          </a:prstGeom>
          <a:noFill/>
          <a:ln/>
        </p:spPr>
        <p:txBody>
          <a:bodyPr wrap="square" rtlCol="0" anchor="ctr"/>
          <a:lstStyle/>
          <a:p>
            <a:pPr indent="0" marL="0">
              <a:buNone/>
            </a:pPr>
            <a:r>
              <a:rPr lang="en-US" sz="1200" b="1" spc="600" kern="0" dirty="0">
                <a:solidFill>
                  <a:srgbClr val="32E0C4"/>
                </a:solidFill>
                <a:latin typeface="Consolas" pitchFamily="34" charset="0"/>
                <a:ea typeface="Consolas" pitchFamily="34" charset="-122"/>
                <a:cs typeface="Consolas" pitchFamily="34" charset="-120"/>
              </a:rPr>
              <a:t>MODULE 3</a:t>
            </a:r>
            <a:endParaRPr lang="en-US" sz="1200" dirty="0"/>
          </a:p>
        </p:txBody>
      </p:sp>
      <p:pic>
        <p:nvPicPr>
          <p:cNvPr id="4" name="Image 0" descr="preencoded.png">    </p:cNvPr>
          <p:cNvPicPr>
            <a:picLocks noChangeAspect="1"/>
          </p:cNvPicPr>
          <p:nvPr/>
        </p:nvPicPr>
        <p:blipFill>
          <a:blip r:embed="rId1"/>
          <a:stretch>
            <a:fillRect/>
          </a:stretch>
        </p:blipFill>
        <p:spPr>
          <a:xfrm>
            <a:off x="7772400" y="731520"/>
            <a:ext cx="914400" cy="914400"/>
          </a:xfrm>
          <a:prstGeom prst="rect">
            <a:avLst/>
          </a:prstGeom>
        </p:spPr>
      </p:pic>
      <p:sp>
        <p:nvSpPr>
          <p:cNvPr id="5" name="Text 2"/>
          <p:cNvSpPr/>
          <p:nvPr/>
        </p:nvSpPr>
        <p:spPr>
          <a:xfrm>
            <a:off x="548640" y="1371600"/>
            <a:ext cx="6858000" cy="1097280"/>
          </a:xfrm>
          <a:prstGeom prst="rect">
            <a:avLst/>
          </a:prstGeom>
          <a:noFill/>
          <a:ln/>
        </p:spPr>
        <p:txBody>
          <a:bodyPr wrap="square"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Programmation Orientée Objet</a:t>
            </a:r>
            <a:endParaRPr lang="en-US" sz="3600" dirty="0"/>
          </a:p>
        </p:txBody>
      </p:sp>
      <p:sp>
        <p:nvSpPr>
          <p:cNvPr id="6" name="Text 3"/>
          <p:cNvSpPr/>
          <p:nvPr/>
        </p:nvSpPr>
        <p:spPr>
          <a:xfrm>
            <a:off x="548640" y="2560320"/>
            <a:ext cx="6858000" cy="640080"/>
          </a:xfrm>
          <a:prstGeom prst="rect">
            <a:avLst/>
          </a:prstGeom>
          <a:noFill/>
          <a:ln/>
        </p:spPr>
        <p:txBody>
          <a:bodyPr wrap="square" rtlCol="0" anchor="ctr"/>
          <a:lstStyle/>
          <a:p>
            <a:pPr indent="0" marL="0">
              <a:buNone/>
            </a:pPr>
            <a:r>
              <a:rPr lang="en-US" sz="1600" dirty="0">
                <a:solidFill>
                  <a:srgbClr val="E8F8F5"/>
                </a:solidFill>
                <a:latin typeface="Calibri" pitchFamily="34" charset="0"/>
                <a:ea typeface="Calibri" pitchFamily="34" charset="-122"/>
                <a:cs typeface="Calibri" pitchFamily="34" charset="-120"/>
              </a:rPr>
              <a:t>Classes · Constructeurs · Encapsulation · Méthodes</a:t>
            </a:r>
            <a:endParaRPr lang="en-US" sz="1600" dirty="0"/>
          </a:p>
        </p:txBody>
      </p:sp>
      <p:sp>
        <p:nvSpPr>
          <p:cNvPr id="7" name="Shape 4"/>
          <p:cNvSpPr/>
          <p:nvPr/>
        </p:nvSpPr>
        <p:spPr>
          <a:xfrm>
            <a:off x="0" y="4754880"/>
            <a:ext cx="9144000" cy="388620"/>
          </a:xfrm>
          <a:prstGeom prst="rect">
            <a:avLst/>
          </a:prstGeom>
          <a:solidFill>
            <a:srgbClr val="0F172A"/>
          </a:solidFill>
          <a:ln/>
        </p:spPr>
      </p:sp>
      <p:sp>
        <p:nvSpPr>
          <p:cNvPr id="8" name="Text 5"/>
          <p:cNvSpPr/>
          <p:nvPr/>
        </p:nvSpPr>
        <p:spPr>
          <a:xfrm>
            <a:off x="548640" y="4754880"/>
            <a:ext cx="7315200" cy="3886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M03 — Programmation Orientée Objet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Shape 1"/>
          <p:cNvSpPr/>
          <p:nvPr/>
        </p:nvSpPr>
        <p:spPr>
          <a:xfrm>
            <a:off x="0" y="54864"/>
            <a:ext cx="9144000" cy="685800"/>
          </a:xfrm>
          <a:prstGeom prst="rect">
            <a:avLst/>
          </a:prstGeom>
          <a:solidFill>
            <a:srgbClr val="F1F5F9"/>
          </a:solidFill>
          <a:ln/>
        </p:spPr>
      </p:sp>
      <p:sp>
        <p:nvSpPr>
          <p:cNvPr id="4" name="Text 2"/>
          <p:cNvSpPr/>
          <p:nvPr/>
        </p:nvSpPr>
        <p:spPr>
          <a:xfrm>
            <a:off x="548640" y="109728"/>
            <a:ext cx="7315200" cy="594360"/>
          </a:xfrm>
          <a:prstGeom prst="rect">
            <a:avLst/>
          </a:prstGeom>
          <a:noFill/>
          <a:ln/>
        </p:spPr>
        <p:txBody>
          <a:bodyPr wrap="square" lIns="0" tIns="0" rIns="0" bIns="0" rtlCol="0" anchor="ctr"/>
          <a:lstStyle/>
          <a:p>
            <a:pPr indent="0" marL="0">
              <a:buNone/>
            </a:pPr>
            <a:r>
              <a:rPr lang="en-US" sz="2200" b="1" dirty="0">
                <a:solidFill>
                  <a:srgbClr val="1E293B"/>
                </a:solidFill>
                <a:latin typeface="Trebuchet MS" pitchFamily="34" charset="0"/>
                <a:ea typeface="Trebuchet MS" pitchFamily="34" charset="-122"/>
                <a:cs typeface="Trebuchet MS" pitchFamily="34" charset="-120"/>
              </a:rPr>
              <a:t>Classe = Plan de construction</a:t>
            </a:r>
            <a:endParaRPr lang="en-US" sz="2200" dirty="0"/>
          </a:p>
        </p:txBody>
      </p:sp>
      <p:sp>
        <p:nvSpPr>
          <p:cNvPr id="5" name="Shape 3"/>
          <p:cNvSpPr/>
          <p:nvPr/>
        </p:nvSpPr>
        <p:spPr>
          <a:xfrm>
            <a:off x="0" y="4754880"/>
            <a:ext cx="9144000" cy="388620"/>
          </a:xfrm>
          <a:prstGeom prst="rect">
            <a:avLst/>
          </a:prstGeom>
          <a:solidFill>
            <a:srgbClr val="0F172A"/>
          </a:solidFill>
          <a:ln/>
        </p:spPr>
      </p:sp>
      <p:sp>
        <p:nvSpPr>
          <p:cNvPr id="6" name="Text 4"/>
          <p:cNvSpPr/>
          <p:nvPr/>
        </p:nvSpPr>
        <p:spPr>
          <a:xfrm>
            <a:off x="548640" y="4754880"/>
            <a:ext cx="7315200" cy="3886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M03 — OOP Fondamentaux</a:t>
            </a:r>
            <a:endParaRPr lang="en-US" sz="900" dirty="0"/>
          </a:p>
        </p:txBody>
      </p:sp>
      <p:sp>
        <p:nvSpPr>
          <p:cNvPr id="7" name="Shape 5"/>
          <p:cNvSpPr/>
          <p:nvPr/>
        </p:nvSpPr>
        <p:spPr>
          <a:xfrm>
            <a:off x="457200" y="1005840"/>
            <a:ext cx="4754880" cy="3474720"/>
          </a:xfrm>
          <a:prstGeom prst="rect">
            <a:avLst/>
          </a:prstGeom>
          <a:solidFill>
            <a:srgbClr val="1E293B"/>
          </a:solidFill>
          <a:ln/>
          <a:effectLst>
            <a:outerShdw sx="100000" sy="100000" kx="0" ky="0" algn="bl" rotWithShape="0" blurRad="101600" dist="38100" dir="8100000">
              <a:srgbClr val="000000">
                <a:alpha val="12000"/>
              </a:srgbClr>
            </a:outerShdw>
          </a:effectLst>
        </p:spPr>
      </p:sp>
      <p:sp>
        <p:nvSpPr>
          <p:cNvPr id="8" name="Text 6"/>
          <p:cNvSpPr/>
          <p:nvPr/>
        </p:nvSpPr>
        <p:spPr>
          <a:xfrm>
            <a:off x="594360" y="1097280"/>
            <a:ext cx="4480560" cy="3291840"/>
          </a:xfrm>
          <a:prstGeom prst="rect">
            <a:avLst/>
          </a:prstGeom>
          <a:noFill/>
          <a:ln/>
        </p:spPr>
        <p:txBody>
          <a:bodyPr wrap="square" rtlCol="0" anchor="t"/>
          <a:lstStyle/>
          <a:p>
            <a:pPr indent="0" marL="0">
              <a:buNone/>
            </a:pPr>
            <a:r>
              <a:rPr lang="en-US" sz="1000" dirty="0">
                <a:solidFill>
                  <a:srgbClr val="32E0C4"/>
                </a:solidFill>
                <a:latin typeface="Consolas" pitchFamily="34" charset="0"/>
                <a:ea typeface="Consolas" pitchFamily="34" charset="-122"/>
                <a:cs typeface="Consolas" pitchFamily="34" charset="-120"/>
              </a:rPr>
              <a:t>public class Invention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 Attributs (privés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private String nom;</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private int annee;</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 Constructeur</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public Invention(String nom, int annee)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this.nom = nom;</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this.annee = annee;</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 Getter</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public String getNom()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return this.nom;</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 Méthode</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public String decrire()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return nom + " (" + annee +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a:t>
            </a:r>
            <a:endParaRPr lang="en-US" sz="1000" dirty="0"/>
          </a:p>
        </p:txBody>
      </p:sp>
      <p:sp>
        <p:nvSpPr>
          <p:cNvPr id="9" name="Shape 7"/>
          <p:cNvSpPr/>
          <p:nvPr/>
        </p:nvSpPr>
        <p:spPr>
          <a:xfrm>
            <a:off x="5486400" y="1005840"/>
            <a:ext cx="3200400" cy="8229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0" name="Shape 8"/>
          <p:cNvSpPr/>
          <p:nvPr/>
        </p:nvSpPr>
        <p:spPr>
          <a:xfrm>
            <a:off x="5486400" y="1005840"/>
            <a:ext cx="54864" cy="822960"/>
          </a:xfrm>
          <a:prstGeom prst="rect">
            <a:avLst/>
          </a:prstGeom>
          <a:solidFill>
            <a:srgbClr val="0D7377"/>
          </a:solidFill>
          <a:ln/>
        </p:spPr>
      </p:sp>
      <p:sp>
        <p:nvSpPr>
          <p:cNvPr id="11" name="Text 9"/>
          <p:cNvSpPr/>
          <p:nvPr/>
        </p:nvSpPr>
        <p:spPr>
          <a:xfrm>
            <a:off x="5669280" y="1097280"/>
            <a:ext cx="2926080" cy="320040"/>
          </a:xfrm>
          <a:prstGeom prst="rect">
            <a:avLst/>
          </a:prstGeom>
          <a:noFill/>
          <a:ln/>
        </p:spPr>
        <p:txBody>
          <a:bodyPr wrap="square" lIns="0" tIns="0" rIns="0" bIns="0" rtlCol="0" anchor="ctr"/>
          <a:lstStyle/>
          <a:p>
            <a:pPr indent="0" marL="0">
              <a:buNone/>
            </a:pPr>
            <a:r>
              <a:rPr lang="en-US" sz="1300" b="1" dirty="0">
                <a:solidFill>
                  <a:srgbClr val="0D7377"/>
                </a:solidFill>
                <a:latin typeface="Calibri" pitchFamily="34" charset="0"/>
                <a:ea typeface="Calibri" pitchFamily="34" charset="-122"/>
                <a:cs typeface="Calibri" pitchFamily="34" charset="-120"/>
              </a:rPr>
              <a:t>Classe vs Objet</a:t>
            </a:r>
            <a:endParaRPr lang="en-US" sz="1300" dirty="0"/>
          </a:p>
        </p:txBody>
      </p:sp>
      <p:sp>
        <p:nvSpPr>
          <p:cNvPr id="12" name="Text 10"/>
          <p:cNvSpPr/>
          <p:nvPr/>
        </p:nvSpPr>
        <p:spPr>
          <a:xfrm>
            <a:off x="5669280" y="1417320"/>
            <a:ext cx="2926080" cy="32004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Classe = le plan</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Objet = la maison construite</a:t>
            </a:r>
            <a:endParaRPr lang="en-US" sz="1000" dirty="0"/>
          </a:p>
        </p:txBody>
      </p:sp>
      <p:sp>
        <p:nvSpPr>
          <p:cNvPr id="13" name="Shape 11"/>
          <p:cNvSpPr/>
          <p:nvPr/>
        </p:nvSpPr>
        <p:spPr>
          <a:xfrm>
            <a:off x="5486400" y="2011680"/>
            <a:ext cx="3200400" cy="8229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4" name="Shape 12"/>
          <p:cNvSpPr/>
          <p:nvPr/>
        </p:nvSpPr>
        <p:spPr>
          <a:xfrm>
            <a:off x="5486400" y="2011680"/>
            <a:ext cx="54864" cy="822960"/>
          </a:xfrm>
          <a:prstGeom prst="rect">
            <a:avLst/>
          </a:prstGeom>
          <a:solidFill>
            <a:srgbClr val="14A3C7"/>
          </a:solidFill>
          <a:ln/>
        </p:spPr>
      </p:sp>
      <p:sp>
        <p:nvSpPr>
          <p:cNvPr id="15" name="Text 13"/>
          <p:cNvSpPr/>
          <p:nvPr/>
        </p:nvSpPr>
        <p:spPr>
          <a:xfrm>
            <a:off x="5669280" y="2103120"/>
            <a:ext cx="2926080" cy="320040"/>
          </a:xfrm>
          <a:prstGeom prst="rect">
            <a:avLst/>
          </a:prstGeom>
          <a:noFill/>
          <a:ln/>
        </p:spPr>
        <p:txBody>
          <a:bodyPr wrap="square" lIns="0" tIns="0" rIns="0" bIns="0" rtlCol="0" anchor="ctr"/>
          <a:lstStyle/>
          <a:p>
            <a:pPr indent="0" marL="0">
              <a:buNone/>
            </a:pPr>
            <a:r>
              <a:rPr lang="en-US" sz="1300" b="1" dirty="0">
                <a:solidFill>
                  <a:srgbClr val="14A3C7"/>
                </a:solidFill>
                <a:latin typeface="Calibri" pitchFamily="34" charset="0"/>
                <a:ea typeface="Calibri" pitchFamily="34" charset="-122"/>
                <a:cs typeface="Calibri" pitchFamily="34" charset="-120"/>
              </a:rPr>
              <a:t>this</a:t>
            </a:r>
            <a:endParaRPr lang="en-US" sz="1300" dirty="0"/>
          </a:p>
        </p:txBody>
      </p:sp>
      <p:sp>
        <p:nvSpPr>
          <p:cNvPr id="16" name="Text 14"/>
          <p:cNvSpPr/>
          <p:nvPr/>
        </p:nvSpPr>
        <p:spPr>
          <a:xfrm>
            <a:off x="5669280" y="2423160"/>
            <a:ext cx="2926080" cy="32004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this.nom = le nom de CET objet</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Distingue paramètre et attribut</a:t>
            </a:r>
            <a:endParaRPr lang="en-US" sz="1000" dirty="0"/>
          </a:p>
        </p:txBody>
      </p:sp>
      <p:sp>
        <p:nvSpPr>
          <p:cNvPr id="17" name="Shape 15"/>
          <p:cNvSpPr/>
          <p:nvPr/>
        </p:nvSpPr>
        <p:spPr>
          <a:xfrm>
            <a:off x="5486400" y="3017520"/>
            <a:ext cx="3200400" cy="8229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8" name="Shape 16"/>
          <p:cNvSpPr/>
          <p:nvPr/>
        </p:nvSpPr>
        <p:spPr>
          <a:xfrm>
            <a:off x="5486400" y="3017520"/>
            <a:ext cx="54864" cy="822960"/>
          </a:xfrm>
          <a:prstGeom prst="rect">
            <a:avLst/>
          </a:prstGeom>
          <a:solidFill>
            <a:srgbClr val="EF4444"/>
          </a:solidFill>
          <a:ln/>
        </p:spPr>
      </p:sp>
      <p:sp>
        <p:nvSpPr>
          <p:cNvPr id="19" name="Text 17"/>
          <p:cNvSpPr/>
          <p:nvPr/>
        </p:nvSpPr>
        <p:spPr>
          <a:xfrm>
            <a:off x="5669280" y="3108960"/>
            <a:ext cx="2926080" cy="320040"/>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private</a:t>
            </a:r>
            <a:endParaRPr lang="en-US" sz="1300" dirty="0"/>
          </a:p>
        </p:txBody>
      </p:sp>
      <p:sp>
        <p:nvSpPr>
          <p:cNvPr id="20" name="Text 18"/>
          <p:cNvSpPr/>
          <p:nvPr/>
        </p:nvSpPr>
        <p:spPr>
          <a:xfrm>
            <a:off x="5669280" y="3429000"/>
            <a:ext cx="2926080" cy="32004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L'extérieur ne peut pas accéder</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 protection des données</a:t>
            </a:r>
            <a:endParaRPr lang="en-US" sz="1000" dirty="0"/>
          </a:p>
        </p:txBody>
      </p:sp>
      <p:sp>
        <p:nvSpPr>
          <p:cNvPr id="21" name="Shape 19"/>
          <p:cNvSpPr/>
          <p:nvPr/>
        </p:nvSpPr>
        <p:spPr>
          <a:xfrm>
            <a:off x="5486400" y="4023360"/>
            <a:ext cx="3200400" cy="5486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2" name="Shape 20"/>
          <p:cNvSpPr/>
          <p:nvPr/>
        </p:nvSpPr>
        <p:spPr>
          <a:xfrm>
            <a:off x="5486400" y="4023360"/>
            <a:ext cx="54864" cy="548640"/>
          </a:xfrm>
          <a:prstGeom prst="rect">
            <a:avLst/>
          </a:prstGeom>
          <a:solidFill>
            <a:srgbClr val="F59E0B"/>
          </a:solidFill>
          <a:ln/>
        </p:spPr>
      </p:sp>
      <p:sp>
        <p:nvSpPr>
          <p:cNvPr id="23" name="Text 21"/>
          <p:cNvSpPr/>
          <p:nvPr/>
        </p:nvSpPr>
        <p:spPr>
          <a:xfrm>
            <a:off x="5669280" y="4114800"/>
            <a:ext cx="2926080" cy="320040"/>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Convention</a:t>
            </a:r>
            <a:endParaRPr lang="en-US" sz="1300" dirty="0"/>
          </a:p>
        </p:txBody>
      </p:sp>
      <p:sp>
        <p:nvSpPr>
          <p:cNvPr id="24" name="Text 22"/>
          <p:cNvSpPr/>
          <p:nvPr/>
        </p:nvSpPr>
        <p:spPr>
          <a:xfrm>
            <a:off x="5669280" y="4434840"/>
            <a:ext cx="2926080" cy="4572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Classe : PascalCase</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Attribut/méthode : camelCase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Shape 1"/>
          <p:cNvSpPr/>
          <p:nvPr/>
        </p:nvSpPr>
        <p:spPr>
          <a:xfrm>
            <a:off x="0" y="54864"/>
            <a:ext cx="9144000" cy="685800"/>
          </a:xfrm>
          <a:prstGeom prst="rect">
            <a:avLst/>
          </a:prstGeom>
          <a:solidFill>
            <a:srgbClr val="F1F5F9"/>
          </a:solidFill>
          <a:ln/>
        </p:spPr>
      </p:sp>
      <p:sp>
        <p:nvSpPr>
          <p:cNvPr id="4" name="Text 2"/>
          <p:cNvSpPr/>
          <p:nvPr/>
        </p:nvSpPr>
        <p:spPr>
          <a:xfrm>
            <a:off x="548640" y="109728"/>
            <a:ext cx="7315200" cy="594360"/>
          </a:xfrm>
          <a:prstGeom prst="rect">
            <a:avLst/>
          </a:prstGeom>
          <a:noFill/>
          <a:ln/>
        </p:spPr>
        <p:txBody>
          <a:bodyPr wrap="square" lIns="0" tIns="0" rIns="0" bIns="0" rtlCol="0" anchor="ctr"/>
          <a:lstStyle/>
          <a:p>
            <a:pPr indent="0" marL="0">
              <a:buNone/>
            </a:pPr>
            <a:r>
              <a:rPr lang="en-US" sz="2200" b="1" dirty="0">
                <a:solidFill>
                  <a:srgbClr val="1E293B"/>
                </a:solidFill>
                <a:latin typeface="Trebuchet MS" pitchFamily="34" charset="0"/>
                <a:ea typeface="Trebuchet MS" pitchFamily="34" charset="-122"/>
                <a:cs typeface="Trebuchet MS" pitchFamily="34" charset="-120"/>
              </a:rPr>
              <a:t>Créer et utiliser des objets</a:t>
            </a:r>
            <a:endParaRPr lang="en-US" sz="2200" dirty="0"/>
          </a:p>
        </p:txBody>
      </p:sp>
      <p:sp>
        <p:nvSpPr>
          <p:cNvPr id="5" name="Shape 3"/>
          <p:cNvSpPr/>
          <p:nvPr/>
        </p:nvSpPr>
        <p:spPr>
          <a:xfrm>
            <a:off x="0" y="4754880"/>
            <a:ext cx="9144000" cy="388620"/>
          </a:xfrm>
          <a:prstGeom prst="rect">
            <a:avLst/>
          </a:prstGeom>
          <a:solidFill>
            <a:srgbClr val="0F172A"/>
          </a:solidFill>
          <a:ln/>
        </p:spPr>
      </p:sp>
      <p:sp>
        <p:nvSpPr>
          <p:cNvPr id="6" name="Text 4"/>
          <p:cNvSpPr/>
          <p:nvPr/>
        </p:nvSpPr>
        <p:spPr>
          <a:xfrm>
            <a:off x="548640" y="4754880"/>
            <a:ext cx="7315200" cy="3886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M03 — OOP Fondamentaux</a:t>
            </a:r>
            <a:endParaRPr lang="en-US" sz="900" dirty="0"/>
          </a:p>
        </p:txBody>
      </p:sp>
      <p:sp>
        <p:nvSpPr>
          <p:cNvPr id="7" name="Shape 5"/>
          <p:cNvSpPr/>
          <p:nvPr/>
        </p:nvSpPr>
        <p:spPr>
          <a:xfrm>
            <a:off x="457200" y="1005840"/>
            <a:ext cx="5029200" cy="2926080"/>
          </a:xfrm>
          <a:prstGeom prst="rect">
            <a:avLst/>
          </a:prstGeom>
          <a:solidFill>
            <a:srgbClr val="1E293B"/>
          </a:solidFill>
          <a:ln/>
          <a:effectLst>
            <a:outerShdw sx="100000" sy="100000" kx="0" ky="0" algn="bl" rotWithShape="0" blurRad="101600" dist="38100" dir="8100000">
              <a:srgbClr val="000000">
                <a:alpha val="12000"/>
              </a:srgbClr>
            </a:outerShdw>
          </a:effectLst>
        </p:spPr>
      </p:sp>
      <p:sp>
        <p:nvSpPr>
          <p:cNvPr id="8" name="Text 6"/>
          <p:cNvSpPr/>
          <p:nvPr/>
        </p:nvSpPr>
        <p:spPr>
          <a:xfrm>
            <a:off x="594360" y="1097280"/>
            <a:ext cx="4754880" cy="2743200"/>
          </a:xfrm>
          <a:prstGeom prst="rect">
            <a:avLst/>
          </a:prstGeom>
          <a:noFill/>
          <a:ln/>
        </p:spPr>
        <p:txBody>
          <a:bodyPr wrap="square" rtlCol="0" anchor="t"/>
          <a:lstStyle/>
          <a:p>
            <a:pPr indent="0" marL="0">
              <a:buNone/>
            </a:pPr>
            <a:r>
              <a:rPr lang="en-US" sz="1000" dirty="0">
                <a:solidFill>
                  <a:srgbClr val="32E0C4"/>
                </a:solidFill>
                <a:latin typeface="Consolas" pitchFamily="34" charset="0"/>
                <a:ea typeface="Consolas" pitchFamily="34" charset="-122"/>
                <a:cs typeface="Consolas" pitchFamily="34" charset="-120"/>
              </a:rPr>
              <a:t>// Dans le main (autre fichier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public static void main(String[] args)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 Créer des objets</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Invention i1 = new Invention("Téléphone", 1876);</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Invention i2 = new Invention("Internet", 1969);</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 Utiliser les méthodes</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System.out.println(i1.decrire());</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System.out.println(i2.getNom());</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 ERREUR : accès direct interdit</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 System.out.println(i1.nom); // ← NE COMPILE PAS</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a:t>
            </a:r>
            <a:endParaRPr lang="en-US" sz="1000" dirty="0"/>
          </a:p>
        </p:txBody>
      </p:sp>
      <p:sp>
        <p:nvSpPr>
          <p:cNvPr id="9" name="Shape 7"/>
          <p:cNvSpPr/>
          <p:nvPr/>
        </p:nvSpPr>
        <p:spPr>
          <a:xfrm>
            <a:off x="5760720" y="1005840"/>
            <a:ext cx="2926080" cy="13716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0" name="Shape 8"/>
          <p:cNvSpPr/>
          <p:nvPr/>
        </p:nvSpPr>
        <p:spPr>
          <a:xfrm>
            <a:off x="5760720" y="1005840"/>
            <a:ext cx="54864" cy="1371600"/>
          </a:xfrm>
          <a:prstGeom prst="rect">
            <a:avLst/>
          </a:prstGeom>
          <a:solidFill>
            <a:srgbClr val="0D7377"/>
          </a:solidFill>
          <a:ln/>
        </p:spPr>
      </p:sp>
      <p:sp>
        <p:nvSpPr>
          <p:cNvPr id="11" name="Text 9"/>
          <p:cNvSpPr/>
          <p:nvPr/>
        </p:nvSpPr>
        <p:spPr>
          <a:xfrm>
            <a:off x="5943600" y="1097280"/>
            <a:ext cx="2651760" cy="320040"/>
          </a:xfrm>
          <a:prstGeom prst="rect">
            <a:avLst/>
          </a:prstGeom>
          <a:noFill/>
          <a:ln/>
        </p:spPr>
        <p:txBody>
          <a:bodyPr wrap="square" lIns="0" tIns="0" rIns="0" bIns="0" rtlCol="0" anchor="ctr"/>
          <a:lstStyle/>
          <a:p>
            <a:pPr indent="0" marL="0">
              <a:buNone/>
            </a:pPr>
            <a:r>
              <a:rPr lang="en-US" sz="1300" b="1" dirty="0">
                <a:solidFill>
                  <a:srgbClr val="0D7377"/>
                </a:solidFill>
                <a:latin typeface="Calibri" pitchFamily="34" charset="0"/>
                <a:ea typeface="Calibri" pitchFamily="34" charset="-122"/>
                <a:cs typeface="Calibri" pitchFamily="34" charset="-120"/>
              </a:rPr>
              <a:t>new = construction</a:t>
            </a:r>
            <a:endParaRPr lang="en-US" sz="1300" dirty="0"/>
          </a:p>
        </p:txBody>
      </p:sp>
      <p:sp>
        <p:nvSpPr>
          <p:cNvPr id="12" name="Text 10"/>
          <p:cNvSpPr/>
          <p:nvPr/>
        </p:nvSpPr>
        <p:spPr>
          <a:xfrm>
            <a:off x="5943600" y="1417320"/>
            <a:ext cx="2651760" cy="86868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new Invention(...)</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 appelle le constructeur</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 crée l'objet en mémoire</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 retourne une référence</a:t>
            </a:r>
            <a:endParaRPr lang="en-US" sz="1000" dirty="0"/>
          </a:p>
        </p:txBody>
      </p:sp>
      <p:sp>
        <p:nvSpPr>
          <p:cNvPr id="13" name="Shape 11"/>
          <p:cNvSpPr/>
          <p:nvPr/>
        </p:nvSpPr>
        <p:spPr>
          <a:xfrm>
            <a:off x="5760720" y="2560320"/>
            <a:ext cx="2926080" cy="13716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4" name="Shape 12"/>
          <p:cNvSpPr/>
          <p:nvPr/>
        </p:nvSpPr>
        <p:spPr>
          <a:xfrm>
            <a:off x="5760720" y="2560320"/>
            <a:ext cx="54864" cy="1371600"/>
          </a:xfrm>
          <a:prstGeom prst="rect">
            <a:avLst/>
          </a:prstGeom>
          <a:solidFill>
            <a:srgbClr val="F59E0B"/>
          </a:solidFill>
          <a:ln/>
        </p:spPr>
      </p:sp>
      <p:sp>
        <p:nvSpPr>
          <p:cNvPr id="15" name="Text 13"/>
          <p:cNvSpPr/>
          <p:nvPr/>
        </p:nvSpPr>
        <p:spPr>
          <a:xfrm>
            <a:off x="5943600" y="2651760"/>
            <a:ext cx="2651760" cy="320040"/>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Un fichier = une classe</a:t>
            </a:r>
            <a:endParaRPr lang="en-US" sz="1300" dirty="0"/>
          </a:p>
        </p:txBody>
      </p:sp>
      <p:sp>
        <p:nvSpPr>
          <p:cNvPr id="16" name="Text 14"/>
          <p:cNvSpPr/>
          <p:nvPr/>
        </p:nvSpPr>
        <p:spPr>
          <a:xfrm>
            <a:off x="5943600" y="2971800"/>
            <a:ext cx="2651760" cy="86868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Invention.java → Invention</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Main.java → Main</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Chaque classe = un fichier</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737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Text 1"/>
          <p:cNvSpPr/>
          <p:nvPr/>
        </p:nvSpPr>
        <p:spPr>
          <a:xfrm>
            <a:off x="548640" y="548640"/>
            <a:ext cx="3657600" cy="365760"/>
          </a:xfrm>
          <a:prstGeom prst="rect">
            <a:avLst/>
          </a:prstGeom>
          <a:noFill/>
          <a:ln/>
        </p:spPr>
        <p:txBody>
          <a:bodyPr wrap="square" rtlCol="0" anchor="ctr"/>
          <a:lstStyle/>
          <a:p>
            <a:pPr indent="0" marL="0">
              <a:buNone/>
            </a:pPr>
            <a:r>
              <a:rPr lang="en-US" sz="1200" b="1" spc="600" kern="0" dirty="0">
                <a:solidFill>
                  <a:srgbClr val="32E0C4"/>
                </a:solidFill>
                <a:latin typeface="Consolas" pitchFamily="34" charset="0"/>
                <a:ea typeface="Consolas" pitchFamily="34" charset="-122"/>
                <a:cs typeface="Consolas" pitchFamily="34" charset="-120"/>
              </a:rPr>
              <a:t>MODULE 4</a:t>
            </a:r>
            <a:endParaRPr lang="en-US" sz="1200" dirty="0"/>
          </a:p>
        </p:txBody>
      </p:sp>
      <p:pic>
        <p:nvPicPr>
          <p:cNvPr id="4" name="Image 0" descr="preencoded.png">    </p:cNvPr>
          <p:cNvPicPr>
            <a:picLocks noChangeAspect="1"/>
          </p:cNvPicPr>
          <p:nvPr/>
        </p:nvPicPr>
        <p:blipFill>
          <a:blip r:embed="rId1"/>
          <a:stretch>
            <a:fillRect/>
          </a:stretch>
        </p:blipFill>
        <p:spPr>
          <a:xfrm>
            <a:off x="7772400" y="731520"/>
            <a:ext cx="914400" cy="914400"/>
          </a:xfrm>
          <a:prstGeom prst="rect">
            <a:avLst/>
          </a:prstGeom>
        </p:spPr>
      </p:pic>
      <p:sp>
        <p:nvSpPr>
          <p:cNvPr id="5" name="Text 2"/>
          <p:cNvSpPr/>
          <p:nvPr/>
        </p:nvSpPr>
        <p:spPr>
          <a:xfrm>
            <a:off x="548640" y="1371600"/>
            <a:ext cx="6858000" cy="1097280"/>
          </a:xfrm>
          <a:prstGeom prst="rect">
            <a:avLst/>
          </a:prstGeom>
          <a:noFill/>
          <a:ln/>
        </p:spPr>
        <p:txBody>
          <a:bodyPr wrap="square"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Manipulation de Données</a:t>
            </a:r>
            <a:endParaRPr lang="en-US" sz="3600" dirty="0"/>
          </a:p>
        </p:txBody>
      </p:sp>
      <p:sp>
        <p:nvSpPr>
          <p:cNvPr id="6" name="Text 3"/>
          <p:cNvSpPr/>
          <p:nvPr/>
        </p:nvSpPr>
        <p:spPr>
          <a:xfrm>
            <a:off x="548640" y="2560320"/>
            <a:ext cx="6858000" cy="640080"/>
          </a:xfrm>
          <a:prstGeom prst="rect">
            <a:avLst/>
          </a:prstGeom>
          <a:noFill/>
          <a:ln/>
        </p:spPr>
        <p:txBody>
          <a:bodyPr wrap="square" rtlCol="0" anchor="ctr"/>
          <a:lstStyle/>
          <a:p>
            <a:pPr indent="0" marL="0">
              <a:buNone/>
            </a:pPr>
            <a:r>
              <a:rPr lang="en-US" sz="1600" dirty="0">
                <a:solidFill>
                  <a:srgbClr val="E8F8F5"/>
                </a:solidFill>
                <a:latin typeface="Calibri" pitchFamily="34" charset="0"/>
                <a:ea typeface="Calibri" pitchFamily="34" charset="-122"/>
                <a:cs typeface="Calibri" pitchFamily="34" charset="-120"/>
              </a:rPr>
              <a:t>String · ArrayList · CRUD · Recherche et filtrage</a:t>
            </a:r>
            <a:endParaRPr lang="en-US" sz="1600" dirty="0"/>
          </a:p>
        </p:txBody>
      </p:sp>
      <p:sp>
        <p:nvSpPr>
          <p:cNvPr id="7" name="Shape 4"/>
          <p:cNvSpPr/>
          <p:nvPr/>
        </p:nvSpPr>
        <p:spPr>
          <a:xfrm>
            <a:off x="0" y="4754880"/>
            <a:ext cx="9144000" cy="388620"/>
          </a:xfrm>
          <a:prstGeom prst="rect">
            <a:avLst/>
          </a:prstGeom>
          <a:solidFill>
            <a:srgbClr val="0F172A"/>
          </a:solidFill>
          <a:ln/>
        </p:spPr>
      </p:sp>
      <p:sp>
        <p:nvSpPr>
          <p:cNvPr id="8" name="Text 5"/>
          <p:cNvSpPr/>
          <p:nvPr/>
        </p:nvSpPr>
        <p:spPr>
          <a:xfrm>
            <a:off x="548640" y="4754880"/>
            <a:ext cx="7315200" cy="3886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M04 — Manipulation de Données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Shape 1"/>
          <p:cNvSpPr/>
          <p:nvPr/>
        </p:nvSpPr>
        <p:spPr>
          <a:xfrm>
            <a:off x="0" y="54864"/>
            <a:ext cx="9144000" cy="685800"/>
          </a:xfrm>
          <a:prstGeom prst="rect">
            <a:avLst/>
          </a:prstGeom>
          <a:solidFill>
            <a:srgbClr val="F1F5F9"/>
          </a:solidFill>
          <a:ln/>
        </p:spPr>
      </p:sp>
      <p:sp>
        <p:nvSpPr>
          <p:cNvPr id="4" name="Text 2"/>
          <p:cNvSpPr/>
          <p:nvPr/>
        </p:nvSpPr>
        <p:spPr>
          <a:xfrm>
            <a:off x="548640" y="109728"/>
            <a:ext cx="7315200" cy="594360"/>
          </a:xfrm>
          <a:prstGeom prst="rect">
            <a:avLst/>
          </a:prstGeom>
          <a:noFill/>
          <a:ln/>
        </p:spPr>
        <p:txBody>
          <a:bodyPr wrap="square" lIns="0" tIns="0" rIns="0" bIns="0" rtlCol="0" anchor="ctr"/>
          <a:lstStyle/>
          <a:p>
            <a:pPr indent="0" marL="0">
              <a:buNone/>
            </a:pPr>
            <a:r>
              <a:rPr lang="en-US" sz="2200" b="1" dirty="0">
                <a:solidFill>
                  <a:srgbClr val="1E293B"/>
                </a:solidFill>
                <a:latin typeface="Trebuchet MS" pitchFamily="34" charset="0"/>
                <a:ea typeface="Trebuchet MS" pitchFamily="34" charset="-122"/>
                <a:cs typeface="Trebuchet MS" pitchFamily="34" charset="-120"/>
              </a:rPr>
              <a:t>String — Méthodes essentielles</a:t>
            </a:r>
            <a:endParaRPr lang="en-US" sz="2200" dirty="0"/>
          </a:p>
        </p:txBody>
      </p:sp>
      <p:sp>
        <p:nvSpPr>
          <p:cNvPr id="5" name="Shape 3"/>
          <p:cNvSpPr/>
          <p:nvPr/>
        </p:nvSpPr>
        <p:spPr>
          <a:xfrm>
            <a:off x="0" y="4754880"/>
            <a:ext cx="9144000" cy="388620"/>
          </a:xfrm>
          <a:prstGeom prst="rect">
            <a:avLst/>
          </a:prstGeom>
          <a:solidFill>
            <a:srgbClr val="0F172A"/>
          </a:solidFill>
          <a:ln/>
        </p:spPr>
      </p:sp>
      <p:sp>
        <p:nvSpPr>
          <p:cNvPr id="6" name="Text 4"/>
          <p:cNvSpPr/>
          <p:nvPr/>
        </p:nvSpPr>
        <p:spPr>
          <a:xfrm>
            <a:off x="548640" y="4754880"/>
            <a:ext cx="7315200" cy="3886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M04 — Manipulation de Données</a:t>
            </a:r>
            <a:endParaRPr lang="en-US" sz="900" dirty="0"/>
          </a:p>
        </p:txBody>
      </p:sp>
      <p:sp>
        <p:nvSpPr>
          <p:cNvPr id="7" name="Shape 5"/>
          <p:cNvSpPr/>
          <p:nvPr/>
        </p:nvSpPr>
        <p:spPr>
          <a:xfrm>
            <a:off x="457200" y="1005840"/>
            <a:ext cx="4572000" cy="3017520"/>
          </a:xfrm>
          <a:prstGeom prst="rect">
            <a:avLst/>
          </a:prstGeom>
          <a:solidFill>
            <a:srgbClr val="1E293B"/>
          </a:solidFill>
          <a:ln/>
          <a:effectLst>
            <a:outerShdw sx="100000" sy="100000" kx="0" ky="0" algn="bl" rotWithShape="0" blurRad="101600" dist="38100" dir="8100000">
              <a:srgbClr val="000000">
                <a:alpha val="12000"/>
              </a:srgbClr>
            </a:outerShdw>
          </a:effectLst>
        </p:spPr>
      </p:sp>
      <p:sp>
        <p:nvSpPr>
          <p:cNvPr id="8" name="Text 6"/>
          <p:cNvSpPr/>
          <p:nvPr/>
        </p:nvSpPr>
        <p:spPr>
          <a:xfrm>
            <a:off x="594360" y="1097280"/>
            <a:ext cx="4297680" cy="2834640"/>
          </a:xfrm>
          <a:prstGeom prst="rect">
            <a:avLst/>
          </a:prstGeom>
          <a:noFill/>
          <a:ln/>
        </p:spPr>
        <p:txBody>
          <a:bodyPr wrap="square" rtlCol="0" anchor="t"/>
          <a:lstStyle/>
          <a:p>
            <a:pPr indent="0" marL="0">
              <a:buNone/>
            </a:pPr>
            <a:r>
              <a:rPr lang="en-US" sz="1000" dirty="0">
                <a:solidFill>
                  <a:srgbClr val="32E0C4"/>
                </a:solidFill>
                <a:latin typeface="Consolas" pitchFamily="34" charset="0"/>
                <a:ea typeface="Consolas" pitchFamily="34" charset="-122"/>
                <a:cs typeface="Consolas" pitchFamily="34" charset="-120"/>
              </a:rPr>
              <a:t>String s = "Bonjour le monde";</a:t>
            </a:r>
            <a:endParaRPr lang="en-US" sz="1000" dirty="0"/>
          </a:p>
          <a:p>
            <a:pPr indent="0" marL="0">
              <a:buNone/>
            </a:pP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s.length()          // 16</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s.toUpperCase()     // "BONJOUR LE MONDE"</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s.toLowerCase()     // "bonjour le monde"</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s.trim()            // enlève espaces début/fin</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s.contains("jour")  // true</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s.startsWith("Bon") // true</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s.substring(0, 7)   // "Bonjour"</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s.replace("monde", "labo") // "Bonjour le labo"</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s.equals("Bonjour") // false (compare contenu)</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s.split(" ")        // ["Bonjour", "le", "monde"]</a:t>
            </a:r>
            <a:endParaRPr lang="en-US" sz="1000" dirty="0"/>
          </a:p>
        </p:txBody>
      </p:sp>
      <p:sp>
        <p:nvSpPr>
          <p:cNvPr id="9" name="Shape 7"/>
          <p:cNvSpPr/>
          <p:nvPr/>
        </p:nvSpPr>
        <p:spPr>
          <a:xfrm>
            <a:off x="5303520" y="1005840"/>
            <a:ext cx="3383280" cy="13716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0" name="Shape 8"/>
          <p:cNvSpPr/>
          <p:nvPr/>
        </p:nvSpPr>
        <p:spPr>
          <a:xfrm>
            <a:off x="5303520" y="1005840"/>
            <a:ext cx="54864" cy="1371600"/>
          </a:xfrm>
          <a:prstGeom prst="rect">
            <a:avLst/>
          </a:prstGeom>
          <a:solidFill>
            <a:srgbClr val="EF4444"/>
          </a:solidFill>
          <a:ln/>
        </p:spPr>
      </p:sp>
      <p:sp>
        <p:nvSpPr>
          <p:cNvPr id="11" name="Text 9"/>
          <p:cNvSpPr/>
          <p:nvPr/>
        </p:nvSpPr>
        <p:spPr>
          <a:xfrm>
            <a:off x="5486400" y="1097280"/>
            <a:ext cx="3108960" cy="320040"/>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 Comparer des Strings</a:t>
            </a:r>
            <a:endParaRPr lang="en-US" sz="1300" dirty="0"/>
          </a:p>
        </p:txBody>
      </p:sp>
      <p:sp>
        <p:nvSpPr>
          <p:cNvPr id="12" name="Text 10"/>
          <p:cNvSpPr/>
          <p:nvPr/>
        </p:nvSpPr>
        <p:spPr>
          <a:xfrm>
            <a:off x="5486400" y="1417320"/>
            <a:ext cx="3108960" cy="86868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.equals() → compare le CONTENU</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 → compare les RÉFÉRENCES</a:t>
            </a:r>
            <a:endParaRPr lang="en-US" sz="1000" dirty="0"/>
          </a:p>
          <a:p>
            <a:pPr indent="0" marL="0">
              <a:buNone/>
            </a:pP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Toujours utiliser .equals() !</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"abc" == "abc" → piège !</a:t>
            </a:r>
            <a:endParaRPr lang="en-US" sz="1000" dirty="0"/>
          </a:p>
        </p:txBody>
      </p:sp>
      <p:sp>
        <p:nvSpPr>
          <p:cNvPr id="13" name="Shape 11"/>
          <p:cNvSpPr/>
          <p:nvPr/>
        </p:nvSpPr>
        <p:spPr>
          <a:xfrm>
            <a:off x="5303520" y="2560320"/>
            <a:ext cx="3383280" cy="9144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4" name="Shape 12"/>
          <p:cNvSpPr/>
          <p:nvPr/>
        </p:nvSpPr>
        <p:spPr>
          <a:xfrm>
            <a:off x="5303520" y="2560320"/>
            <a:ext cx="54864" cy="914400"/>
          </a:xfrm>
          <a:prstGeom prst="rect">
            <a:avLst/>
          </a:prstGeom>
          <a:solidFill>
            <a:srgbClr val="F59E0B"/>
          </a:solidFill>
          <a:ln/>
        </p:spPr>
      </p:sp>
      <p:sp>
        <p:nvSpPr>
          <p:cNvPr id="15" name="Text 13"/>
          <p:cNvSpPr/>
          <p:nvPr/>
        </p:nvSpPr>
        <p:spPr>
          <a:xfrm>
            <a:off x="5486400" y="2651760"/>
            <a:ext cx="3108960" cy="320040"/>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String est immuable</a:t>
            </a:r>
            <a:endParaRPr lang="en-US" sz="1300" dirty="0"/>
          </a:p>
        </p:txBody>
      </p:sp>
      <p:sp>
        <p:nvSpPr>
          <p:cNvPr id="16" name="Text 14"/>
          <p:cNvSpPr/>
          <p:nvPr/>
        </p:nvSpPr>
        <p:spPr>
          <a:xfrm>
            <a:off x="5486400" y="2971800"/>
            <a:ext cx="3108960" cy="41148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Chaque méthode retourne</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un NOUVEAU String.</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L'original ne change pas.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Shape 1"/>
          <p:cNvSpPr/>
          <p:nvPr/>
        </p:nvSpPr>
        <p:spPr>
          <a:xfrm>
            <a:off x="0" y="54864"/>
            <a:ext cx="9144000" cy="685800"/>
          </a:xfrm>
          <a:prstGeom prst="rect">
            <a:avLst/>
          </a:prstGeom>
          <a:solidFill>
            <a:srgbClr val="F1F5F9"/>
          </a:solidFill>
          <a:ln/>
        </p:spPr>
      </p:sp>
      <p:sp>
        <p:nvSpPr>
          <p:cNvPr id="4" name="Text 2"/>
          <p:cNvSpPr/>
          <p:nvPr/>
        </p:nvSpPr>
        <p:spPr>
          <a:xfrm>
            <a:off x="548640" y="109728"/>
            <a:ext cx="7315200" cy="594360"/>
          </a:xfrm>
          <a:prstGeom prst="rect">
            <a:avLst/>
          </a:prstGeom>
          <a:noFill/>
          <a:ln/>
        </p:spPr>
        <p:txBody>
          <a:bodyPr wrap="square" lIns="0" tIns="0" rIns="0" bIns="0" rtlCol="0" anchor="ctr"/>
          <a:lstStyle/>
          <a:p>
            <a:pPr indent="0" marL="0">
              <a:buNone/>
            </a:pPr>
            <a:r>
              <a:rPr lang="en-US" sz="2200" b="1" dirty="0">
                <a:solidFill>
                  <a:srgbClr val="1E293B"/>
                </a:solidFill>
                <a:latin typeface="Trebuchet MS" pitchFamily="34" charset="0"/>
                <a:ea typeface="Trebuchet MS" pitchFamily="34" charset="-122"/>
                <a:cs typeface="Trebuchet MS" pitchFamily="34" charset="-120"/>
              </a:rPr>
              <a:t>ArrayList — Liste dynamique</a:t>
            </a:r>
            <a:endParaRPr lang="en-US" sz="2200" dirty="0"/>
          </a:p>
        </p:txBody>
      </p:sp>
      <p:sp>
        <p:nvSpPr>
          <p:cNvPr id="5" name="Shape 3"/>
          <p:cNvSpPr/>
          <p:nvPr/>
        </p:nvSpPr>
        <p:spPr>
          <a:xfrm>
            <a:off x="0" y="4754880"/>
            <a:ext cx="9144000" cy="388620"/>
          </a:xfrm>
          <a:prstGeom prst="rect">
            <a:avLst/>
          </a:prstGeom>
          <a:solidFill>
            <a:srgbClr val="0F172A"/>
          </a:solidFill>
          <a:ln/>
        </p:spPr>
      </p:sp>
      <p:sp>
        <p:nvSpPr>
          <p:cNvPr id="6" name="Text 4"/>
          <p:cNvSpPr/>
          <p:nvPr/>
        </p:nvSpPr>
        <p:spPr>
          <a:xfrm>
            <a:off x="548640" y="4754880"/>
            <a:ext cx="7315200" cy="3886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M04 — Manipulation de Données</a:t>
            </a:r>
            <a:endParaRPr lang="en-US" sz="900" dirty="0"/>
          </a:p>
        </p:txBody>
      </p:sp>
      <p:sp>
        <p:nvSpPr>
          <p:cNvPr id="7" name="Shape 5"/>
          <p:cNvSpPr/>
          <p:nvPr/>
        </p:nvSpPr>
        <p:spPr>
          <a:xfrm>
            <a:off x="457200" y="1005840"/>
            <a:ext cx="4846320" cy="3657600"/>
          </a:xfrm>
          <a:prstGeom prst="rect">
            <a:avLst/>
          </a:prstGeom>
          <a:solidFill>
            <a:srgbClr val="1E293B"/>
          </a:solidFill>
          <a:ln/>
          <a:effectLst>
            <a:outerShdw sx="100000" sy="100000" kx="0" ky="0" algn="bl" rotWithShape="0" blurRad="101600" dist="38100" dir="8100000">
              <a:srgbClr val="000000">
                <a:alpha val="12000"/>
              </a:srgbClr>
            </a:outerShdw>
          </a:effectLst>
        </p:spPr>
      </p:sp>
      <p:sp>
        <p:nvSpPr>
          <p:cNvPr id="8" name="Text 6"/>
          <p:cNvSpPr/>
          <p:nvPr/>
        </p:nvSpPr>
        <p:spPr>
          <a:xfrm>
            <a:off x="594360" y="1097280"/>
            <a:ext cx="4572000" cy="3474720"/>
          </a:xfrm>
          <a:prstGeom prst="rect">
            <a:avLst/>
          </a:prstGeom>
          <a:noFill/>
          <a:ln/>
        </p:spPr>
        <p:txBody>
          <a:bodyPr wrap="square" rtlCol="0" anchor="t"/>
          <a:lstStyle/>
          <a:p>
            <a:pPr indent="0" marL="0">
              <a:buNone/>
            </a:pPr>
            <a:r>
              <a:rPr lang="en-US" sz="1000" dirty="0">
                <a:solidFill>
                  <a:srgbClr val="32E0C4"/>
                </a:solidFill>
                <a:latin typeface="Consolas" pitchFamily="34" charset="0"/>
                <a:ea typeface="Consolas" pitchFamily="34" charset="-122"/>
                <a:cs typeface="Consolas" pitchFamily="34" charset="-120"/>
              </a:rPr>
              <a:t>import java.util.ArrayList;</a:t>
            </a:r>
            <a:endParaRPr lang="en-US" sz="1000" dirty="0"/>
          </a:p>
          <a:p>
            <a:pPr indent="0" marL="0">
              <a:buNone/>
            </a:pP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ArrayList&lt;String&gt; liste = new ArrayList&lt;&gt;();</a:t>
            </a:r>
            <a:endParaRPr lang="en-US" sz="1000" dirty="0"/>
          </a:p>
          <a:p>
            <a:pPr indent="0" marL="0">
              <a:buNone/>
            </a:pP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CRUD</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liste.add("Ada");        // Create</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liste.add("Bob");</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liste.add("Eve");</a:t>
            </a:r>
            <a:endParaRPr lang="en-US" sz="1000" dirty="0"/>
          </a:p>
          <a:p>
            <a:pPr indent="0" marL="0">
              <a:buNone/>
            </a:pP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liste.get(0);            // Read → "Ada"</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liste.set(1, "Charlie"); // Update index 1</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liste.remove(2);         // Delete index 2</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liste.size();            // 2</a:t>
            </a:r>
            <a:endParaRPr lang="en-US" sz="1000" dirty="0"/>
          </a:p>
          <a:p>
            <a:pPr indent="0" marL="0">
              <a:buNone/>
            </a:pP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Parcours</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for (String nom : liste)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System.out.println(nom);</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a:t>
            </a:r>
            <a:endParaRPr lang="en-US" sz="1000" dirty="0"/>
          </a:p>
          <a:p>
            <a:pPr indent="0" marL="0">
              <a:buNone/>
            </a:pP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Recherche</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if (liste.contains("Ada"))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System.out.println("Trouvé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a:t>
            </a:r>
            <a:endParaRPr lang="en-US" sz="1000" dirty="0"/>
          </a:p>
        </p:txBody>
      </p:sp>
      <p:sp>
        <p:nvSpPr>
          <p:cNvPr id="9" name="Shape 7"/>
          <p:cNvSpPr/>
          <p:nvPr/>
        </p:nvSpPr>
        <p:spPr>
          <a:xfrm>
            <a:off x="5577840" y="1005840"/>
            <a:ext cx="3108960" cy="10972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0" name="Shape 8"/>
          <p:cNvSpPr/>
          <p:nvPr/>
        </p:nvSpPr>
        <p:spPr>
          <a:xfrm>
            <a:off x="5577840" y="1005840"/>
            <a:ext cx="54864" cy="1097280"/>
          </a:xfrm>
          <a:prstGeom prst="rect">
            <a:avLst/>
          </a:prstGeom>
          <a:solidFill>
            <a:srgbClr val="0D7377"/>
          </a:solidFill>
          <a:ln/>
        </p:spPr>
      </p:sp>
      <p:sp>
        <p:nvSpPr>
          <p:cNvPr id="11" name="Text 9"/>
          <p:cNvSpPr/>
          <p:nvPr/>
        </p:nvSpPr>
        <p:spPr>
          <a:xfrm>
            <a:off x="5760720" y="1097280"/>
            <a:ext cx="2834640" cy="320040"/>
          </a:xfrm>
          <a:prstGeom prst="rect">
            <a:avLst/>
          </a:prstGeom>
          <a:noFill/>
          <a:ln/>
        </p:spPr>
        <p:txBody>
          <a:bodyPr wrap="square" lIns="0" tIns="0" rIns="0" bIns="0" rtlCol="0" anchor="ctr"/>
          <a:lstStyle/>
          <a:p>
            <a:pPr indent="0" marL="0">
              <a:buNone/>
            </a:pPr>
            <a:r>
              <a:rPr lang="en-US" sz="1300" b="1" dirty="0">
                <a:solidFill>
                  <a:srgbClr val="0D7377"/>
                </a:solidFill>
                <a:latin typeface="Calibri" pitchFamily="34" charset="0"/>
                <a:ea typeface="Calibri" pitchFamily="34" charset="-122"/>
                <a:cs typeface="Calibri" pitchFamily="34" charset="-120"/>
              </a:rPr>
              <a:t>ArrayList vs Array</a:t>
            </a:r>
            <a:endParaRPr lang="en-US" sz="1300" dirty="0"/>
          </a:p>
        </p:txBody>
      </p:sp>
      <p:sp>
        <p:nvSpPr>
          <p:cNvPr id="12" name="Text 10"/>
          <p:cNvSpPr/>
          <p:nvPr/>
        </p:nvSpPr>
        <p:spPr>
          <a:xfrm>
            <a:off x="5760720" y="1417320"/>
            <a:ext cx="2834640" cy="59436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Array : taille FIXE</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int[] tab = new int[5];</a:t>
            </a:r>
            <a:endParaRPr lang="en-US" sz="1000" dirty="0"/>
          </a:p>
          <a:p>
            <a:pPr indent="0" marL="0">
              <a:buNone/>
            </a:pP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ArrayList : taille DYNAMIQUE</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add/remove librement</a:t>
            </a:r>
            <a:endParaRPr lang="en-US" sz="1000" dirty="0"/>
          </a:p>
        </p:txBody>
      </p:sp>
      <p:sp>
        <p:nvSpPr>
          <p:cNvPr id="13" name="Shape 11"/>
          <p:cNvSpPr/>
          <p:nvPr/>
        </p:nvSpPr>
        <p:spPr>
          <a:xfrm>
            <a:off x="5577840" y="2286000"/>
            <a:ext cx="3108960" cy="9144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4" name="Shape 12"/>
          <p:cNvSpPr/>
          <p:nvPr/>
        </p:nvSpPr>
        <p:spPr>
          <a:xfrm>
            <a:off x="5577840" y="2286000"/>
            <a:ext cx="54864" cy="914400"/>
          </a:xfrm>
          <a:prstGeom prst="rect">
            <a:avLst/>
          </a:prstGeom>
          <a:solidFill>
            <a:srgbClr val="14A3C7"/>
          </a:solidFill>
          <a:ln/>
        </p:spPr>
      </p:sp>
      <p:sp>
        <p:nvSpPr>
          <p:cNvPr id="15" name="Text 13"/>
          <p:cNvSpPr/>
          <p:nvPr/>
        </p:nvSpPr>
        <p:spPr>
          <a:xfrm>
            <a:off x="5760720" y="2377440"/>
            <a:ext cx="2834640" cy="320040"/>
          </a:xfrm>
          <a:prstGeom prst="rect">
            <a:avLst/>
          </a:prstGeom>
          <a:noFill/>
          <a:ln/>
        </p:spPr>
        <p:txBody>
          <a:bodyPr wrap="square" lIns="0" tIns="0" rIns="0" bIns="0" rtlCol="0" anchor="ctr"/>
          <a:lstStyle/>
          <a:p>
            <a:pPr indent="0" marL="0">
              <a:buNone/>
            </a:pPr>
            <a:r>
              <a:rPr lang="en-US" sz="1300" b="1" dirty="0">
                <a:solidFill>
                  <a:srgbClr val="14A3C7"/>
                </a:solidFill>
                <a:latin typeface="Calibri" pitchFamily="34" charset="0"/>
                <a:ea typeface="Calibri" pitchFamily="34" charset="-122"/>
                <a:cs typeface="Calibri" pitchFamily="34" charset="-120"/>
              </a:rPr>
              <a:t>Générique &lt;Type&gt;</a:t>
            </a:r>
            <a:endParaRPr lang="en-US" sz="1300" dirty="0"/>
          </a:p>
        </p:txBody>
      </p:sp>
      <p:sp>
        <p:nvSpPr>
          <p:cNvPr id="16" name="Text 14"/>
          <p:cNvSpPr/>
          <p:nvPr/>
        </p:nvSpPr>
        <p:spPr>
          <a:xfrm>
            <a:off x="5760720" y="2697480"/>
            <a:ext cx="2834640" cy="41148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ArrayList&lt;String&gt;</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ArrayList&lt;Invention&gt;</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 Typage sûr à la compilation</a:t>
            </a:r>
            <a:endParaRPr lang="en-US" sz="1000" dirty="0"/>
          </a:p>
        </p:txBody>
      </p:sp>
      <p:sp>
        <p:nvSpPr>
          <p:cNvPr id="17" name="Shape 15"/>
          <p:cNvSpPr/>
          <p:nvPr/>
        </p:nvSpPr>
        <p:spPr>
          <a:xfrm>
            <a:off x="5577840" y="3383280"/>
            <a:ext cx="3108960" cy="7315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8" name="Shape 16"/>
          <p:cNvSpPr/>
          <p:nvPr/>
        </p:nvSpPr>
        <p:spPr>
          <a:xfrm>
            <a:off x="5577840" y="3383280"/>
            <a:ext cx="54864" cy="731520"/>
          </a:xfrm>
          <a:prstGeom prst="rect">
            <a:avLst/>
          </a:prstGeom>
          <a:solidFill>
            <a:srgbClr val="F59E0B"/>
          </a:solidFill>
          <a:ln/>
        </p:spPr>
      </p:sp>
      <p:sp>
        <p:nvSpPr>
          <p:cNvPr id="19" name="Text 17"/>
          <p:cNvSpPr/>
          <p:nvPr/>
        </p:nvSpPr>
        <p:spPr>
          <a:xfrm>
            <a:off x="5760720" y="3474720"/>
            <a:ext cx="2834640" cy="320040"/>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Index</a:t>
            </a:r>
            <a:endParaRPr lang="en-US" sz="1300" dirty="0"/>
          </a:p>
        </p:txBody>
      </p:sp>
      <p:sp>
        <p:nvSpPr>
          <p:cNvPr id="20" name="Text 18"/>
          <p:cNvSpPr/>
          <p:nvPr/>
        </p:nvSpPr>
        <p:spPr>
          <a:xfrm>
            <a:off x="5760720" y="3794760"/>
            <a:ext cx="2834640" cy="22860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 Premier élément = index 0</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Dernier = liste.size() - 1</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737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Text 1"/>
          <p:cNvSpPr/>
          <p:nvPr/>
        </p:nvSpPr>
        <p:spPr>
          <a:xfrm>
            <a:off x="548640" y="548640"/>
            <a:ext cx="3657600" cy="365760"/>
          </a:xfrm>
          <a:prstGeom prst="rect">
            <a:avLst/>
          </a:prstGeom>
          <a:noFill/>
          <a:ln/>
        </p:spPr>
        <p:txBody>
          <a:bodyPr wrap="square" rtlCol="0" anchor="ctr"/>
          <a:lstStyle/>
          <a:p>
            <a:pPr indent="0" marL="0">
              <a:buNone/>
            </a:pPr>
            <a:r>
              <a:rPr lang="en-US" sz="1200" b="1" spc="600" kern="0" dirty="0">
                <a:solidFill>
                  <a:srgbClr val="32E0C4"/>
                </a:solidFill>
                <a:latin typeface="Consolas" pitchFamily="34" charset="0"/>
                <a:ea typeface="Consolas" pitchFamily="34" charset="-122"/>
                <a:cs typeface="Consolas" pitchFamily="34" charset="-120"/>
              </a:rPr>
              <a:t>MODULE 5</a:t>
            </a:r>
            <a:endParaRPr lang="en-US" sz="1200" dirty="0"/>
          </a:p>
        </p:txBody>
      </p:sp>
      <p:pic>
        <p:nvPicPr>
          <p:cNvPr id="4" name="Image 0" descr="preencoded.png">    </p:cNvPr>
          <p:cNvPicPr>
            <a:picLocks noChangeAspect="1"/>
          </p:cNvPicPr>
          <p:nvPr/>
        </p:nvPicPr>
        <p:blipFill>
          <a:blip r:embed="rId1"/>
          <a:stretch>
            <a:fillRect/>
          </a:stretch>
        </p:blipFill>
        <p:spPr>
          <a:xfrm>
            <a:off x="7772400" y="731520"/>
            <a:ext cx="914400" cy="914400"/>
          </a:xfrm>
          <a:prstGeom prst="rect">
            <a:avLst/>
          </a:prstGeom>
        </p:spPr>
      </p:pic>
      <p:sp>
        <p:nvSpPr>
          <p:cNvPr id="5" name="Text 2"/>
          <p:cNvSpPr/>
          <p:nvPr/>
        </p:nvSpPr>
        <p:spPr>
          <a:xfrm>
            <a:off x="548640" y="1371600"/>
            <a:ext cx="6858000" cy="1097280"/>
          </a:xfrm>
          <a:prstGeom prst="rect">
            <a:avLst/>
          </a:prstGeom>
          <a:noFill/>
          <a:ln/>
        </p:spPr>
        <p:txBody>
          <a:bodyPr wrap="square"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Héritage</a:t>
            </a:r>
            <a:endParaRPr lang="en-US" sz="3600" dirty="0"/>
          </a:p>
        </p:txBody>
      </p:sp>
      <p:sp>
        <p:nvSpPr>
          <p:cNvPr id="6" name="Text 3"/>
          <p:cNvSpPr/>
          <p:nvPr/>
        </p:nvSpPr>
        <p:spPr>
          <a:xfrm>
            <a:off x="548640" y="2560320"/>
            <a:ext cx="6858000" cy="640080"/>
          </a:xfrm>
          <a:prstGeom prst="rect">
            <a:avLst/>
          </a:prstGeom>
          <a:noFill/>
          <a:ln/>
        </p:spPr>
        <p:txBody>
          <a:bodyPr wrap="square" rtlCol="0" anchor="ctr"/>
          <a:lstStyle/>
          <a:p>
            <a:pPr indent="0" marL="0">
              <a:buNone/>
            </a:pPr>
            <a:r>
              <a:rPr lang="en-US" sz="1600" dirty="0">
                <a:solidFill>
                  <a:srgbClr val="E8F8F5"/>
                </a:solidFill>
                <a:latin typeface="Calibri" pitchFamily="34" charset="0"/>
                <a:ea typeface="Calibri" pitchFamily="34" charset="-122"/>
                <a:cs typeface="Calibri" pitchFamily="34" charset="-120"/>
              </a:rPr>
              <a:t>extends · super() · protected · @Override · Polymorphisme</a:t>
            </a:r>
            <a:endParaRPr lang="en-US" sz="1600" dirty="0"/>
          </a:p>
        </p:txBody>
      </p:sp>
      <p:sp>
        <p:nvSpPr>
          <p:cNvPr id="7" name="Shape 4"/>
          <p:cNvSpPr/>
          <p:nvPr/>
        </p:nvSpPr>
        <p:spPr>
          <a:xfrm>
            <a:off x="0" y="4754880"/>
            <a:ext cx="9144000" cy="388620"/>
          </a:xfrm>
          <a:prstGeom prst="rect">
            <a:avLst/>
          </a:prstGeom>
          <a:solidFill>
            <a:srgbClr val="0F172A"/>
          </a:solidFill>
          <a:ln/>
        </p:spPr>
      </p:sp>
      <p:sp>
        <p:nvSpPr>
          <p:cNvPr id="8" name="Text 5"/>
          <p:cNvSpPr/>
          <p:nvPr/>
        </p:nvSpPr>
        <p:spPr>
          <a:xfrm>
            <a:off x="548640" y="4754880"/>
            <a:ext cx="7315200" cy="3886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M05 — Héritage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Shape 1"/>
          <p:cNvSpPr/>
          <p:nvPr/>
        </p:nvSpPr>
        <p:spPr>
          <a:xfrm>
            <a:off x="0" y="54864"/>
            <a:ext cx="9144000" cy="685800"/>
          </a:xfrm>
          <a:prstGeom prst="rect">
            <a:avLst/>
          </a:prstGeom>
          <a:solidFill>
            <a:srgbClr val="F1F5F9"/>
          </a:solidFill>
          <a:ln/>
        </p:spPr>
      </p:sp>
      <p:sp>
        <p:nvSpPr>
          <p:cNvPr id="4" name="Text 2"/>
          <p:cNvSpPr/>
          <p:nvPr/>
        </p:nvSpPr>
        <p:spPr>
          <a:xfrm>
            <a:off x="548640" y="109728"/>
            <a:ext cx="7315200" cy="594360"/>
          </a:xfrm>
          <a:prstGeom prst="rect">
            <a:avLst/>
          </a:prstGeom>
          <a:noFill/>
          <a:ln/>
        </p:spPr>
        <p:txBody>
          <a:bodyPr wrap="square" lIns="0" tIns="0" rIns="0" bIns="0" rtlCol="0" anchor="ctr"/>
          <a:lstStyle/>
          <a:p>
            <a:pPr indent="0" marL="0">
              <a:buNone/>
            </a:pPr>
            <a:r>
              <a:rPr lang="en-US" sz="2200" b="1" dirty="0">
                <a:solidFill>
                  <a:srgbClr val="1E293B"/>
                </a:solidFill>
                <a:latin typeface="Trebuchet MS" pitchFamily="34" charset="0"/>
                <a:ea typeface="Trebuchet MS" pitchFamily="34" charset="-122"/>
                <a:cs typeface="Trebuchet MS" pitchFamily="34" charset="-120"/>
              </a:rPr>
              <a:t>extends — Hériter d'une classe parent</a:t>
            </a:r>
            <a:endParaRPr lang="en-US" sz="2200" dirty="0"/>
          </a:p>
        </p:txBody>
      </p:sp>
      <p:sp>
        <p:nvSpPr>
          <p:cNvPr id="5" name="Shape 3"/>
          <p:cNvSpPr/>
          <p:nvPr/>
        </p:nvSpPr>
        <p:spPr>
          <a:xfrm>
            <a:off x="0" y="4754880"/>
            <a:ext cx="9144000" cy="388620"/>
          </a:xfrm>
          <a:prstGeom prst="rect">
            <a:avLst/>
          </a:prstGeom>
          <a:solidFill>
            <a:srgbClr val="0F172A"/>
          </a:solidFill>
          <a:ln/>
        </p:spPr>
      </p:sp>
      <p:sp>
        <p:nvSpPr>
          <p:cNvPr id="6" name="Text 4"/>
          <p:cNvSpPr/>
          <p:nvPr/>
        </p:nvSpPr>
        <p:spPr>
          <a:xfrm>
            <a:off x="548640" y="4754880"/>
            <a:ext cx="7315200" cy="3886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M05 — Héritage</a:t>
            </a:r>
            <a:endParaRPr lang="en-US" sz="900" dirty="0"/>
          </a:p>
        </p:txBody>
      </p:sp>
      <p:sp>
        <p:nvSpPr>
          <p:cNvPr id="7" name="Shape 5"/>
          <p:cNvSpPr/>
          <p:nvPr/>
        </p:nvSpPr>
        <p:spPr>
          <a:xfrm>
            <a:off x="457200" y="1005840"/>
            <a:ext cx="5029200" cy="3657600"/>
          </a:xfrm>
          <a:prstGeom prst="rect">
            <a:avLst/>
          </a:prstGeom>
          <a:solidFill>
            <a:srgbClr val="1E293B"/>
          </a:solidFill>
          <a:ln/>
          <a:effectLst>
            <a:outerShdw sx="100000" sy="100000" kx="0" ky="0" algn="bl" rotWithShape="0" blurRad="101600" dist="38100" dir="8100000">
              <a:srgbClr val="000000">
                <a:alpha val="12000"/>
              </a:srgbClr>
            </a:outerShdw>
          </a:effectLst>
        </p:spPr>
      </p:sp>
      <p:sp>
        <p:nvSpPr>
          <p:cNvPr id="8" name="Text 6"/>
          <p:cNvSpPr/>
          <p:nvPr/>
        </p:nvSpPr>
        <p:spPr>
          <a:xfrm>
            <a:off x="594360" y="1097280"/>
            <a:ext cx="4754880" cy="3474720"/>
          </a:xfrm>
          <a:prstGeom prst="rect">
            <a:avLst/>
          </a:prstGeom>
          <a:noFill/>
          <a:ln/>
        </p:spPr>
        <p:txBody>
          <a:bodyPr wrap="square" rtlCol="0" anchor="t"/>
          <a:lstStyle/>
          <a:p>
            <a:pPr indent="0" marL="0">
              <a:buNone/>
            </a:pPr>
            <a:r>
              <a:rPr lang="en-US" sz="1000" dirty="0">
                <a:solidFill>
                  <a:srgbClr val="32E0C4"/>
                </a:solidFill>
                <a:latin typeface="Consolas" pitchFamily="34" charset="0"/>
                <a:ea typeface="Consolas" pitchFamily="34" charset="-122"/>
                <a:cs typeface="Consolas" pitchFamily="34" charset="-120"/>
              </a:rPr>
              <a:t>// Classe PARENT</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public class Invention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protected String nom;  // ← protected!</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protected int annee;</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public Invention(String nom, int annee)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this.nom = nom;</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this.annee = annee;</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a:t>
            </a:r>
            <a:endParaRPr lang="en-US" sz="1000" dirty="0"/>
          </a:p>
          <a:p>
            <a:pPr indent="0" marL="0">
              <a:buNone/>
            </a:pP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Classe ENFANT</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public class InventionLogicielle extends Invention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private String langage;</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public InventionLogicielle(String nom, int annee,</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String langage)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super(nom, annee);  // ← appelle parent</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this.langage = langage;</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a:t>
            </a:r>
            <a:endParaRPr lang="en-US" sz="1000" dirty="0"/>
          </a:p>
        </p:txBody>
      </p:sp>
      <p:sp>
        <p:nvSpPr>
          <p:cNvPr id="9" name="Shape 7"/>
          <p:cNvSpPr/>
          <p:nvPr/>
        </p:nvSpPr>
        <p:spPr>
          <a:xfrm>
            <a:off x="5760720" y="1005840"/>
            <a:ext cx="2926080" cy="9144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0" name="Shape 8"/>
          <p:cNvSpPr/>
          <p:nvPr/>
        </p:nvSpPr>
        <p:spPr>
          <a:xfrm>
            <a:off x="5760720" y="1005840"/>
            <a:ext cx="54864" cy="914400"/>
          </a:xfrm>
          <a:prstGeom prst="rect">
            <a:avLst/>
          </a:prstGeom>
          <a:solidFill>
            <a:srgbClr val="0D7377"/>
          </a:solidFill>
          <a:ln/>
        </p:spPr>
      </p:sp>
      <p:sp>
        <p:nvSpPr>
          <p:cNvPr id="11" name="Text 9"/>
          <p:cNvSpPr/>
          <p:nvPr/>
        </p:nvSpPr>
        <p:spPr>
          <a:xfrm>
            <a:off x="5943600" y="1097280"/>
            <a:ext cx="2651760" cy="320040"/>
          </a:xfrm>
          <a:prstGeom prst="rect">
            <a:avLst/>
          </a:prstGeom>
          <a:noFill/>
          <a:ln/>
        </p:spPr>
        <p:txBody>
          <a:bodyPr wrap="square" lIns="0" tIns="0" rIns="0" bIns="0" rtlCol="0" anchor="ctr"/>
          <a:lstStyle/>
          <a:p>
            <a:pPr indent="0" marL="0">
              <a:buNone/>
            </a:pPr>
            <a:r>
              <a:rPr lang="en-US" sz="1300" b="1" dirty="0">
                <a:solidFill>
                  <a:srgbClr val="0D7377"/>
                </a:solidFill>
                <a:latin typeface="Calibri" pitchFamily="34" charset="0"/>
                <a:ea typeface="Calibri" pitchFamily="34" charset="-122"/>
                <a:cs typeface="Calibri" pitchFamily="34" charset="-120"/>
              </a:rPr>
              <a:t>extends</a:t>
            </a:r>
            <a:endParaRPr lang="en-US" sz="1300" dirty="0"/>
          </a:p>
        </p:txBody>
      </p:sp>
      <p:sp>
        <p:nvSpPr>
          <p:cNvPr id="12" name="Text 10"/>
          <p:cNvSpPr/>
          <p:nvPr/>
        </p:nvSpPr>
        <p:spPr>
          <a:xfrm>
            <a:off x="5943600" y="1417320"/>
            <a:ext cx="2651760" cy="41148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L'enfant HÉRITE tout</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du parent (attributs,</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méthodes)</a:t>
            </a:r>
            <a:endParaRPr lang="en-US" sz="1000" dirty="0"/>
          </a:p>
        </p:txBody>
      </p:sp>
      <p:sp>
        <p:nvSpPr>
          <p:cNvPr id="13" name="Shape 11"/>
          <p:cNvSpPr/>
          <p:nvPr/>
        </p:nvSpPr>
        <p:spPr>
          <a:xfrm>
            <a:off x="5760720" y="2103120"/>
            <a:ext cx="2926080" cy="9144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4" name="Shape 12"/>
          <p:cNvSpPr/>
          <p:nvPr/>
        </p:nvSpPr>
        <p:spPr>
          <a:xfrm>
            <a:off x="5760720" y="2103120"/>
            <a:ext cx="54864" cy="914400"/>
          </a:xfrm>
          <a:prstGeom prst="rect">
            <a:avLst/>
          </a:prstGeom>
          <a:solidFill>
            <a:srgbClr val="EF4444"/>
          </a:solidFill>
          <a:ln/>
        </p:spPr>
      </p:sp>
      <p:sp>
        <p:nvSpPr>
          <p:cNvPr id="15" name="Text 13"/>
          <p:cNvSpPr/>
          <p:nvPr/>
        </p:nvSpPr>
        <p:spPr>
          <a:xfrm>
            <a:off x="5943600" y="2194560"/>
            <a:ext cx="2651760" cy="320040"/>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super()</a:t>
            </a:r>
            <a:endParaRPr lang="en-US" sz="1300" dirty="0"/>
          </a:p>
        </p:txBody>
      </p:sp>
      <p:sp>
        <p:nvSpPr>
          <p:cNvPr id="16" name="Text 14"/>
          <p:cNvSpPr/>
          <p:nvPr/>
        </p:nvSpPr>
        <p:spPr>
          <a:xfrm>
            <a:off x="5943600" y="2514600"/>
            <a:ext cx="2651760" cy="41148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Appelle le constructeur</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du parent. OBLIGATOIRE</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en première ligne.</a:t>
            </a:r>
            <a:endParaRPr lang="en-US" sz="1000" dirty="0"/>
          </a:p>
        </p:txBody>
      </p:sp>
      <p:sp>
        <p:nvSpPr>
          <p:cNvPr id="17" name="Shape 15"/>
          <p:cNvSpPr/>
          <p:nvPr/>
        </p:nvSpPr>
        <p:spPr>
          <a:xfrm>
            <a:off x="5760720" y="3200400"/>
            <a:ext cx="2926080" cy="9144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8" name="Shape 16"/>
          <p:cNvSpPr/>
          <p:nvPr/>
        </p:nvSpPr>
        <p:spPr>
          <a:xfrm>
            <a:off x="5760720" y="3200400"/>
            <a:ext cx="54864" cy="914400"/>
          </a:xfrm>
          <a:prstGeom prst="rect">
            <a:avLst/>
          </a:prstGeom>
          <a:solidFill>
            <a:srgbClr val="F59E0B"/>
          </a:solidFill>
          <a:ln/>
        </p:spPr>
      </p:sp>
      <p:sp>
        <p:nvSpPr>
          <p:cNvPr id="19" name="Text 17"/>
          <p:cNvSpPr/>
          <p:nvPr/>
        </p:nvSpPr>
        <p:spPr>
          <a:xfrm>
            <a:off x="5943600" y="3291840"/>
            <a:ext cx="2651760" cy="320040"/>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protected</a:t>
            </a:r>
            <a:endParaRPr lang="en-US" sz="1300" dirty="0"/>
          </a:p>
        </p:txBody>
      </p:sp>
      <p:sp>
        <p:nvSpPr>
          <p:cNvPr id="20" name="Text 18"/>
          <p:cNvSpPr/>
          <p:nvPr/>
        </p:nvSpPr>
        <p:spPr>
          <a:xfrm>
            <a:off x="5943600" y="3611880"/>
            <a:ext cx="2651760" cy="41148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Visible par les enfants</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(private → invisible,</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public → tout le monde)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Shape 1"/>
          <p:cNvSpPr/>
          <p:nvPr/>
        </p:nvSpPr>
        <p:spPr>
          <a:xfrm>
            <a:off x="0" y="54864"/>
            <a:ext cx="9144000" cy="685800"/>
          </a:xfrm>
          <a:prstGeom prst="rect">
            <a:avLst/>
          </a:prstGeom>
          <a:solidFill>
            <a:srgbClr val="F1F5F9"/>
          </a:solidFill>
          <a:ln/>
        </p:spPr>
      </p:sp>
      <p:sp>
        <p:nvSpPr>
          <p:cNvPr id="4" name="Text 2"/>
          <p:cNvSpPr/>
          <p:nvPr/>
        </p:nvSpPr>
        <p:spPr>
          <a:xfrm>
            <a:off x="548640" y="109728"/>
            <a:ext cx="7315200" cy="594360"/>
          </a:xfrm>
          <a:prstGeom prst="rect">
            <a:avLst/>
          </a:prstGeom>
          <a:noFill/>
          <a:ln/>
        </p:spPr>
        <p:txBody>
          <a:bodyPr wrap="square" lIns="0" tIns="0" rIns="0" bIns="0" rtlCol="0" anchor="ctr"/>
          <a:lstStyle/>
          <a:p>
            <a:pPr indent="0" marL="0">
              <a:buNone/>
            </a:pPr>
            <a:r>
              <a:rPr lang="en-US" sz="2200" b="1" dirty="0">
                <a:solidFill>
                  <a:srgbClr val="1E293B"/>
                </a:solidFill>
                <a:latin typeface="Trebuchet MS" pitchFamily="34" charset="0"/>
                <a:ea typeface="Trebuchet MS" pitchFamily="34" charset="-122"/>
                <a:cs typeface="Trebuchet MS" pitchFamily="34" charset="-120"/>
              </a:rPr>
              <a:t>@Override et Polymorphisme</a:t>
            </a:r>
            <a:endParaRPr lang="en-US" sz="2200" dirty="0"/>
          </a:p>
        </p:txBody>
      </p:sp>
      <p:sp>
        <p:nvSpPr>
          <p:cNvPr id="5" name="Shape 3"/>
          <p:cNvSpPr/>
          <p:nvPr/>
        </p:nvSpPr>
        <p:spPr>
          <a:xfrm>
            <a:off x="0" y="4754880"/>
            <a:ext cx="9144000" cy="388620"/>
          </a:xfrm>
          <a:prstGeom prst="rect">
            <a:avLst/>
          </a:prstGeom>
          <a:solidFill>
            <a:srgbClr val="0F172A"/>
          </a:solidFill>
          <a:ln/>
        </p:spPr>
      </p:sp>
      <p:sp>
        <p:nvSpPr>
          <p:cNvPr id="6" name="Text 4"/>
          <p:cNvSpPr/>
          <p:nvPr/>
        </p:nvSpPr>
        <p:spPr>
          <a:xfrm>
            <a:off x="548640" y="4754880"/>
            <a:ext cx="7315200" cy="3886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M05 — Héritage</a:t>
            </a:r>
            <a:endParaRPr lang="en-US" sz="900" dirty="0"/>
          </a:p>
        </p:txBody>
      </p:sp>
      <p:sp>
        <p:nvSpPr>
          <p:cNvPr id="7" name="Shape 5"/>
          <p:cNvSpPr/>
          <p:nvPr/>
        </p:nvSpPr>
        <p:spPr>
          <a:xfrm>
            <a:off x="457200" y="1005840"/>
            <a:ext cx="5029200" cy="3657600"/>
          </a:xfrm>
          <a:prstGeom prst="rect">
            <a:avLst/>
          </a:prstGeom>
          <a:solidFill>
            <a:srgbClr val="1E293B"/>
          </a:solidFill>
          <a:ln/>
          <a:effectLst>
            <a:outerShdw sx="100000" sy="100000" kx="0" ky="0" algn="bl" rotWithShape="0" blurRad="101600" dist="38100" dir="8100000">
              <a:srgbClr val="000000">
                <a:alpha val="12000"/>
              </a:srgbClr>
            </a:outerShdw>
          </a:effectLst>
        </p:spPr>
      </p:sp>
      <p:sp>
        <p:nvSpPr>
          <p:cNvPr id="8" name="Text 6"/>
          <p:cNvSpPr/>
          <p:nvPr/>
        </p:nvSpPr>
        <p:spPr>
          <a:xfrm>
            <a:off x="594360" y="1097280"/>
            <a:ext cx="4754880" cy="3474720"/>
          </a:xfrm>
          <a:prstGeom prst="rect">
            <a:avLst/>
          </a:prstGeom>
          <a:noFill/>
          <a:ln/>
        </p:spPr>
        <p:txBody>
          <a:bodyPr wrap="square" rtlCol="0" anchor="t"/>
          <a:lstStyle/>
          <a:p>
            <a:pPr indent="0" marL="0">
              <a:buNone/>
            </a:pPr>
            <a:r>
              <a:rPr lang="en-US" sz="1000" dirty="0">
                <a:solidFill>
                  <a:srgbClr val="32E0C4"/>
                </a:solidFill>
                <a:latin typeface="Consolas" pitchFamily="34" charset="0"/>
                <a:ea typeface="Consolas" pitchFamily="34" charset="-122"/>
                <a:cs typeface="Consolas" pitchFamily="34" charset="-120"/>
              </a:rPr>
              <a:t>public class Invention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public String decrire()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return nom + " (" + annee +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a:t>
            </a:r>
            <a:endParaRPr lang="en-US" sz="1000" dirty="0"/>
          </a:p>
          <a:p>
            <a:pPr indent="0" marL="0">
              <a:buNone/>
            </a:pP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public class InventionLogicielle extends Invention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@Override</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public String decrire()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return nom + " (" + annee + ") en " + langage;</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a:t>
            </a:r>
            <a:endParaRPr lang="en-US" sz="1000" dirty="0"/>
          </a:p>
          <a:p>
            <a:pPr indent="0" marL="0">
              <a:buNone/>
            </a:pP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POLYMORPHISME</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Invention i1 = new Invention("Roue", -3500);</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Invention i2 = new InventionLogicielle("Java", 1995, "Java");</a:t>
            </a:r>
            <a:endParaRPr lang="en-US" sz="1000" dirty="0"/>
          </a:p>
          <a:p>
            <a:pPr indent="0" marL="0">
              <a:buNone/>
            </a:pP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Les deux appellent decrire() mais le résultat diffère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System.out.println(i1.decrire()); // Roue (-3500)</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System.out.println(i2.decrire()); // Java (1995) en Java</a:t>
            </a:r>
            <a:endParaRPr lang="en-US" sz="1000" dirty="0"/>
          </a:p>
        </p:txBody>
      </p:sp>
      <p:sp>
        <p:nvSpPr>
          <p:cNvPr id="9" name="Shape 7"/>
          <p:cNvSpPr/>
          <p:nvPr/>
        </p:nvSpPr>
        <p:spPr>
          <a:xfrm>
            <a:off x="5760720" y="1005840"/>
            <a:ext cx="2926080" cy="13716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0" name="Shape 8"/>
          <p:cNvSpPr/>
          <p:nvPr/>
        </p:nvSpPr>
        <p:spPr>
          <a:xfrm>
            <a:off x="5760720" y="1005840"/>
            <a:ext cx="54864" cy="1371600"/>
          </a:xfrm>
          <a:prstGeom prst="rect">
            <a:avLst/>
          </a:prstGeom>
          <a:solidFill>
            <a:srgbClr val="0D7377"/>
          </a:solidFill>
          <a:ln/>
        </p:spPr>
      </p:sp>
      <p:sp>
        <p:nvSpPr>
          <p:cNvPr id="11" name="Text 9"/>
          <p:cNvSpPr/>
          <p:nvPr/>
        </p:nvSpPr>
        <p:spPr>
          <a:xfrm>
            <a:off x="5943600" y="1097280"/>
            <a:ext cx="2651760" cy="320040"/>
          </a:xfrm>
          <a:prstGeom prst="rect">
            <a:avLst/>
          </a:prstGeom>
          <a:noFill/>
          <a:ln/>
        </p:spPr>
        <p:txBody>
          <a:bodyPr wrap="square" lIns="0" tIns="0" rIns="0" bIns="0" rtlCol="0" anchor="ctr"/>
          <a:lstStyle/>
          <a:p>
            <a:pPr indent="0" marL="0">
              <a:buNone/>
            </a:pPr>
            <a:r>
              <a:rPr lang="en-US" sz="1300" b="1" dirty="0">
                <a:solidFill>
                  <a:srgbClr val="0D7377"/>
                </a:solidFill>
                <a:latin typeface="Calibri" pitchFamily="34" charset="0"/>
                <a:ea typeface="Calibri" pitchFamily="34" charset="-122"/>
                <a:cs typeface="Calibri" pitchFamily="34" charset="-120"/>
              </a:rPr>
              <a:t>Polymorphisme</a:t>
            </a:r>
            <a:endParaRPr lang="en-US" sz="1300" dirty="0"/>
          </a:p>
        </p:txBody>
      </p:sp>
      <p:sp>
        <p:nvSpPr>
          <p:cNvPr id="12" name="Text 10"/>
          <p:cNvSpPr/>
          <p:nvPr/>
        </p:nvSpPr>
        <p:spPr>
          <a:xfrm>
            <a:off x="5943600" y="1417320"/>
            <a:ext cx="2651760" cy="86868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Même méthode, comportement</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différent selon le type réel.</a:t>
            </a:r>
            <a:endParaRPr lang="en-US" sz="1000" dirty="0"/>
          </a:p>
          <a:p>
            <a:pPr indent="0" marL="0">
              <a:buNone/>
            </a:pP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Le type de la variable peut</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être le PARENT, mais c'est</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la méthode de l'ENFANT</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qui est appelée.</a:t>
            </a:r>
            <a:endParaRPr lang="en-US" sz="1000" dirty="0"/>
          </a:p>
        </p:txBody>
      </p:sp>
      <p:sp>
        <p:nvSpPr>
          <p:cNvPr id="13" name="Shape 11"/>
          <p:cNvSpPr/>
          <p:nvPr/>
        </p:nvSpPr>
        <p:spPr>
          <a:xfrm>
            <a:off x="5760720" y="2560320"/>
            <a:ext cx="2926080" cy="9144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4" name="Shape 12"/>
          <p:cNvSpPr/>
          <p:nvPr/>
        </p:nvSpPr>
        <p:spPr>
          <a:xfrm>
            <a:off x="5760720" y="2560320"/>
            <a:ext cx="54864" cy="914400"/>
          </a:xfrm>
          <a:prstGeom prst="rect">
            <a:avLst/>
          </a:prstGeom>
          <a:solidFill>
            <a:srgbClr val="F59E0B"/>
          </a:solidFill>
          <a:ln/>
        </p:spPr>
      </p:sp>
      <p:sp>
        <p:nvSpPr>
          <p:cNvPr id="15" name="Text 13"/>
          <p:cNvSpPr/>
          <p:nvPr/>
        </p:nvSpPr>
        <p:spPr>
          <a:xfrm>
            <a:off x="5943600" y="2651760"/>
            <a:ext cx="2651760" cy="320040"/>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@Override</a:t>
            </a:r>
            <a:endParaRPr lang="en-US" sz="1300" dirty="0"/>
          </a:p>
        </p:txBody>
      </p:sp>
      <p:sp>
        <p:nvSpPr>
          <p:cNvPr id="16" name="Text 14"/>
          <p:cNvSpPr/>
          <p:nvPr/>
        </p:nvSpPr>
        <p:spPr>
          <a:xfrm>
            <a:off x="5943600" y="2971800"/>
            <a:ext cx="2651760" cy="41148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Annotation de sécurité.</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Dit au compilateur :</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'je redéfinis une méthode'</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737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Text 1"/>
          <p:cNvSpPr/>
          <p:nvPr/>
        </p:nvSpPr>
        <p:spPr>
          <a:xfrm>
            <a:off x="548640" y="548640"/>
            <a:ext cx="3657600" cy="365760"/>
          </a:xfrm>
          <a:prstGeom prst="rect">
            <a:avLst/>
          </a:prstGeom>
          <a:noFill/>
          <a:ln/>
        </p:spPr>
        <p:txBody>
          <a:bodyPr wrap="square" rtlCol="0" anchor="ctr"/>
          <a:lstStyle/>
          <a:p>
            <a:pPr indent="0" marL="0">
              <a:buNone/>
            </a:pPr>
            <a:r>
              <a:rPr lang="en-US" sz="1200" b="1" spc="600" kern="0" dirty="0">
                <a:solidFill>
                  <a:srgbClr val="32E0C4"/>
                </a:solidFill>
                <a:latin typeface="Consolas" pitchFamily="34" charset="0"/>
                <a:ea typeface="Consolas" pitchFamily="34" charset="-122"/>
                <a:cs typeface="Consolas" pitchFamily="34" charset="-120"/>
              </a:rPr>
              <a:t>MODULE 6</a:t>
            </a:r>
            <a:endParaRPr lang="en-US" sz="1200" dirty="0"/>
          </a:p>
        </p:txBody>
      </p:sp>
      <p:pic>
        <p:nvPicPr>
          <p:cNvPr id="4" name="Image 0" descr="preencoded.png">    </p:cNvPr>
          <p:cNvPicPr>
            <a:picLocks noChangeAspect="1"/>
          </p:cNvPicPr>
          <p:nvPr/>
        </p:nvPicPr>
        <p:blipFill>
          <a:blip r:embed="rId1"/>
          <a:stretch>
            <a:fillRect/>
          </a:stretch>
        </p:blipFill>
        <p:spPr>
          <a:xfrm>
            <a:off x="7772400" y="731520"/>
            <a:ext cx="914400" cy="914400"/>
          </a:xfrm>
          <a:prstGeom prst="rect">
            <a:avLst/>
          </a:prstGeom>
        </p:spPr>
      </p:pic>
      <p:sp>
        <p:nvSpPr>
          <p:cNvPr id="5" name="Text 2"/>
          <p:cNvSpPr/>
          <p:nvPr/>
        </p:nvSpPr>
        <p:spPr>
          <a:xfrm>
            <a:off x="548640" y="1371600"/>
            <a:ext cx="6858000" cy="1097280"/>
          </a:xfrm>
          <a:prstGeom prst="rect">
            <a:avLst/>
          </a:prstGeom>
          <a:noFill/>
          <a:ln/>
        </p:spPr>
        <p:txBody>
          <a:bodyPr wrap="square"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Projet et Git</a:t>
            </a:r>
            <a:endParaRPr lang="en-US" sz="3600" dirty="0"/>
          </a:p>
        </p:txBody>
      </p:sp>
      <p:sp>
        <p:nvSpPr>
          <p:cNvPr id="6" name="Text 3"/>
          <p:cNvSpPr/>
          <p:nvPr/>
        </p:nvSpPr>
        <p:spPr>
          <a:xfrm>
            <a:off x="548640" y="2560320"/>
            <a:ext cx="6858000" cy="640080"/>
          </a:xfrm>
          <a:prstGeom prst="rect">
            <a:avLst/>
          </a:prstGeom>
          <a:noFill/>
          <a:ln/>
        </p:spPr>
        <p:txBody>
          <a:bodyPr wrap="square" rtlCol="0" anchor="ctr"/>
          <a:lstStyle/>
          <a:p>
            <a:pPr indent="0" marL="0">
              <a:buNone/>
            </a:pPr>
            <a:r>
              <a:rPr lang="en-US" sz="1600" dirty="0">
                <a:solidFill>
                  <a:srgbClr val="E8F8F5"/>
                </a:solidFill>
                <a:latin typeface="Calibri" pitchFamily="34" charset="0"/>
                <a:ea typeface="Calibri" pitchFamily="34" charset="-122"/>
                <a:cs typeface="Calibri" pitchFamily="34" charset="-120"/>
              </a:rPr>
              <a:t>git init/add/commit/push · Branches · Pull Requests</a:t>
            </a:r>
            <a:endParaRPr lang="en-US" sz="1600" dirty="0"/>
          </a:p>
        </p:txBody>
      </p:sp>
      <p:sp>
        <p:nvSpPr>
          <p:cNvPr id="7" name="Shape 4"/>
          <p:cNvSpPr/>
          <p:nvPr/>
        </p:nvSpPr>
        <p:spPr>
          <a:xfrm>
            <a:off x="0" y="4754880"/>
            <a:ext cx="9144000" cy="388620"/>
          </a:xfrm>
          <a:prstGeom prst="rect">
            <a:avLst/>
          </a:prstGeom>
          <a:solidFill>
            <a:srgbClr val="0F172A"/>
          </a:solidFill>
          <a:ln/>
        </p:spPr>
      </p:sp>
      <p:sp>
        <p:nvSpPr>
          <p:cNvPr id="8" name="Text 5"/>
          <p:cNvSpPr/>
          <p:nvPr/>
        </p:nvSpPr>
        <p:spPr>
          <a:xfrm>
            <a:off x="548640" y="4754880"/>
            <a:ext cx="7315200" cy="3886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M06 — Projet et Git</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Shape 1"/>
          <p:cNvSpPr/>
          <p:nvPr/>
        </p:nvSpPr>
        <p:spPr>
          <a:xfrm>
            <a:off x="0" y="54864"/>
            <a:ext cx="9144000" cy="685800"/>
          </a:xfrm>
          <a:prstGeom prst="rect">
            <a:avLst/>
          </a:prstGeom>
          <a:solidFill>
            <a:srgbClr val="F1F5F9"/>
          </a:solidFill>
          <a:ln/>
        </p:spPr>
      </p:sp>
      <p:sp>
        <p:nvSpPr>
          <p:cNvPr id="4" name="Text 2"/>
          <p:cNvSpPr/>
          <p:nvPr/>
        </p:nvSpPr>
        <p:spPr>
          <a:xfrm>
            <a:off x="548640" y="109728"/>
            <a:ext cx="7315200" cy="594360"/>
          </a:xfrm>
          <a:prstGeom prst="rect">
            <a:avLst/>
          </a:prstGeom>
          <a:noFill/>
          <a:ln/>
        </p:spPr>
        <p:txBody>
          <a:bodyPr wrap="square" lIns="0" tIns="0" rIns="0" bIns="0" rtlCol="0" anchor="ctr"/>
          <a:lstStyle/>
          <a:p>
            <a:pPr indent="0" marL="0">
              <a:buNone/>
            </a:pPr>
            <a:r>
              <a:rPr lang="en-US" sz="2200" b="1" dirty="0">
                <a:solidFill>
                  <a:srgbClr val="1E293B"/>
                </a:solidFill>
                <a:latin typeface="Trebuchet MS" pitchFamily="34" charset="0"/>
                <a:ea typeface="Trebuchet MS" pitchFamily="34" charset="-122"/>
                <a:cs typeface="Trebuchet MS" pitchFamily="34" charset="-120"/>
              </a:rPr>
              <a:t>Git — Les commandes essentielles</a:t>
            </a:r>
            <a:endParaRPr lang="en-US" sz="2200" dirty="0"/>
          </a:p>
        </p:txBody>
      </p:sp>
      <p:sp>
        <p:nvSpPr>
          <p:cNvPr id="5" name="Shape 3"/>
          <p:cNvSpPr/>
          <p:nvPr/>
        </p:nvSpPr>
        <p:spPr>
          <a:xfrm>
            <a:off x="0" y="4754880"/>
            <a:ext cx="9144000" cy="388620"/>
          </a:xfrm>
          <a:prstGeom prst="rect">
            <a:avLst/>
          </a:prstGeom>
          <a:solidFill>
            <a:srgbClr val="0F172A"/>
          </a:solidFill>
          <a:ln/>
        </p:spPr>
      </p:sp>
      <p:sp>
        <p:nvSpPr>
          <p:cNvPr id="6" name="Text 4"/>
          <p:cNvSpPr/>
          <p:nvPr/>
        </p:nvSpPr>
        <p:spPr>
          <a:xfrm>
            <a:off x="548640" y="4754880"/>
            <a:ext cx="7315200" cy="3886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M06 — Projet et Git</a:t>
            </a:r>
            <a:endParaRPr lang="en-US" sz="900" dirty="0"/>
          </a:p>
        </p:txBody>
      </p:sp>
      <p:sp>
        <p:nvSpPr>
          <p:cNvPr id="7" name="Shape 5"/>
          <p:cNvSpPr/>
          <p:nvPr/>
        </p:nvSpPr>
        <p:spPr>
          <a:xfrm>
            <a:off x="457200" y="1005840"/>
            <a:ext cx="4572000" cy="3474720"/>
          </a:xfrm>
          <a:prstGeom prst="rect">
            <a:avLst/>
          </a:prstGeom>
          <a:solidFill>
            <a:srgbClr val="1E293B"/>
          </a:solidFill>
          <a:ln/>
          <a:effectLst>
            <a:outerShdw sx="100000" sy="100000" kx="0" ky="0" algn="bl" rotWithShape="0" blurRad="101600" dist="38100" dir="8100000">
              <a:srgbClr val="000000">
                <a:alpha val="12000"/>
              </a:srgbClr>
            </a:outerShdw>
          </a:effectLst>
        </p:spPr>
      </p:sp>
      <p:sp>
        <p:nvSpPr>
          <p:cNvPr id="8" name="Text 6"/>
          <p:cNvSpPr/>
          <p:nvPr/>
        </p:nvSpPr>
        <p:spPr>
          <a:xfrm>
            <a:off x="594360" y="1097280"/>
            <a:ext cx="4297680" cy="3291840"/>
          </a:xfrm>
          <a:prstGeom prst="rect">
            <a:avLst/>
          </a:prstGeom>
          <a:noFill/>
          <a:ln/>
        </p:spPr>
        <p:txBody>
          <a:bodyPr wrap="square" rtlCol="0" anchor="t"/>
          <a:lstStyle/>
          <a:p>
            <a:pPr indent="0" marL="0">
              <a:buNone/>
            </a:pPr>
            <a:r>
              <a:rPr lang="en-US" sz="1000" dirty="0">
                <a:solidFill>
                  <a:srgbClr val="32E0C4"/>
                </a:solidFill>
                <a:latin typeface="Consolas" pitchFamily="34" charset="0"/>
                <a:ea typeface="Consolas" pitchFamily="34" charset="-122"/>
                <a:cs typeface="Consolas" pitchFamily="34" charset="-120"/>
              </a:rPr>
              <a:t># 1. Initialiser un repo</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git init</a:t>
            </a:r>
            <a:endParaRPr lang="en-US" sz="1000" dirty="0"/>
          </a:p>
          <a:p>
            <a:pPr indent="0" marL="0">
              <a:buNone/>
            </a:pP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2. Voir l'état des fichiers</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git status</a:t>
            </a:r>
            <a:endParaRPr lang="en-US" sz="1000" dirty="0"/>
          </a:p>
          <a:p>
            <a:pPr indent="0" marL="0">
              <a:buNone/>
            </a:pP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3. Ajouter des fichiers au suivi</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git add .                  # tout ajouter</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git add Invention.java     # un fichier</a:t>
            </a:r>
            <a:endParaRPr lang="en-US" sz="1000" dirty="0"/>
          </a:p>
          <a:p>
            <a:pPr indent="0" marL="0">
              <a:buNone/>
            </a:pP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4. Enregistrer un snapshot</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git commit -m "feat: classe Invention"</a:t>
            </a:r>
            <a:endParaRPr lang="en-US" sz="1000" dirty="0"/>
          </a:p>
          <a:p>
            <a:pPr indent="0" marL="0">
              <a:buNone/>
            </a:pP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5. Connecter à GitHub</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git remote add origin https://github.com/...</a:t>
            </a:r>
            <a:endParaRPr lang="en-US" sz="1000" dirty="0"/>
          </a:p>
          <a:p>
            <a:pPr indent="0" marL="0">
              <a:buNone/>
            </a:pP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6. Pousser sur GitHub</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git push -u origin main</a:t>
            </a:r>
            <a:endParaRPr lang="en-US" sz="1000" dirty="0"/>
          </a:p>
        </p:txBody>
      </p:sp>
      <p:sp>
        <p:nvSpPr>
          <p:cNvPr id="9" name="Shape 7"/>
          <p:cNvSpPr/>
          <p:nvPr/>
        </p:nvSpPr>
        <p:spPr>
          <a:xfrm>
            <a:off x="5303520" y="1005840"/>
            <a:ext cx="3383280" cy="10972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0" name="Shape 8"/>
          <p:cNvSpPr/>
          <p:nvPr/>
        </p:nvSpPr>
        <p:spPr>
          <a:xfrm>
            <a:off x="5303520" y="1005840"/>
            <a:ext cx="54864" cy="1097280"/>
          </a:xfrm>
          <a:prstGeom prst="rect">
            <a:avLst/>
          </a:prstGeom>
          <a:solidFill>
            <a:srgbClr val="0D7377"/>
          </a:solidFill>
          <a:ln/>
        </p:spPr>
      </p:sp>
      <p:sp>
        <p:nvSpPr>
          <p:cNvPr id="11" name="Text 9"/>
          <p:cNvSpPr/>
          <p:nvPr/>
        </p:nvSpPr>
        <p:spPr>
          <a:xfrm>
            <a:off x="5486400" y="1097280"/>
            <a:ext cx="3108960" cy="320040"/>
          </a:xfrm>
          <a:prstGeom prst="rect">
            <a:avLst/>
          </a:prstGeom>
          <a:noFill/>
          <a:ln/>
        </p:spPr>
        <p:txBody>
          <a:bodyPr wrap="square" lIns="0" tIns="0" rIns="0" bIns="0" rtlCol="0" anchor="ctr"/>
          <a:lstStyle/>
          <a:p>
            <a:pPr indent="0" marL="0">
              <a:buNone/>
            </a:pPr>
            <a:r>
              <a:rPr lang="en-US" sz="1300" b="1" dirty="0">
                <a:solidFill>
                  <a:srgbClr val="0D7377"/>
                </a:solidFill>
                <a:latin typeface="Calibri" pitchFamily="34" charset="0"/>
                <a:ea typeface="Calibri" pitchFamily="34" charset="-122"/>
                <a:cs typeface="Calibri" pitchFamily="34" charset="-120"/>
              </a:rPr>
              <a:t>Workflow quotidien</a:t>
            </a:r>
            <a:endParaRPr lang="en-US" sz="1300" dirty="0"/>
          </a:p>
        </p:txBody>
      </p:sp>
      <p:sp>
        <p:nvSpPr>
          <p:cNvPr id="12" name="Text 10"/>
          <p:cNvSpPr/>
          <p:nvPr/>
        </p:nvSpPr>
        <p:spPr>
          <a:xfrm>
            <a:off x="5486400" y="1417320"/>
            <a:ext cx="3108960" cy="59436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1. Modifier du code</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2. git add .</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3. git commit -m 'message'</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4. git push</a:t>
            </a:r>
            <a:endParaRPr lang="en-US" sz="1000" dirty="0"/>
          </a:p>
        </p:txBody>
      </p:sp>
      <p:sp>
        <p:nvSpPr>
          <p:cNvPr id="13" name="Shape 11"/>
          <p:cNvSpPr/>
          <p:nvPr/>
        </p:nvSpPr>
        <p:spPr>
          <a:xfrm>
            <a:off x="5303520" y="2286000"/>
            <a:ext cx="3383280" cy="10972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4" name="Shape 12"/>
          <p:cNvSpPr/>
          <p:nvPr/>
        </p:nvSpPr>
        <p:spPr>
          <a:xfrm>
            <a:off x="5303520" y="2286000"/>
            <a:ext cx="54864" cy="1097280"/>
          </a:xfrm>
          <a:prstGeom prst="rect">
            <a:avLst/>
          </a:prstGeom>
          <a:solidFill>
            <a:srgbClr val="F59E0B"/>
          </a:solidFill>
          <a:ln/>
        </p:spPr>
      </p:sp>
      <p:sp>
        <p:nvSpPr>
          <p:cNvPr id="15" name="Text 13"/>
          <p:cNvSpPr/>
          <p:nvPr/>
        </p:nvSpPr>
        <p:spPr>
          <a:xfrm>
            <a:off x="5486400" y="2377440"/>
            <a:ext cx="3108960" cy="320040"/>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Messages de commit</a:t>
            </a:r>
            <a:endParaRPr lang="en-US" sz="1300" dirty="0"/>
          </a:p>
        </p:txBody>
      </p:sp>
      <p:sp>
        <p:nvSpPr>
          <p:cNvPr id="16" name="Text 14"/>
          <p:cNvSpPr/>
          <p:nvPr/>
        </p:nvSpPr>
        <p:spPr>
          <a:xfrm>
            <a:off x="5486400" y="2697480"/>
            <a:ext cx="3108960" cy="59436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feat: nouvelle fonctionnalité</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fix: correction de bug</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docs: documentation</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refactor: restructuration</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737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Text 1"/>
          <p:cNvSpPr/>
          <p:nvPr/>
        </p:nvSpPr>
        <p:spPr>
          <a:xfrm>
            <a:off x="548640" y="548640"/>
            <a:ext cx="3657600" cy="365760"/>
          </a:xfrm>
          <a:prstGeom prst="rect">
            <a:avLst/>
          </a:prstGeom>
          <a:noFill/>
          <a:ln/>
        </p:spPr>
        <p:txBody>
          <a:bodyPr wrap="square" rtlCol="0" anchor="ctr"/>
          <a:lstStyle/>
          <a:p>
            <a:pPr indent="0" marL="0">
              <a:buNone/>
            </a:pPr>
            <a:r>
              <a:rPr lang="en-US" sz="1200" b="1" spc="600" kern="0" dirty="0">
                <a:solidFill>
                  <a:srgbClr val="32E0C4"/>
                </a:solidFill>
                <a:latin typeface="Consolas" pitchFamily="34" charset="0"/>
                <a:ea typeface="Consolas" pitchFamily="34" charset="-122"/>
                <a:cs typeface="Consolas" pitchFamily="34" charset="-120"/>
              </a:rPr>
              <a:t>MODULE 7</a:t>
            </a:r>
            <a:endParaRPr lang="en-US" sz="1200" dirty="0"/>
          </a:p>
        </p:txBody>
      </p:sp>
      <p:pic>
        <p:nvPicPr>
          <p:cNvPr id="4" name="Image 0" descr="preencoded.png">    </p:cNvPr>
          <p:cNvPicPr>
            <a:picLocks noChangeAspect="1"/>
          </p:cNvPicPr>
          <p:nvPr/>
        </p:nvPicPr>
        <p:blipFill>
          <a:blip r:embed="rId1"/>
          <a:stretch>
            <a:fillRect/>
          </a:stretch>
        </p:blipFill>
        <p:spPr>
          <a:xfrm>
            <a:off x="7772400" y="731520"/>
            <a:ext cx="914400" cy="914400"/>
          </a:xfrm>
          <a:prstGeom prst="rect">
            <a:avLst/>
          </a:prstGeom>
        </p:spPr>
      </p:pic>
      <p:sp>
        <p:nvSpPr>
          <p:cNvPr id="5" name="Text 2"/>
          <p:cNvSpPr/>
          <p:nvPr/>
        </p:nvSpPr>
        <p:spPr>
          <a:xfrm>
            <a:off x="548640" y="1371600"/>
            <a:ext cx="6858000" cy="1097280"/>
          </a:xfrm>
          <a:prstGeom prst="rect">
            <a:avLst/>
          </a:prstGeom>
          <a:noFill/>
          <a:ln/>
        </p:spPr>
        <p:txBody>
          <a:bodyPr wrap="square"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Sécurité et Robustesse</a:t>
            </a:r>
            <a:endParaRPr lang="en-US" sz="3600" dirty="0"/>
          </a:p>
        </p:txBody>
      </p:sp>
      <p:sp>
        <p:nvSpPr>
          <p:cNvPr id="6" name="Text 3"/>
          <p:cNvSpPr/>
          <p:nvPr/>
        </p:nvSpPr>
        <p:spPr>
          <a:xfrm>
            <a:off x="548640" y="2560320"/>
            <a:ext cx="6858000" cy="640080"/>
          </a:xfrm>
          <a:prstGeom prst="rect">
            <a:avLst/>
          </a:prstGeom>
          <a:noFill/>
          <a:ln/>
        </p:spPr>
        <p:txBody>
          <a:bodyPr wrap="square" rtlCol="0" anchor="ctr"/>
          <a:lstStyle/>
          <a:p>
            <a:pPr indent="0" marL="0">
              <a:buNone/>
            </a:pPr>
            <a:r>
              <a:rPr lang="en-US" sz="1600" dirty="0">
                <a:solidFill>
                  <a:srgbClr val="E8F8F5"/>
                </a:solidFill>
                <a:latin typeface="Calibri" pitchFamily="34" charset="0"/>
                <a:ea typeface="Calibri" pitchFamily="34" charset="-122"/>
                <a:cs typeface="Calibri" pitchFamily="34" charset="-120"/>
              </a:rPr>
              <a:t>try/catch/finally · Validation · NullPointerException</a:t>
            </a:r>
            <a:endParaRPr lang="en-US" sz="1600" dirty="0"/>
          </a:p>
        </p:txBody>
      </p:sp>
      <p:sp>
        <p:nvSpPr>
          <p:cNvPr id="7" name="Shape 4"/>
          <p:cNvSpPr/>
          <p:nvPr/>
        </p:nvSpPr>
        <p:spPr>
          <a:xfrm>
            <a:off x="0" y="4754880"/>
            <a:ext cx="9144000" cy="388620"/>
          </a:xfrm>
          <a:prstGeom prst="rect">
            <a:avLst/>
          </a:prstGeom>
          <a:solidFill>
            <a:srgbClr val="0F172A"/>
          </a:solidFill>
          <a:ln/>
        </p:spPr>
      </p:sp>
      <p:sp>
        <p:nvSpPr>
          <p:cNvPr id="8" name="Text 5"/>
          <p:cNvSpPr/>
          <p:nvPr/>
        </p:nvSpPr>
        <p:spPr>
          <a:xfrm>
            <a:off x="548640" y="4754880"/>
            <a:ext cx="7315200" cy="3886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M07 — Sécurité et Robustesse</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Shape 1"/>
          <p:cNvSpPr/>
          <p:nvPr/>
        </p:nvSpPr>
        <p:spPr>
          <a:xfrm>
            <a:off x="0" y="54864"/>
            <a:ext cx="9144000" cy="685800"/>
          </a:xfrm>
          <a:prstGeom prst="rect">
            <a:avLst/>
          </a:prstGeom>
          <a:solidFill>
            <a:srgbClr val="F1F5F9"/>
          </a:solidFill>
          <a:ln/>
        </p:spPr>
      </p:sp>
      <p:sp>
        <p:nvSpPr>
          <p:cNvPr id="4" name="Text 2"/>
          <p:cNvSpPr/>
          <p:nvPr/>
        </p:nvSpPr>
        <p:spPr>
          <a:xfrm>
            <a:off x="548640" y="109728"/>
            <a:ext cx="7315200" cy="594360"/>
          </a:xfrm>
          <a:prstGeom prst="rect">
            <a:avLst/>
          </a:prstGeom>
          <a:noFill/>
          <a:ln/>
        </p:spPr>
        <p:txBody>
          <a:bodyPr wrap="square" lIns="0" tIns="0" rIns="0" bIns="0" rtlCol="0" anchor="ctr"/>
          <a:lstStyle/>
          <a:p>
            <a:pPr indent="0" marL="0">
              <a:buNone/>
            </a:pPr>
            <a:r>
              <a:rPr lang="en-US" sz="2200" b="1" dirty="0">
                <a:solidFill>
                  <a:srgbClr val="1E293B"/>
                </a:solidFill>
                <a:latin typeface="Trebuchet MS" pitchFamily="34" charset="0"/>
                <a:ea typeface="Trebuchet MS" pitchFamily="34" charset="-122"/>
                <a:cs typeface="Trebuchet MS" pitchFamily="34" charset="-120"/>
              </a:rPr>
              <a:t>try / catch / finally</a:t>
            </a:r>
            <a:endParaRPr lang="en-US" sz="2200" dirty="0"/>
          </a:p>
        </p:txBody>
      </p:sp>
      <p:sp>
        <p:nvSpPr>
          <p:cNvPr id="5" name="Shape 3"/>
          <p:cNvSpPr/>
          <p:nvPr/>
        </p:nvSpPr>
        <p:spPr>
          <a:xfrm>
            <a:off x="0" y="4754880"/>
            <a:ext cx="9144000" cy="388620"/>
          </a:xfrm>
          <a:prstGeom prst="rect">
            <a:avLst/>
          </a:prstGeom>
          <a:solidFill>
            <a:srgbClr val="0F172A"/>
          </a:solidFill>
          <a:ln/>
        </p:spPr>
      </p:sp>
      <p:sp>
        <p:nvSpPr>
          <p:cNvPr id="6" name="Text 4"/>
          <p:cNvSpPr/>
          <p:nvPr/>
        </p:nvSpPr>
        <p:spPr>
          <a:xfrm>
            <a:off x="548640" y="4754880"/>
            <a:ext cx="7315200" cy="3886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M07 — Sécurité</a:t>
            </a:r>
            <a:endParaRPr lang="en-US" sz="900" dirty="0"/>
          </a:p>
        </p:txBody>
      </p:sp>
      <p:sp>
        <p:nvSpPr>
          <p:cNvPr id="7" name="Shape 5"/>
          <p:cNvSpPr/>
          <p:nvPr/>
        </p:nvSpPr>
        <p:spPr>
          <a:xfrm>
            <a:off x="457200" y="1005840"/>
            <a:ext cx="4846320" cy="3200400"/>
          </a:xfrm>
          <a:prstGeom prst="rect">
            <a:avLst/>
          </a:prstGeom>
          <a:solidFill>
            <a:srgbClr val="1E293B"/>
          </a:solidFill>
          <a:ln/>
          <a:effectLst>
            <a:outerShdw sx="100000" sy="100000" kx="0" ky="0" algn="bl" rotWithShape="0" blurRad="101600" dist="38100" dir="8100000">
              <a:srgbClr val="000000">
                <a:alpha val="12000"/>
              </a:srgbClr>
            </a:outerShdw>
          </a:effectLst>
        </p:spPr>
      </p:sp>
      <p:sp>
        <p:nvSpPr>
          <p:cNvPr id="8" name="Text 6"/>
          <p:cNvSpPr/>
          <p:nvPr/>
        </p:nvSpPr>
        <p:spPr>
          <a:xfrm>
            <a:off x="594360" y="1097280"/>
            <a:ext cx="4572000" cy="3017520"/>
          </a:xfrm>
          <a:prstGeom prst="rect">
            <a:avLst/>
          </a:prstGeom>
          <a:noFill/>
          <a:ln/>
        </p:spPr>
        <p:txBody>
          <a:bodyPr wrap="square" rtlCol="0" anchor="t"/>
          <a:lstStyle/>
          <a:p>
            <a:pPr indent="0" marL="0">
              <a:buNone/>
            </a:pPr>
            <a:r>
              <a:rPr lang="en-US" sz="1000" dirty="0">
                <a:solidFill>
                  <a:srgbClr val="32E0C4"/>
                </a:solidFill>
                <a:latin typeface="Consolas" pitchFamily="34" charset="0"/>
                <a:ea typeface="Consolas" pitchFamily="34" charset="-122"/>
                <a:cs typeface="Consolas" pitchFamily="34" charset="-120"/>
              </a:rPr>
              <a:t>try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System.out.print("Nombre :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int n = Integer.parseInt(sc.nextLine());</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System.out.println("Double : " + (n * 2));</a:t>
            </a:r>
            <a:endParaRPr lang="en-US" sz="1000" dirty="0"/>
          </a:p>
          <a:p>
            <a:pPr indent="0" marL="0">
              <a:buNone/>
            </a:pP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catch (NumberFormatException e)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System.out.println("Ce n'est pas un nombre !");</a:t>
            </a:r>
            <a:endParaRPr lang="en-US" sz="1000" dirty="0"/>
          </a:p>
          <a:p>
            <a:pPr indent="0" marL="0">
              <a:buNone/>
            </a:pP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catch (Exception e)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System.out.println("Erreur : " + e.getMessage());</a:t>
            </a:r>
            <a:endParaRPr lang="en-US" sz="1000" dirty="0"/>
          </a:p>
          <a:p>
            <a:pPr indent="0" marL="0">
              <a:buNone/>
            </a:pP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finally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System.out.println("(fin du traitement)");</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a:t>
            </a:r>
            <a:endParaRPr lang="en-US" sz="1000" dirty="0"/>
          </a:p>
        </p:txBody>
      </p:sp>
      <p:sp>
        <p:nvSpPr>
          <p:cNvPr id="9" name="Shape 7"/>
          <p:cNvSpPr/>
          <p:nvPr/>
        </p:nvSpPr>
        <p:spPr>
          <a:xfrm>
            <a:off x="5577840" y="1005840"/>
            <a:ext cx="3108960" cy="9144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0" name="Shape 8"/>
          <p:cNvSpPr/>
          <p:nvPr/>
        </p:nvSpPr>
        <p:spPr>
          <a:xfrm>
            <a:off x="5577840" y="1005840"/>
            <a:ext cx="54864" cy="914400"/>
          </a:xfrm>
          <a:prstGeom prst="rect">
            <a:avLst/>
          </a:prstGeom>
          <a:solidFill>
            <a:srgbClr val="0D7377"/>
          </a:solidFill>
          <a:ln/>
        </p:spPr>
      </p:sp>
      <p:sp>
        <p:nvSpPr>
          <p:cNvPr id="11" name="Text 9"/>
          <p:cNvSpPr/>
          <p:nvPr/>
        </p:nvSpPr>
        <p:spPr>
          <a:xfrm>
            <a:off x="5760720" y="1097280"/>
            <a:ext cx="2834640" cy="320040"/>
          </a:xfrm>
          <a:prstGeom prst="rect">
            <a:avLst/>
          </a:prstGeom>
          <a:noFill/>
          <a:ln/>
        </p:spPr>
        <p:txBody>
          <a:bodyPr wrap="square" lIns="0" tIns="0" rIns="0" bIns="0" rtlCol="0" anchor="ctr"/>
          <a:lstStyle/>
          <a:p>
            <a:pPr indent="0" marL="0">
              <a:buNone/>
            </a:pPr>
            <a:r>
              <a:rPr lang="en-US" sz="1300" b="1" dirty="0">
                <a:solidFill>
                  <a:srgbClr val="0D7377"/>
                </a:solidFill>
                <a:latin typeface="Calibri" pitchFamily="34" charset="0"/>
                <a:ea typeface="Calibri" pitchFamily="34" charset="-122"/>
                <a:cs typeface="Calibri" pitchFamily="34" charset="-120"/>
              </a:rPr>
              <a:t>try</a:t>
            </a:r>
            <a:endParaRPr lang="en-US" sz="1300" dirty="0"/>
          </a:p>
        </p:txBody>
      </p:sp>
      <p:sp>
        <p:nvSpPr>
          <p:cNvPr id="12" name="Text 10"/>
          <p:cNvSpPr/>
          <p:nvPr/>
        </p:nvSpPr>
        <p:spPr>
          <a:xfrm>
            <a:off x="5760720" y="1417320"/>
            <a:ext cx="2834640" cy="41148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Le code qui PEUT planter.</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Si erreur → saute au catch.</a:t>
            </a:r>
            <a:endParaRPr lang="en-US" sz="1000" dirty="0"/>
          </a:p>
        </p:txBody>
      </p:sp>
      <p:sp>
        <p:nvSpPr>
          <p:cNvPr id="13" name="Shape 11"/>
          <p:cNvSpPr/>
          <p:nvPr/>
        </p:nvSpPr>
        <p:spPr>
          <a:xfrm>
            <a:off x="5577840" y="2103120"/>
            <a:ext cx="3108960" cy="9144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4" name="Shape 12"/>
          <p:cNvSpPr/>
          <p:nvPr/>
        </p:nvSpPr>
        <p:spPr>
          <a:xfrm>
            <a:off x="5577840" y="2103120"/>
            <a:ext cx="54864" cy="914400"/>
          </a:xfrm>
          <a:prstGeom prst="rect">
            <a:avLst/>
          </a:prstGeom>
          <a:solidFill>
            <a:srgbClr val="EF4444"/>
          </a:solidFill>
          <a:ln/>
        </p:spPr>
      </p:sp>
      <p:sp>
        <p:nvSpPr>
          <p:cNvPr id="15" name="Text 13"/>
          <p:cNvSpPr/>
          <p:nvPr/>
        </p:nvSpPr>
        <p:spPr>
          <a:xfrm>
            <a:off x="5760720" y="2194560"/>
            <a:ext cx="2834640" cy="320040"/>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catch</a:t>
            </a:r>
            <a:endParaRPr lang="en-US" sz="1300" dirty="0"/>
          </a:p>
        </p:txBody>
      </p:sp>
      <p:sp>
        <p:nvSpPr>
          <p:cNvPr id="16" name="Text 14"/>
          <p:cNvSpPr/>
          <p:nvPr/>
        </p:nvSpPr>
        <p:spPr>
          <a:xfrm>
            <a:off x="5760720" y="2514600"/>
            <a:ext cx="2834640" cy="41148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Attrape l'erreur.</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Plusieurs catch possibles</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(du plus spécifique au général).</a:t>
            </a:r>
            <a:endParaRPr lang="en-US" sz="1000" dirty="0"/>
          </a:p>
        </p:txBody>
      </p:sp>
      <p:sp>
        <p:nvSpPr>
          <p:cNvPr id="17" name="Shape 15"/>
          <p:cNvSpPr/>
          <p:nvPr/>
        </p:nvSpPr>
        <p:spPr>
          <a:xfrm>
            <a:off x="5577840" y="3200400"/>
            <a:ext cx="3108960" cy="9144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8" name="Shape 16"/>
          <p:cNvSpPr/>
          <p:nvPr/>
        </p:nvSpPr>
        <p:spPr>
          <a:xfrm>
            <a:off x="5577840" y="3200400"/>
            <a:ext cx="54864" cy="914400"/>
          </a:xfrm>
          <a:prstGeom prst="rect">
            <a:avLst/>
          </a:prstGeom>
          <a:solidFill>
            <a:srgbClr val="F59E0B"/>
          </a:solidFill>
          <a:ln/>
        </p:spPr>
      </p:sp>
      <p:sp>
        <p:nvSpPr>
          <p:cNvPr id="19" name="Text 17"/>
          <p:cNvSpPr/>
          <p:nvPr/>
        </p:nvSpPr>
        <p:spPr>
          <a:xfrm>
            <a:off x="5760720" y="3291840"/>
            <a:ext cx="2834640" cy="320040"/>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finally</a:t>
            </a:r>
            <a:endParaRPr lang="en-US" sz="1300" dirty="0"/>
          </a:p>
        </p:txBody>
      </p:sp>
      <p:sp>
        <p:nvSpPr>
          <p:cNvPr id="20" name="Text 18"/>
          <p:cNvSpPr/>
          <p:nvPr/>
        </p:nvSpPr>
        <p:spPr>
          <a:xfrm>
            <a:off x="5760720" y="3611880"/>
            <a:ext cx="2834640" cy="41148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S'exécute TOUJOURS,</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erreur ou pas.</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 fermer les ressources.</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Shape 1"/>
          <p:cNvSpPr/>
          <p:nvPr/>
        </p:nvSpPr>
        <p:spPr>
          <a:xfrm>
            <a:off x="0" y="54864"/>
            <a:ext cx="9144000" cy="685800"/>
          </a:xfrm>
          <a:prstGeom prst="rect">
            <a:avLst/>
          </a:prstGeom>
          <a:solidFill>
            <a:srgbClr val="F1F5F9"/>
          </a:solidFill>
          <a:ln/>
        </p:spPr>
      </p:sp>
      <p:sp>
        <p:nvSpPr>
          <p:cNvPr id="4" name="Text 2"/>
          <p:cNvSpPr/>
          <p:nvPr/>
        </p:nvSpPr>
        <p:spPr>
          <a:xfrm>
            <a:off x="548640" y="109728"/>
            <a:ext cx="7315200" cy="594360"/>
          </a:xfrm>
          <a:prstGeom prst="rect">
            <a:avLst/>
          </a:prstGeom>
          <a:noFill/>
          <a:ln/>
        </p:spPr>
        <p:txBody>
          <a:bodyPr wrap="square" lIns="0" tIns="0" rIns="0" bIns="0" rtlCol="0" anchor="ctr"/>
          <a:lstStyle/>
          <a:p>
            <a:pPr indent="0" marL="0">
              <a:buNone/>
            </a:pPr>
            <a:r>
              <a:rPr lang="en-US" sz="2200" b="1" dirty="0">
                <a:solidFill>
                  <a:srgbClr val="1E293B"/>
                </a:solidFill>
                <a:latin typeface="Trebuchet MS" pitchFamily="34" charset="0"/>
                <a:ea typeface="Trebuchet MS" pitchFamily="34" charset="-122"/>
                <a:cs typeface="Trebuchet MS" pitchFamily="34" charset="-120"/>
              </a:rPr>
              <a:t>Validation des entrées — Ne JAMAIS faire confiance</a:t>
            </a:r>
            <a:endParaRPr lang="en-US" sz="2200" dirty="0"/>
          </a:p>
        </p:txBody>
      </p:sp>
      <p:sp>
        <p:nvSpPr>
          <p:cNvPr id="5" name="Shape 3"/>
          <p:cNvSpPr/>
          <p:nvPr/>
        </p:nvSpPr>
        <p:spPr>
          <a:xfrm>
            <a:off x="0" y="4754880"/>
            <a:ext cx="9144000" cy="388620"/>
          </a:xfrm>
          <a:prstGeom prst="rect">
            <a:avLst/>
          </a:prstGeom>
          <a:solidFill>
            <a:srgbClr val="0F172A"/>
          </a:solidFill>
          <a:ln/>
        </p:spPr>
      </p:sp>
      <p:sp>
        <p:nvSpPr>
          <p:cNvPr id="6" name="Text 4"/>
          <p:cNvSpPr/>
          <p:nvPr/>
        </p:nvSpPr>
        <p:spPr>
          <a:xfrm>
            <a:off x="548640" y="4754880"/>
            <a:ext cx="7315200" cy="3886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M07 — Sécurité</a:t>
            </a:r>
            <a:endParaRPr lang="en-US" sz="900" dirty="0"/>
          </a:p>
        </p:txBody>
      </p:sp>
      <p:sp>
        <p:nvSpPr>
          <p:cNvPr id="7" name="Shape 5"/>
          <p:cNvSpPr/>
          <p:nvPr/>
        </p:nvSpPr>
        <p:spPr>
          <a:xfrm>
            <a:off x="457200" y="1005840"/>
            <a:ext cx="4572000" cy="2743200"/>
          </a:xfrm>
          <a:prstGeom prst="rect">
            <a:avLst/>
          </a:prstGeom>
          <a:solidFill>
            <a:srgbClr val="1E293B"/>
          </a:solidFill>
          <a:ln/>
          <a:effectLst>
            <a:outerShdw sx="100000" sy="100000" kx="0" ky="0" algn="bl" rotWithShape="0" blurRad="101600" dist="38100" dir="8100000">
              <a:srgbClr val="000000">
                <a:alpha val="12000"/>
              </a:srgbClr>
            </a:outerShdw>
          </a:effectLst>
        </p:spPr>
      </p:sp>
      <p:sp>
        <p:nvSpPr>
          <p:cNvPr id="8" name="Text 6"/>
          <p:cNvSpPr/>
          <p:nvPr/>
        </p:nvSpPr>
        <p:spPr>
          <a:xfrm>
            <a:off x="594360" y="1097280"/>
            <a:ext cx="4297680" cy="2560320"/>
          </a:xfrm>
          <a:prstGeom prst="rect">
            <a:avLst/>
          </a:prstGeom>
          <a:noFill/>
          <a:ln/>
        </p:spPr>
        <p:txBody>
          <a:bodyPr wrap="square" rtlCol="0" anchor="t"/>
          <a:lstStyle/>
          <a:p>
            <a:pPr indent="0" marL="0">
              <a:buNone/>
            </a:pPr>
            <a:r>
              <a:rPr lang="en-US" sz="1000" dirty="0">
                <a:solidFill>
                  <a:srgbClr val="32E0C4"/>
                </a:solidFill>
                <a:latin typeface="Consolas" pitchFamily="34" charset="0"/>
                <a:ea typeface="Consolas" pitchFamily="34" charset="-122"/>
                <a:cs typeface="Consolas" pitchFamily="34" charset="-120"/>
              </a:rPr>
              <a:t>// Boucle de validation robuste</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int age = -1;</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while (age &lt; 0 || age &gt; 150)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System.out.print("Âge (0-150) :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try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age = Integer.parseInt(sc.nextLine().trim());</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if (age &lt; 0 || age &gt; 150)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System.out.println("Entre 0 et 150 svp");</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 catch (NumberFormatException e)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System.out.println("Entrez un nombre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a:t>
            </a:r>
            <a:endParaRPr lang="en-US" sz="1000" dirty="0"/>
          </a:p>
        </p:txBody>
      </p:sp>
      <p:sp>
        <p:nvSpPr>
          <p:cNvPr id="9" name="Shape 7"/>
          <p:cNvSpPr/>
          <p:nvPr/>
        </p:nvSpPr>
        <p:spPr>
          <a:xfrm>
            <a:off x="5303520" y="1005840"/>
            <a:ext cx="3383280" cy="11887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0" name="Shape 8"/>
          <p:cNvSpPr/>
          <p:nvPr/>
        </p:nvSpPr>
        <p:spPr>
          <a:xfrm>
            <a:off x="5303520" y="1005840"/>
            <a:ext cx="54864" cy="1188720"/>
          </a:xfrm>
          <a:prstGeom prst="rect">
            <a:avLst/>
          </a:prstGeom>
          <a:solidFill>
            <a:srgbClr val="0D7377"/>
          </a:solidFill>
          <a:ln/>
        </p:spPr>
      </p:sp>
      <p:sp>
        <p:nvSpPr>
          <p:cNvPr id="11" name="Text 9"/>
          <p:cNvSpPr/>
          <p:nvPr/>
        </p:nvSpPr>
        <p:spPr>
          <a:xfrm>
            <a:off x="5486400" y="1097280"/>
            <a:ext cx="3108960" cy="320040"/>
          </a:xfrm>
          <a:prstGeom prst="rect">
            <a:avLst/>
          </a:prstGeom>
          <a:noFill/>
          <a:ln/>
        </p:spPr>
        <p:txBody>
          <a:bodyPr wrap="square" lIns="0" tIns="0" rIns="0" bIns="0" rtlCol="0" anchor="ctr"/>
          <a:lstStyle/>
          <a:p>
            <a:pPr indent="0" marL="0">
              <a:buNone/>
            </a:pPr>
            <a:r>
              <a:rPr lang="en-US" sz="1300" b="1" dirty="0">
                <a:solidFill>
                  <a:srgbClr val="0D7377"/>
                </a:solidFill>
                <a:latin typeface="Calibri" pitchFamily="34" charset="0"/>
                <a:ea typeface="Calibri" pitchFamily="34" charset="-122"/>
                <a:cs typeface="Calibri" pitchFamily="34" charset="-120"/>
              </a:rPr>
              <a:t>3 niveaux de validation</a:t>
            </a:r>
            <a:endParaRPr lang="en-US" sz="1300" dirty="0"/>
          </a:p>
        </p:txBody>
      </p:sp>
      <p:sp>
        <p:nvSpPr>
          <p:cNvPr id="12" name="Text 10"/>
          <p:cNvSpPr/>
          <p:nvPr/>
        </p:nvSpPr>
        <p:spPr>
          <a:xfrm>
            <a:off x="5486400" y="1417320"/>
            <a:ext cx="3108960" cy="68580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1. Pas null / pas vide</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2. Bon type (nombre?)</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3. Valeur réaliste (bornes)</a:t>
            </a:r>
            <a:endParaRPr lang="en-US" sz="1000" dirty="0"/>
          </a:p>
        </p:txBody>
      </p:sp>
      <p:sp>
        <p:nvSpPr>
          <p:cNvPr id="13" name="Shape 11"/>
          <p:cNvSpPr/>
          <p:nvPr/>
        </p:nvSpPr>
        <p:spPr>
          <a:xfrm>
            <a:off x="5303520" y="2377440"/>
            <a:ext cx="3383280" cy="9144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4" name="Shape 12"/>
          <p:cNvSpPr/>
          <p:nvPr/>
        </p:nvSpPr>
        <p:spPr>
          <a:xfrm>
            <a:off x="5303520" y="2377440"/>
            <a:ext cx="54864" cy="914400"/>
          </a:xfrm>
          <a:prstGeom prst="rect">
            <a:avLst/>
          </a:prstGeom>
          <a:solidFill>
            <a:srgbClr val="EF4444"/>
          </a:solidFill>
          <a:ln/>
        </p:spPr>
      </p:sp>
      <p:sp>
        <p:nvSpPr>
          <p:cNvPr id="15" name="Text 13"/>
          <p:cNvSpPr/>
          <p:nvPr/>
        </p:nvSpPr>
        <p:spPr>
          <a:xfrm>
            <a:off x="5486400" y="2468880"/>
            <a:ext cx="3108960" cy="320040"/>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NullPointerException</a:t>
            </a:r>
            <a:endParaRPr lang="en-US" sz="1300" dirty="0"/>
          </a:p>
        </p:txBody>
      </p:sp>
      <p:sp>
        <p:nvSpPr>
          <p:cNvPr id="16" name="Text 14"/>
          <p:cNvSpPr/>
          <p:nvPr/>
        </p:nvSpPr>
        <p:spPr>
          <a:xfrm>
            <a:off x="5486400" y="2788920"/>
            <a:ext cx="3108960" cy="41148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L'erreur #1 en Java.</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Toujours vérifier != null</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AVANT d'appeler une méthode.</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737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Text 1"/>
          <p:cNvSpPr/>
          <p:nvPr/>
        </p:nvSpPr>
        <p:spPr>
          <a:xfrm>
            <a:off x="548640" y="548640"/>
            <a:ext cx="3657600" cy="365760"/>
          </a:xfrm>
          <a:prstGeom prst="rect">
            <a:avLst/>
          </a:prstGeom>
          <a:noFill/>
          <a:ln/>
        </p:spPr>
        <p:txBody>
          <a:bodyPr wrap="square" rtlCol="0" anchor="ctr"/>
          <a:lstStyle/>
          <a:p>
            <a:pPr indent="0" marL="0">
              <a:buNone/>
            </a:pPr>
            <a:r>
              <a:rPr lang="en-US" sz="1200" b="1" spc="600" kern="0" dirty="0">
                <a:solidFill>
                  <a:srgbClr val="32E0C4"/>
                </a:solidFill>
                <a:latin typeface="Consolas" pitchFamily="34" charset="0"/>
                <a:ea typeface="Consolas" pitchFamily="34" charset="-122"/>
                <a:cs typeface="Consolas" pitchFamily="34" charset="-120"/>
              </a:rPr>
              <a:t>MODULE 8</a:t>
            </a:r>
            <a:endParaRPr lang="en-US" sz="1200" dirty="0"/>
          </a:p>
        </p:txBody>
      </p:sp>
      <p:pic>
        <p:nvPicPr>
          <p:cNvPr id="4" name="Image 0" descr="preencoded.png">    </p:cNvPr>
          <p:cNvPicPr>
            <a:picLocks noChangeAspect="1"/>
          </p:cNvPicPr>
          <p:nvPr/>
        </p:nvPicPr>
        <p:blipFill>
          <a:blip r:embed="rId1"/>
          <a:stretch>
            <a:fillRect/>
          </a:stretch>
        </p:blipFill>
        <p:spPr>
          <a:xfrm>
            <a:off x="7772400" y="731520"/>
            <a:ext cx="914400" cy="914400"/>
          </a:xfrm>
          <a:prstGeom prst="rect">
            <a:avLst/>
          </a:prstGeom>
        </p:spPr>
      </p:pic>
      <p:sp>
        <p:nvSpPr>
          <p:cNvPr id="5" name="Text 2"/>
          <p:cNvSpPr/>
          <p:nvPr/>
        </p:nvSpPr>
        <p:spPr>
          <a:xfrm>
            <a:off x="548640" y="1371600"/>
            <a:ext cx="6858000" cy="1097280"/>
          </a:xfrm>
          <a:prstGeom prst="rect">
            <a:avLst/>
          </a:prstGeom>
          <a:noFill/>
          <a:ln/>
        </p:spPr>
        <p:txBody>
          <a:bodyPr wrap="square"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Build &amp; Deploy</a:t>
            </a:r>
            <a:endParaRPr lang="en-US" sz="3600" dirty="0"/>
          </a:p>
        </p:txBody>
      </p:sp>
      <p:sp>
        <p:nvSpPr>
          <p:cNvPr id="6" name="Text 3"/>
          <p:cNvSpPr/>
          <p:nvPr/>
        </p:nvSpPr>
        <p:spPr>
          <a:xfrm>
            <a:off x="548640" y="2560320"/>
            <a:ext cx="6858000" cy="640080"/>
          </a:xfrm>
          <a:prstGeom prst="rect">
            <a:avLst/>
          </a:prstGeom>
          <a:noFill/>
          <a:ln/>
        </p:spPr>
        <p:txBody>
          <a:bodyPr wrap="square" rtlCol="0" anchor="ctr"/>
          <a:lstStyle/>
          <a:p>
            <a:pPr indent="0" marL="0">
              <a:buNone/>
            </a:pPr>
            <a:r>
              <a:rPr lang="en-US" sz="1600" dirty="0">
                <a:solidFill>
                  <a:srgbClr val="E8F8F5"/>
                </a:solidFill>
                <a:latin typeface="Calibri" pitchFamily="34" charset="0"/>
                <a:ea typeface="Calibri" pitchFamily="34" charset="-122"/>
                <a:cs typeface="Calibri" pitchFamily="34" charset="-120"/>
              </a:rPr>
              <a:t>Compilation · JAR · GitHub Releases · Versioning</a:t>
            </a:r>
            <a:endParaRPr lang="en-US" sz="1600" dirty="0"/>
          </a:p>
        </p:txBody>
      </p:sp>
      <p:sp>
        <p:nvSpPr>
          <p:cNvPr id="7" name="Shape 4"/>
          <p:cNvSpPr/>
          <p:nvPr/>
        </p:nvSpPr>
        <p:spPr>
          <a:xfrm>
            <a:off x="0" y="4754880"/>
            <a:ext cx="9144000" cy="388620"/>
          </a:xfrm>
          <a:prstGeom prst="rect">
            <a:avLst/>
          </a:prstGeom>
          <a:solidFill>
            <a:srgbClr val="0F172A"/>
          </a:solidFill>
          <a:ln/>
        </p:spPr>
      </p:sp>
      <p:sp>
        <p:nvSpPr>
          <p:cNvPr id="8" name="Text 5"/>
          <p:cNvSpPr/>
          <p:nvPr/>
        </p:nvSpPr>
        <p:spPr>
          <a:xfrm>
            <a:off x="548640" y="4754880"/>
            <a:ext cx="7315200" cy="3886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M08 — Build &amp; Deploy</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Shape 1"/>
          <p:cNvSpPr/>
          <p:nvPr/>
        </p:nvSpPr>
        <p:spPr>
          <a:xfrm>
            <a:off x="0" y="54864"/>
            <a:ext cx="9144000" cy="685800"/>
          </a:xfrm>
          <a:prstGeom prst="rect">
            <a:avLst/>
          </a:prstGeom>
          <a:solidFill>
            <a:srgbClr val="F1F5F9"/>
          </a:solidFill>
          <a:ln/>
        </p:spPr>
      </p:sp>
      <p:sp>
        <p:nvSpPr>
          <p:cNvPr id="4" name="Text 2"/>
          <p:cNvSpPr/>
          <p:nvPr/>
        </p:nvSpPr>
        <p:spPr>
          <a:xfrm>
            <a:off x="548640" y="109728"/>
            <a:ext cx="7315200" cy="594360"/>
          </a:xfrm>
          <a:prstGeom prst="rect">
            <a:avLst/>
          </a:prstGeom>
          <a:noFill/>
          <a:ln/>
        </p:spPr>
        <p:txBody>
          <a:bodyPr wrap="square" lIns="0" tIns="0" rIns="0" bIns="0" rtlCol="0" anchor="ctr"/>
          <a:lstStyle/>
          <a:p>
            <a:pPr indent="0" marL="0">
              <a:buNone/>
            </a:pPr>
            <a:r>
              <a:rPr lang="en-US" sz="2200" b="1" dirty="0">
                <a:solidFill>
                  <a:srgbClr val="1E293B"/>
                </a:solidFill>
                <a:latin typeface="Trebuchet MS" pitchFamily="34" charset="0"/>
                <a:ea typeface="Trebuchet MS" pitchFamily="34" charset="-122"/>
                <a:cs typeface="Trebuchet MS" pitchFamily="34" charset="-120"/>
              </a:rPr>
              <a:t>Du code au programme exécutable</a:t>
            </a:r>
            <a:endParaRPr lang="en-US" sz="2200" dirty="0"/>
          </a:p>
        </p:txBody>
      </p:sp>
      <p:sp>
        <p:nvSpPr>
          <p:cNvPr id="5" name="Shape 3"/>
          <p:cNvSpPr/>
          <p:nvPr/>
        </p:nvSpPr>
        <p:spPr>
          <a:xfrm>
            <a:off x="0" y="4754880"/>
            <a:ext cx="9144000" cy="388620"/>
          </a:xfrm>
          <a:prstGeom prst="rect">
            <a:avLst/>
          </a:prstGeom>
          <a:solidFill>
            <a:srgbClr val="0F172A"/>
          </a:solidFill>
          <a:ln/>
        </p:spPr>
      </p:sp>
      <p:sp>
        <p:nvSpPr>
          <p:cNvPr id="6" name="Text 4"/>
          <p:cNvSpPr/>
          <p:nvPr/>
        </p:nvSpPr>
        <p:spPr>
          <a:xfrm>
            <a:off x="548640" y="4754880"/>
            <a:ext cx="7315200" cy="3886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M08 — Build &amp; Deploy</a:t>
            </a:r>
            <a:endParaRPr lang="en-US" sz="900" dirty="0"/>
          </a:p>
        </p:txBody>
      </p:sp>
      <p:sp>
        <p:nvSpPr>
          <p:cNvPr id="7" name="Shape 5"/>
          <p:cNvSpPr/>
          <p:nvPr/>
        </p:nvSpPr>
        <p:spPr>
          <a:xfrm>
            <a:off x="365760" y="1188720"/>
            <a:ext cx="1371600" cy="914400"/>
          </a:xfrm>
          <a:prstGeom prst="rect">
            <a:avLst/>
          </a:prstGeom>
          <a:solidFill>
            <a:srgbClr val="14A3C7"/>
          </a:solidFill>
          <a:ln/>
          <a:effectLst>
            <a:outerShdw sx="100000" sy="100000" kx="0" ky="0" algn="bl" rotWithShape="0" blurRad="101600" dist="38100" dir="8100000">
              <a:srgbClr val="000000">
                <a:alpha val="12000"/>
              </a:srgbClr>
            </a:outerShdw>
          </a:effectLst>
        </p:spPr>
      </p:sp>
      <p:sp>
        <p:nvSpPr>
          <p:cNvPr id="8" name="Text 6"/>
          <p:cNvSpPr/>
          <p:nvPr/>
        </p:nvSpPr>
        <p:spPr>
          <a:xfrm>
            <a:off x="365760" y="1188720"/>
            <a:ext cx="1371600" cy="548640"/>
          </a:xfrm>
          <a:prstGeom prst="rect">
            <a:avLst/>
          </a:prstGeom>
          <a:noFill/>
          <a:ln/>
        </p:spPr>
        <p:txBody>
          <a:bodyPr wrap="square"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.java</a:t>
            </a:r>
            <a:endParaRPr lang="en-US" sz="1600" dirty="0"/>
          </a:p>
        </p:txBody>
      </p:sp>
      <p:sp>
        <p:nvSpPr>
          <p:cNvPr id="9" name="Text 7"/>
          <p:cNvSpPr/>
          <p:nvPr/>
        </p:nvSpPr>
        <p:spPr>
          <a:xfrm>
            <a:off x="365760" y="1691640"/>
            <a:ext cx="1371600" cy="36576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Code source</a:t>
            </a:r>
            <a:endParaRPr lang="en-US" sz="900" dirty="0"/>
          </a:p>
        </p:txBody>
      </p:sp>
      <p:sp>
        <p:nvSpPr>
          <p:cNvPr id="10" name="Text 8"/>
          <p:cNvSpPr/>
          <p:nvPr/>
        </p:nvSpPr>
        <p:spPr>
          <a:xfrm>
            <a:off x="1737360" y="1188720"/>
            <a:ext cx="731520" cy="914400"/>
          </a:xfrm>
          <a:prstGeom prst="rect">
            <a:avLst/>
          </a:prstGeom>
          <a:noFill/>
          <a:ln/>
        </p:spPr>
        <p:txBody>
          <a:bodyPr wrap="square" rtlCol="0" anchor="ctr"/>
          <a:lstStyle/>
          <a:p>
            <a:pPr algn="ctr" indent="0" marL="0">
              <a:buNone/>
            </a:pPr>
            <a:r>
              <a:rPr lang="en-US" sz="2000" dirty="0">
                <a:solidFill>
                  <a:srgbClr val="94A3B8"/>
                </a:solidFill>
                <a:latin typeface="Arial" pitchFamily="34" charset="0"/>
                <a:ea typeface="Arial" pitchFamily="34" charset="-122"/>
                <a:cs typeface="Arial" pitchFamily="34" charset="-120"/>
              </a:rPr>
              <a:t>→</a:t>
            </a:r>
            <a:endParaRPr lang="en-US" sz="2000" dirty="0"/>
          </a:p>
        </p:txBody>
      </p:sp>
      <p:sp>
        <p:nvSpPr>
          <p:cNvPr id="11" name="Shape 9"/>
          <p:cNvSpPr/>
          <p:nvPr/>
        </p:nvSpPr>
        <p:spPr>
          <a:xfrm>
            <a:off x="2103120" y="1188720"/>
            <a:ext cx="1371600" cy="914400"/>
          </a:xfrm>
          <a:prstGeom prst="rect">
            <a:avLst/>
          </a:prstGeom>
          <a:solidFill>
            <a:srgbClr val="0D7377"/>
          </a:solidFill>
          <a:ln/>
          <a:effectLst>
            <a:outerShdw sx="100000" sy="100000" kx="0" ky="0" algn="bl" rotWithShape="0" blurRad="101600" dist="38100" dir="8100000">
              <a:srgbClr val="000000">
                <a:alpha val="12000"/>
              </a:srgbClr>
            </a:outerShdw>
          </a:effectLst>
        </p:spPr>
      </p:sp>
      <p:sp>
        <p:nvSpPr>
          <p:cNvPr id="12" name="Text 10"/>
          <p:cNvSpPr/>
          <p:nvPr/>
        </p:nvSpPr>
        <p:spPr>
          <a:xfrm>
            <a:off x="2103120" y="1188720"/>
            <a:ext cx="1371600" cy="548640"/>
          </a:xfrm>
          <a:prstGeom prst="rect">
            <a:avLst/>
          </a:prstGeom>
          <a:noFill/>
          <a:ln/>
        </p:spPr>
        <p:txBody>
          <a:bodyPr wrap="square"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javac</a:t>
            </a:r>
            <a:endParaRPr lang="en-US" sz="1600" dirty="0"/>
          </a:p>
        </p:txBody>
      </p:sp>
      <p:sp>
        <p:nvSpPr>
          <p:cNvPr id="13" name="Text 11"/>
          <p:cNvSpPr/>
          <p:nvPr/>
        </p:nvSpPr>
        <p:spPr>
          <a:xfrm>
            <a:off x="2103120" y="1691640"/>
            <a:ext cx="1371600" cy="36576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Compilateur</a:t>
            </a:r>
            <a:endParaRPr lang="en-US" sz="900" dirty="0"/>
          </a:p>
        </p:txBody>
      </p:sp>
      <p:sp>
        <p:nvSpPr>
          <p:cNvPr id="14" name="Text 12"/>
          <p:cNvSpPr/>
          <p:nvPr/>
        </p:nvSpPr>
        <p:spPr>
          <a:xfrm>
            <a:off x="3474720" y="1188720"/>
            <a:ext cx="731520" cy="914400"/>
          </a:xfrm>
          <a:prstGeom prst="rect">
            <a:avLst/>
          </a:prstGeom>
          <a:noFill/>
          <a:ln/>
        </p:spPr>
        <p:txBody>
          <a:bodyPr wrap="square" rtlCol="0" anchor="ctr"/>
          <a:lstStyle/>
          <a:p>
            <a:pPr algn="ctr" indent="0" marL="0">
              <a:buNone/>
            </a:pPr>
            <a:r>
              <a:rPr lang="en-US" sz="2000" dirty="0">
                <a:solidFill>
                  <a:srgbClr val="94A3B8"/>
                </a:solidFill>
                <a:latin typeface="Arial" pitchFamily="34" charset="0"/>
                <a:ea typeface="Arial" pitchFamily="34" charset="-122"/>
                <a:cs typeface="Arial" pitchFamily="34" charset="-120"/>
              </a:rPr>
              <a:t>→</a:t>
            </a:r>
            <a:endParaRPr lang="en-US" sz="2000" dirty="0"/>
          </a:p>
        </p:txBody>
      </p:sp>
      <p:sp>
        <p:nvSpPr>
          <p:cNvPr id="15" name="Shape 13"/>
          <p:cNvSpPr/>
          <p:nvPr/>
        </p:nvSpPr>
        <p:spPr>
          <a:xfrm>
            <a:off x="3840480" y="1188720"/>
            <a:ext cx="1371600" cy="914400"/>
          </a:xfrm>
          <a:prstGeom prst="rect">
            <a:avLst/>
          </a:prstGeom>
          <a:solidFill>
            <a:srgbClr val="F59E0B"/>
          </a:solidFill>
          <a:ln/>
          <a:effectLst>
            <a:outerShdw sx="100000" sy="100000" kx="0" ky="0" algn="bl" rotWithShape="0" blurRad="101600" dist="38100" dir="8100000">
              <a:srgbClr val="000000">
                <a:alpha val="12000"/>
              </a:srgbClr>
            </a:outerShdw>
          </a:effectLst>
        </p:spPr>
      </p:sp>
      <p:sp>
        <p:nvSpPr>
          <p:cNvPr id="16" name="Text 14"/>
          <p:cNvSpPr/>
          <p:nvPr/>
        </p:nvSpPr>
        <p:spPr>
          <a:xfrm>
            <a:off x="3840480" y="1188720"/>
            <a:ext cx="1371600" cy="548640"/>
          </a:xfrm>
          <a:prstGeom prst="rect">
            <a:avLst/>
          </a:prstGeom>
          <a:noFill/>
          <a:ln/>
        </p:spPr>
        <p:txBody>
          <a:bodyPr wrap="square"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.class</a:t>
            </a:r>
            <a:endParaRPr lang="en-US" sz="1600" dirty="0"/>
          </a:p>
        </p:txBody>
      </p:sp>
      <p:sp>
        <p:nvSpPr>
          <p:cNvPr id="17" name="Text 15"/>
          <p:cNvSpPr/>
          <p:nvPr/>
        </p:nvSpPr>
        <p:spPr>
          <a:xfrm>
            <a:off x="3840480" y="1691640"/>
            <a:ext cx="1371600" cy="36576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Bytecode</a:t>
            </a:r>
            <a:endParaRPr lang="en-US" sz="900" dirty="0"/>
          </a:p>
        </p:txBody>
      </p:sp>
      <p:sp>
        <p:nvSpPr>
          <p:cNvPr id="18" name="Text 16"/>
          <p:cNvSpPr/>
          <p:nvPr/>
        </p:nvSpPr>
        <p:spPr>
          <a:xfrm>
            <a:off x="5212080" y="1188720"/>
            <a:ext cx="731520" cy="914400"/>
          </a:xfrm>
          <a:prstGeom prst="rect">
            <a:avLst/>
          </a:prstGeom>
          <a:noFill/>
          <a:ln/>
        </p:spPr>
        <p:txBody>
          <a:bodyPr wrap="square" rtlCol="0" anchor="ctr"/>
          <a:lstStyle/>
          <a:p>
            <a:pPr algn="ctr" indent="0" marL="0">
              <a:buNone/>
            </a:pPr>
            <a:r>
              <a:rPr lang="en-US" sz="2000" dirty="0">
                <a:solidFill>
                  <a:srgbClr val="94A3B8"/>
                </a:solidFill>
                <a:latin typeface="Arial" pitchFamily="34" charset="0"/>
                <a:ea typeface="Arial" pitchFamily="34" charset="-122"/>
                <a:cs typeface="Arial" pitchFamily="34" charset="-120"/>
              </a:rPr>
              <a:t>→</a:t>
            </a:r>
            <a:endParaRPr lang="en-US" sz="2000" dirty="0"/>
          </a:p>
        </p:txBody>
      </p:sp>
      <p:sp>
        <p:nvSpPr>
          <p:cNvPr id="19" name="Shape 17"/>
          <p:cNvSpPr/>
          <p:nvPr/>
        </p:nvSpPr>
        <p:spPr>
          <a:xfrm>
            <a:off x="5577840" y="1188720"/>
            <a:ext cx="1371600" cy="914400"/>
          </a:xfrm>
          <a:prstGeom prst="rect">
            <a:avLst/>
          </a:prstGeom>
          <a:solidFill>
            <a:srgbClr val="32E0C4"/>
          </a:solidFill>
          <a:ln/>
          <a:effectLst>
            <a:outerShdw sx="100000" sy="100000" kx="0" ky="0" algn="bl" rotWithShape="0" blurRad="101600" dist="38100" dir="8100000">
              <a:srgbClr val="000000">
                <a:alpha val="12000"/>
              </a:srgbClr>
            </a:outerShdw>
          </a:effectLst>
        </p:spPr>
      </p:sp>
      <p:sp>
        <p:nvSpPr>
          <p:cNvPr id="20" name="Text 18"/>
          <p:cNvSpPr/>
          <p:nvPr/>
        </p:nvSpPr>
        <p:spPr>
          <a:xfrm>
            <a:off x="5577840" y="1188720"/>
            <a:ext cx="1371600" cy="548640"/>
          </a:xfrm>
          <a:prstGeom prst="rect">
            <a:avLst/>
          </a:prstGeom>
          <a:noFill/>
          <a:ln/>
        </p:spPr>
        <p:txBody>
          <a:bodyPr wrap="square"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jar</a:t>
            </a:r>
            <a:endParaRPr lang="en-US" sz="1600" dirty="0"/>
          </a:p>
        </p:txBody>
      </p:sp>
      <p:sp>
        <p:nvSpPr>
          <p:cNvPr id="21" name="Text 19"/>
          <p:cNvSpPr/>
          <p:nvPr/>
        </p:nvSpPr>
        <p:spPr>
          <a:xfrm>
            <a:off x="5577840" y="1691640"/>
            <a:ext cx="1371600" cy="36576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Empaqueteur</a:t>
            </a:r>
            <a:endParaRPr lang="en-US" sz="900" dirty="0"/>
          </a:p>
        </p:txBody>
      </p:sp>
      <p:sp>
        <p:nvSpPr>
          <p:cNvPr id="22" name="Text 20"/>
          <p:cNvSpPr/>
          <p:nvPr/>
        </p:nvSpPr>
        <p:spPr>
          <a:xfrm>
            <a:off x="6949440" y="1188720"/>
            <a:ext cx="731520" cy="914400"/>
          </a:xfrm>
          <a:prstGeom prst="rect">
            <a:avLst/>
          </a:prstGeom>
          <a:noFill/>
          <a:ln/>
        </p:spPr>
        <p:txBody>
          <a:bodyPr wrap="square" rtlCol="0" anchor="ctr"/>
          <a:lstStyle/>
          <a:p>
            <a:pPr algn="ctr" indent="0" marL="0">
              <a:buNone/>
            </a:pPr>
            <a:r>
              <a:rPr lang="en-US" sz="2000" dirty="0">
                <a:solidFill>
                  <a:srgbClr val="94A3B8"/>
                </a:solidFill>
                <a:latin typeface="Arial" pitchFamily="34" charset="0"/>
                <a:ea typeface="Arial" pitchFamily="34" charset="-122"/>
                <a:cs typeface="Arial" pitchFamily="34" charset="-120"/>
              </a:rPr>
              <a:t>→</a:t>
            </a:r>
            <a:endParaRPr lang="en-US" sz="2000" dirty="0"/>
          </a:p>
        </p:txBody>
      </p:sp>
      <p:sp>
        <p:nvSpPr>
          <p:cNvPr id="23" name="Shape 21"/>
          <p:cNvSpPr/>
          <p:nvPr/>
        </p:nvSpPr>
        <p:spPr>
          <a:xfrm>
            <a:off x="7315200" y="1188720"/>
            <a:ext cx="1371600" cy="914400"/>
          </a:xfrm>
          <a:prstGeom prst="rect">
            <a:avLst/>
          </a:prstGeom>
          <a:solidFill>
            <a:srgbClr val="10B981"/>
          </a:solidFill>
          <a:ln/>
          <a:effectLst>
            <a:outerShdw sx="100000" sy="100000" kx="0" ky="0" algn="bl" rotWithShape="0" blurRad="101600" dist="38100" dir="8100000">
              <a:srgbClr val="000000">
                <a:alpha val="12000"/>
              </a:srgbClr>
            </a:outerShdw>
          </a:effectLst>
        </p:spPr>
      </p:sp>
      <p:sp>
        <p:nvSpPr>
          <p:cNvPr id="24" name="Text 22"/>
          <p:cNvSpPr/>
          <p:nvPr/>
        </p:nvSpPr>
        <p:spPr>
          <a:xfrm>
            <a:off x="7315200" y="1188720"/>
            <a:ext cx="1371600" cy="548640"/>
          </a:xfrm>
          <a:prstGeom prst="rect">
            <a:avLst/>
          </a:prstGeom>
          <a:noFill/>
          <a:ln/>
        </p:spPr>
        <p:txBody>
          <a:bodyPr wrap="square"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.jar</a:t>
            </a:r>
            <a:endParaRPr lang="en-US" sz="1600" dirty="0"/>
          </a:p>
        </p:txBody>
      </p:sp>
      <p:sp>
        <p:nvSpPr>
          <p:cNvPr id="25" name="Text 23"/>
          <p:cNvSpPr/>
          <p:nvPr/>
        </p:nvSpPr>
        <p:spPr>
          <a:xfrm>
            <a:off x="7315200" y="1691640"/>
            <a:ext cx="1371600" cy="36576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Exécutable</a:t>
            </a:r>
            <a:endParaRPr lang="en-US" sz="900" dirty="0"/>
          </a:p>
        </p:txBody>
      </p:sp>
      <p:sp>
        <p:nvSpPr>
          <p:cNvPr id="26" name="Shape 24"/>
          <p:cNvSpPr/>
          <p:nvPr/>
        </p:nvSpPr>
        <p:spPr>
          <a:xfrm>
            <a:off x="457200" y="2560320"/>
            <a:ext cx="4572000" cy="2103120"/>
          </a:xfrm>
          <a:prstGeom prst="rect">
            <a:avLst/>
          </a:prstGeom>
          <a:solidFill>
            <a:srgbClr val="1E293B"/>
          </a:solidFill>
          <a:ln/>
          <a:effectLst>
            <a:outerShdw sx="100000" sy="100000" kx="0" ky="0" algn="bl" rotWithShape="0" blurRad="101600" dist="38100" dir="8100000">
              <a:srgbClr val="000000">
                <a:alpha val="12000"/>
              </a:srgbClr>
            </a:outerShdw>
          </a:effectLst>
        </p:spPr>
      </p:sp>
      <p:sp>
        <p:nvSpPr>
          <p:cNvPr id="27" name="Text 25"/>
          <p:cNvSpPr/>
          <p:nvPr/>
        </p:nvSpPr>
        <p:spPr>
          <a:xfrm>
            <a:off x="594360" y="2651760"/>
            <a:ext cx="4297680" cy="1920240"/>
          </a:xfrm>
          <a:prstGeom prst="rect">
            <a:avLst/>
          </a:prstGeom>
          <a:noFill/>
          <a:ln/>
        </p:spPr>
        <p:txBody>
          <a:bodyPr wrap="square" rtlCol="0" anchor="t"/>
          <a:lstStyle/>
          <a:p>
            <a:pPr indent="0" marL="0">
              <a:buNone/>
            </a:pPr>
            <a:r>
              <a:rPr lang="en-US" sz="1000" dirty="0">
                <a:solidFill>
                  <a:srgbClr val="32E0C4"/>
                </a:solidFill>
                <a:latin typeface="Consolas" pitchFamily="34" charset="0"/>
                <a:ea typeface="Consolas" pitchFamily="34" charset="-122"/>
                <a:cs typeface="Consolas" pitchFamily="34" charset="-120"/>
              </a:rPr>
              <a:t># Compiler</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javac -d bin src/*.java</a:t>
            </a:r>
            <a:endParaRPr lang="en-US" sz="1000" dirty="0"/>
          </a:p>
          <a:p>
            <a:pPr indent="0" marL="0">
              <a:buNone/>
            </a:pP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Créer le manifest (DOIT finir par ligne vide)</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echo "Main-Class: Main" &gt; MANIFEST.MF</a:t>
            </a:r>
            <a:endParaRPr lang="en-US" sz="1000" dirty="0"/>
          </a:p>
          <a:p>
            <a:pPr indent="0" marL="0">
              <a:buNone/>
            </a:pP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Empaqueter en JAR</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jar cfm MonProjet.jar MANIFEST.MF -C bin .</a:t>
            </a:r>
            <a:endParaRPr lang="en-US" sz="1000" dirty="0"/>
          </a:p>
          <a:p>
            <a:pPr indent="0" marL="0">
              <a:buNone/>
            </a:pP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Exécuter</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java -jar MonProjet.jar</a:t>
            </a:r>
            <a:endParaRPr lang="en-US" sz="1000" dirty="0"/>
          </a:p>
        </p:txBody>
      </p:sp>
      <p:sp>
        <p:nvSpPr>
          <p:cNvPr id="28" name="Shape 26"/>
          <p:cNvSpPr/>
          <p:nvPr/>
        </p:nvSpPr>
        <p:spPr>
          <a:xfrm>
            <a:off x="5303520" y="2560320"/>
            <a:ext cx="3383280" cy="9144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9" name="Shape 27"/>
          <p:cNvSpPr/>
          <p:nvPr/>
        </p:nvSpPr>
        <p:spPr>
          <a:xfrm>
            <a:off x="5303520" y="2560320"/>
            <a:ext cx="54864" cy="914400"/>
          </a:xfrm>
          <a:prstGeom prst="rect">
            <a:avLst/>
          </a:prstGeom>
          <a:solidFill>
            <a:srgbClr val="0D7377"/>
          </a:solidFill>
          <a:ln/>
        </p:spPr>
      </p:sp>
      <p:sp>
        <p:nvSpPr>
          <p:cNvPr id="30" name="Text 28"/>
          <p:cNvSpPr/>
          <p:nvPr/>
        </p:nvSpPr>
        <p:spPr>
          <a:xfrm>
            <a:off x="5486400" y="2651760"/>
            <a:ext cx="3108960" cy="320040"/>
          </a:xfrm>
          <a:prstGeom prst="rect">
            <a:avLst/>
          </a:prstGeom>
          <a:noFill/>
          <a:ln/>
        </p:spPr>
        <p:txBody>
          <a:bodyPr wrap="square" lIns="0" tIns="0" rIns="0" bIns="0" rtlCol="0" anchor="ctr"/>
          <a:lstStyle/>
          <a:p>
            <a:pPr indent="0" marL="0">
              <a:buNone/>
            </a:pPr>
            <a:r>
              <a:rPr lang="en-US" sz="1300" b="1" dirty="0">
                <a:solidFill>
                  <a:srgbClr val="0D7377"/>
                </a:solidFill>
                <a:latin typeface="Calibri" pitchFamily="34" charset="0"/>
                <a:ea typeface="Calibri" pitchFamily="34" charset="-122"/>
                <a:cs typeface="Calibri" pitchFamily="34" charset="-120"/>
              </a:rPr>
              <a:t>Dans Eclipse</a:t>
            </a:r>
            <a:endParaRPr lang="en-US" sz="1300" dirty="0"/>
          </a:p>
        </p:txBody>
      </p:sp>
      <p:sp>
        <p:nvSpPr>
          <p:cNvPr id="31" name="Text 29"/>
          <p:cNvSpPr/>
          <p:nvPr/>
        </p:nvSpPr>
        <p:spPr>
          <a:xfrm>
            <a:off x="5486400" y="2971800"/>
            <a:ext cx="3108960" cy="41148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File → Export</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 Runnable JAR file</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 Choisir le Main</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 Finish</a:t>
            </a:r>
            <a:endParaRPr lang="en-US" sz="1000" dirty="0"/>
          </a:p>
        </p:txBody>
      </p:sp>
      <p:sp>
        <p:nvSpPr>
          <p:cNvPr id="32" name="Shape 30"/>
          <p:cNvSpPr/>
          <p:nvPr/>
        </p:nvSpPr>
        <p:spPr>
          <a:xfrm>
            <a:off x="5303520" y="3657600"/>
            <a:ext cx="3383280" cy="7315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3" name="Shape 31"/>
          <p:cNvSpPr/>
          <p:nvPr/>
        </p:nvSpPr>
        <p:spPr>
          <a:xfrm>
            <a:off x="5303520" y="3657600"/>
            <a:ext cx="54864" cy="731520"/>
          </a:xfrm>
          <a:prstGeom prst="rect">
            <a:avLst/>
          </a:prstGeom>
          <a:solidFill>
            <a:srgbClr val="F59E0B"/>
          </a:solidFill>
          <a:ln/>
        </p:spPr>
      </p:sp>
      <p:sp>
        <p:nvSpPr>
          <p:cNvPr id="34" name="Text 32"/>
          <p:cNvSpPr/>
          <p:nvPr/>
        </p:nvSpPr>
        <p:spPr>
          <a:xfrm>
            <a:off x="5486400" y="3749040"/>
            <a:ext cx="3108960" cy="320040"/>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GitHub Release</a:t>
            </a:r>
            <a:endParaRPr lang="en-US" sz="1300" dirty="0"/>
          </a:p>
        </p:txBody>
      </p:sp>
      <p:sp>
        <p:nvSpPr>
          <p:cNvPr id="35" name="Text 33"/>
          <p:cNvSpPr/>
          <p:nvPr/>
        </p:nvSpPr>
        <p:spPr>
          <a:xfrm>
            <a:off x="5486400" y="4069080"/>
            <a:ext cx="3108960" cy="22860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git tag v1.0</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git push origin v1.0</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 Releases → Upload JAR</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Text 1"/>
          <p:cNvSpPr/>
          <p:nvPr/>
        </p:nvSpPr>
        <p:spPr>
          <a:xfrm>
            <a:off x="548640" y="274320"/>
            <a:ext cx="7315200" cy="640080"/>
          </a:xfrm>
          <a:prstGeom prst="rect">
            <a:avLst/>
          </a:prstGeom>
          <a:noFill/>
          <a:ln/>
        </p:spPr>
        <p:txBody>
          <a:bodyPr wrap="square"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Récapitulatif — 8 Modules</a:t>
            </a:r>
            <a:endParaRPr lang="en-US" sz="2800" dirty="0"/>
          </a:p>
        </p:txBody>
      </p:sp>
      <p:sp>
        <p:nvSpPr>
          <p:cNvPr id="4" name="Shape 2"/>
          <p:cNvSpPr/>
          <p:nvPr/>
        </p:nvSpPr>
        <p:spPr>
          <a:xfrm>
            <a:off x="365760" y="1188720"/>
            <a:ext cx="1965960" cy="1554480"/>
          </a:xfrm>
          <a:prstGeom prst="rect">
            <a:avLst/>
          </a:prstGeom>
          <a:solidFill>
            <a:srgbClr val="0D7377"/>
          </a:solidFill>
          <a:ln/>
          <a:effectLst>
            <a:outerShdw sx="100000" sy="100000" kx="0" ky="0" algn="bl" rotWithShape="0" blurRad="101600" dist="38100" dir="8100000">
              <a:srgbClr val="000000">
                <a:alpha val="12000"/>
              </a:srgbClr>
            </a:outerShdw>
          </a:effectLst>
        </p:spPr>
      </p:sp>
      <p:sp>
        <p:nvSpPr>
          <p:cNvPr id="5" name="Text 3"/>
          <p:cNvSpPr/>
          <p:nvPr/>
        </p:nvSpPr>
        <p:spPr>
          <a:xfrm>
            <a:off x="365760" y="1280160"/>
            <a:ext cx="1965960" cy="365760"/>
          </a:xfrm>
          <a:prstGeom prst="rect">
            <a:avLst/>
          </a:prstGeom>
          <a:noFill/>
          <a:ln/>
        </p:spPr>
        <p:txBody>
          <a:bodyPr wrap="square"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M01</a:t>
            </a:r>
            <a:endParaRPr lang="en-US" sz="1100" dirty="0"/>
          </a:p>
        </p:txBody>
      </p:sp>
      <p:sp>
        <p:nvSpPr>
          <p:cNvPr id="6" name="Text 4"/>
          <p:cNvSpPr/>
          <p:nvPr/>
        </p:nvSpPr>
        <p:spPr>
          <a:xfrm>
            <a:off x="365760" y="1600200"/>
            <a:ext cx="1965960" cy="457200"/>
          </a:xfrm>
          <a:prstGeom prst="rect">
            <a:avLst/>
          </a:prstGeom>
          <a:noFill/>
          <a:ln/>
        </p:spPr>
        <p:txBody>
          <a:bodyPr wrap="square"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Conditions</a:t>
            </a:r>
            <a:endParaRPr lang="en-US" sz="1600" dirty="0"/>
          </a:p>
        </p:txBody>
      </p:sp>
      <p:sp>
        <p:nvSpPr>
          <p:cNvPr id="7" name="Text 5"/>
          <p:cNvSpPr/>
          <p:nvPr/>
        </p:nvSpPr>
        <p:spPr>
          <a:xfrm>
            <a:off x="457200" y="2103120"/>
            <a:ext cx="1783080" cy="548640"/>
          </a:xfrm>
          <a:prstGeom prst="rect">
            <a:avLst/>
          </a:prstGeom>
          <a:noFill/>
          <a:ln/>
        </p:spPr>
        <p:txBody>
          <a:bodyPr wrap="square"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if/else, switch, &amp;&amp;, ||, !</a:t>
            </a:r>
            <a:endParaRPr lang="en-US" sz="900" dirty="0"/>
          </a:p>
        </p:txBody>
      </p:sp>
      <p:sp>
        <p:nvSpPr>
          <p:cNvPr id="8" name="Shape 6"/>
          <p:cNvSpPr/>
          <p:nvPr/>
        </p:nvSpPr>
        <p:spPr>
          <a:xfrm>
            <a:off x="2514600" y="1188720"/>
            <a:ext cx="1965960" cy="1554480"/>
          </a:xfrm>
          <a:prstGeom prst="rect">
            <a:avLst/>
          </a:prstGeom>
          <a:solidFill>
            <a:srgbClr val="14A3C7"/>
          </a:solidFill>
          <a:ln/>
          <a:effectLst>
            <a:outerShdw sx="100000" sy="100000" kx="0" ky="0" algn="bl" rotWithShape="0" blurRad="101600" dist="38100" dir="8100000">
              <a:srgbClr val="000000">
                <a:alpha val="12000"/>
              </a:srgbClr>
            </a:outerShdw>
          </a:effectLst>
        </p:spPr>
      </p:sp>
      <p:sp>
        <p:nvSpPr>
          <p:cNvPr id="9" name="Text 7"/>
          <p:cNvSpPr/>
          <p:nvPr/>
        </p:nvSpPr>
        <p:spPr>
          <a:xfrm>
            <a:off x="2514600" y="1280160"/>
            <a:ext cx="1965960" cy="365760"/>
          </a:xfrm>
          <a:prstGeom prst="rect">
            <a:avLst/>
          </a:prstGeom>
          <a:noFill/>
          <a:ln/>
        </p:spPr>
        <p:txBody>
          <a:bodyPr wrap="square"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M02</a:t>
            </a:r>
            <a:endParaRPr lang="en-US" sz="1100" dirty="0"/>
          </a:p>
        </p:txBody>
      </p:sp>
      <p:sp>
        <p:nvSpPr>
          <p:cNvPr id="10" name="Text 8"/>
          <p:cNvSpPr/>
          <p:nvPr/>
        </p:nvSpPr>
        <p:spPr>
          <a:xfrm>
            <a:off x="2514600" y="1600200"/>
            <a:ext cx="1965960" cy="457200"/>
          </a:xfrm>
          <a:prstGeom prst="rect">
            <a:avLst/>
          </a:prstGeom>
          <a:noFill/>
          <a:ln/>
        </p:spPr>
        <p:txBody>
          <a:bodyPr wrap="square"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Boucles</a:t>
            </a:r>
            <a:endParaRPr lang="en-US" sz="1600" dirty="0"/>
          </a:p>
        </p:txBody>
      </p:sp>
      <p:sp>
        <p:nvSpPr>
          <p:cNvPr id="11" name="Text 9"/>
          <p:cNvSpPr/>
          <p:nvPr/>
        </p:nvSpPr>
        <p:spPr>
          <a:xfrm>
            <a:off x="2606040" y="2103120"/>
            <a:ext cx="1783080" cy="548640"/>
          </a:xfrm>
          <a:prstGeom prst="rect">
            <a:avLst/>
          </a:prstGeom>
          <a:noFill/>
          <a:ln/>
        </p:spPr>
        <p:txBody>
          <a:bodyPr wrap="square"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for, while, do-while, break</a:t>
            </a:r>
            <a:endParaRPr lang="en-US" sz="900" dirty="0"/>
          </a:p>
        </p:txBody>
      </p:sp>
      <p:sp>
        <p:nvSpPr>
          <p:cNvPr id="12" name="Shape 10"/>
          <p:cNvSpPr/>
          <p:nvPr/>
        </p:nvSpPr>
        <p:spPr>
          <a:xfrm>
            <a:off x="4663440" y="1188720"/>
            <a:ext cx="1965960" cy="1554480"/>
          </a:xfrm>
          <a:prstGeom prst="rect">
            <a:avLst/>
          </a:prstGeom>
          <a:solidFill>
            <a:srgbClr val="32E0C4"/>
          </a:solidFill>
          <a:ln/>
          <a:effectLst>
            <a:outerShdw sx="100000" sy="100000" kx="0" ky="0" algn="bl" rotWithShape="0" blurRad="101600" dist="38100" dir="8100000">
              <a:srgbClr val="000000">
                <a:alpha val="12000"/>
              </a:srgbClr>
            </a:outerShdw>
          </a:effectLst>
        </p:spPr>
      </p:sp>
      <p:sp>
        <p:nvSpPr>
          <p:cNvPr id="13" name="Text 11"/>
          <p:cNvSpPr/>
          <p:nvPr/>
        </p:nvSpPr>
        <p:spPr>
          <a:xfrm>
            <a:off x="4663440" y="1280160"/>
            <a:ext cx="1965960" cy="365760"/>
          </a:xfrm>
          <a:prstGeom prst="rect">
            <a:avLst/>
          </a:prstGeom>
          <a:noFill/>
          <a:ln/>
        </p:spPr>
        <p:txBody>
          <a:bodyPr wrap="square"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M03</a:t>
            </a:r>
            <a:endParaRPr lang="en-US" sz="1100" dirty="0"/>
          </a:p>
        </p:txBody>
      </p:sp>
      <p:sp>
        <p:nvSpPr>
          <p:cNvPr id="14" name="Text 12"/>
          <p:cNvSpPr/>
          <p:nvPr/>
        </p:nvSpPr>
        <p:spPr>
          <a:xfrm>
            <a:off x="4663440" y="1600200"/>
            <a:ext cx="1965960" cy="457200"/>
          </a:xfrm>
          <a:prstGeom prst="rect">
            <a:avLst/>
          </a:prstGeom>
          <a:noFill/>
          <a:ln/>
        </p:spPr>
        <p:txBody>
          <a:bodyPr wrap="square"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OOP</a:t>
            </a:r>
            <a:endParaRPr lang="en-US" sz="1600" dirty="0"/>
          </a:p>
        </p:txBody>
      </p:sp>
      <p:sp>
        <p:nvSpPr>
          <p:cNvPr id="15" name="Text 13"/>
          <p:cNvSpPr/>
          <p:nvPr/>
        </p:nvSpPr>
        <p:spPr>
          <a:xfrm>
            <a:off x="4754880" y="2103120"/>
            <a:ext cx="1783080" cy="548640"/>
          </a:xfrm>
          <a:prstGeom prst="rect">
            <a:avLst/>
          </a:prstGeom>
          <a:noFill/>
          <a:ln/>
        </p:spPr>
        <p:txBody>
          <a:bodyPr wrap="square"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Classe, constructeur, private, getter</a:t>
            </a:r>
            <a:endParaRPr lang="en-US" sz="900" dirty="0"/>
          </a:p>
        </p:txBody>
      </p:sp>
      <p:sp>
        <p:nvSpPr>
          <p:cNvPr id="16" name="Shape 14"/>
          <p:cNvSpPr/>
          <p:nvPr/>
        </p:nvSpPr>
        <p:spPr>
          <a:xfrm>
            <a:off x="6812280" y="1188720"/>
            <a:ext cx="1965960" cy="1554480"/>
          </a:xfrm>
          <a:prstGeom prst="rect">
            <a:avLst/>
          </a:prstGeom>
          <a:solidFill>
            <a:srgbClr val="F59E0B"/>
          </a:solidFill>
          <a:ln/>
          <a:effectLst>
            <a:outerShdw sx="100000" sy="100000" kx="0" ky="0" algn="bl" rotWithShape="0" blurRad="101600" dist="38100" dir="8100000">
              <a:srgbClr val="000000">
                <a:alpha val="12000"/>
              </a:srgbClr>
            </a:outerShdw>
          </a:effectLst>
        </p:spPr>
      </p:sp>
      <p:sp>
        <p:nvSpPr>
          <p:cNvPr id="17" name="Text 15"/>
          <p:cNvSpPr/>
          <p:nvPr/>
        </p:nvSpPr>
        <p:spPr>
          <a:xfrm>
            <a:off x="6812280" y="1280160"/>
            <a:ext cx="1965960" cy="365760"/>
          </a:xfrm>
          <a:prstGeom prst="rect">
            <a:avLst/>
          </a:prstGeom>
          <a:noFill/>
          <a:ln/>
        </p:spPr>
        <p:txBody>
          <a:bodyPr wrap="square"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M04</a:t>
            </a:r>
            <a:endParaRPr lang="en-US" sz="1100" dirty="0"/>
          </a:p>
        </p:txBody>
      </p:sp>
      <p:sp>
        <p:nvSpPr>
          <p:cNvPr id="18" name="Text 16"/>
          <p:cNvSpPr/>
          <p:nvPr/>
        </p:nvSpPr>
        <p:spPr>
          <a:xfrm>
            <a:off x="6812280" y="1600200"/>
            <a:ext cx="1965960" cy="457200"/>
          </a:xfrm>
          <a:prstGeom prst="rect">
            <a:avLst/>
          </a:prstGeom>
          <a:noFill/>
          <a:ln/>
        </p:spPr>
        <p:txBody>
          <a:bodyPr wrap="square"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Data</a:t>
            </a:r>
            <a:endParaRPr lang="en-US" sz="1600" dirty="0"/>
          </a:p>
        </p:txBody>
      </p:sp>
      <p:sp>
        <p:nvSpPr>
          <p:cNvPr id="19" name="Text 17"/>
          <p:cNvSpPr/>
          <p:nvPr/>
        </p:nvSpPr>
        <p:spPr>
          <a:xfrm>
            <a:off x="6903720" y="2103120"/>
            <a:ext cx="1783080" cy="548640"/>
          </a:xfrm>
          <a:prstGeom prst="rect">
            <a:avLst/>
          </a:prstGeom>
          <a:noFill/>
          <a:ln/>
        </p:spPr>
        <p:txBody>
          <a:bodyPr wrap="square"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String, ArrayList, CRUD</a:t>
            </a:r>
            <a:endParaRPr lang="en-US" sz="900" dirty="0"/>
          </a:p>
        </p:txBody>
      </p:sp>
      <p:sp>
        <p:nvSpPr>
          <p:cNvPr id="20" name="Shape 18"/>
          <p:cNvSpPr/>
          <p:nvPr/>
        </p:nvSpPr>
        <p:spPr>
          <a:xfrm>
            <a:off x="365760" y="3017520"/>
            <a:ext cx="1965960" cy="1554480"/>
          </a:xfrm>
          <a:prstGeom prst="rect">
            <a:avLst/>
          </a:prstGeom>
          <a:solidFill>
            <a:srgbClr val="0D7377"/>
          </a:solidFill>
          <a:ln/>
          <a:effectLst>
            <a:outerShdw sx="100000" sy="100000" kx="0" ky="0" algn="bl" rotWithShape="0" blurRad="101600" dist="38100" dir="8100000">
              <a:srgbClr val="000000">
                <a:alpha val="12000"/>
              </a:srgbClr>
            </a:outerShdw>
          </a:effectLst>
        </p:spPr>
      </p:sp>
      <p:sp>
        <p:nvSpPr>
          <p:cNvPr id="21" name="Text 19"/>
          <p:cNvSpPr/>
          <p:nvPr/>
        </p:nvSpPr>
        <p:spPr>
          <a:xfrm>
            <a:off x="365760" y="3108960"/>
            <a:ext cx="1965960" cy="365760"/>
          </a:xfrm>
          <a:prstGeom prst="rect">
            <a:avLst/>
          </a:prstGeom>
          <a:noFill/>
          <a:ln/>
        </p:spPr>
        <p:txBody>
          <a:bodyPr wrap="square"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M05</a:t>
            </a:r>
            <a:endParaRPr lang="en-US" sz="1100" dirty="0"/>
          </a:p>
        </p:txBody>
      </p:sp>
      <p:sp>
        <p:nvSpPr>
          <p:cNvPr id="22" name="Text 20"/>
          <p:cNvSpPr/>
          <p:nvPr/>
        </p:nvSpPr>
        <p:spPr>
          <a:xfrm>
            <a:off x="365760" y="3429000"/>
            <a:ext cx="1965960" cy="457200"/>
          </a:xfrm>
          <a:prstGeom prst="rect">
            <a:avLst/>
          </a:prstGeom>
          <a:noFill/>
          <a:ln/>
        </p:spPr>
        <p:txBody>
          <a:bodyPr wrap="square"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Héritage</a:t>
            </a:r>
            <a:endParaRPr lang="en-US" sz="1600" dirty="0"/>
          </a:p>
        </p:txBody>
      </p:sp>
      <p:sp>
        <p:nvSpPr>
          <p:cNvPr id="23" name="Text 21"/>
          <p:cNvSpPr/>
          <p:nvPr/>
        </p:nvSpPr>
        <p:spPr>
          <a:xfrm>
            <a:off x="457200" y="3931920"/>
            <a:ext cx="1783080" cy="548640"/>
          </a:xfrm>
          <a:prstGeom prst="rect">
            <a:avLst/>
          </a:prstGeom>
          <a:noFill/>
          <a:ln/>
        </p:spPr>
        <p:txBody>
          <a:bodyPr wrap="square"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extends, super, @Override</a:t>
            </a:r>
            <a:endParaRPr lang="en-US" sz="900" dirty="0"/>
          </a:p>
        </p:txBody>
      </p:sp>
      <p:sp>
        <p:nvSpPr>
          <p:cNvPr id="24" name="Shape 22"/>
          <p:cNvSpPr/>
          <p:nvPr/>
        </p:nvSpPr>
        <p:spPr>
          <a:xfrm>
            <a:off x="2514600" y="3017520"/>
            <a:ext cx="1965960" cy="1554480"/>
          </a:xfrm>
          <a:prstGeom prst="rect">
            <a:avLst/>
          </a:prstGeom>
          <a:solidFill>
            <a:srgbClr val="14A3C7"/>
          </a:solidFill>
          <a:ln/>
          <a:effectLst>
            <a:outerShdw sx="100000" sy="100000" kx="0" ky="0" algn="bl" rotWithShape="0" blurRad="101600" dist="38100" dir="8100000">
              <a:srgbClr val="000000">
                <a:alpha val="12000"/>
              </a:srgbClr>
            </a:outerShdw>
          </a:effectLst>
        </p:spPr>
      </p:sp>
      <p:sp>
        <p:nvSpPr>
          <p:cNvPr id="25" name="Text 23"/>
          <p:cNvSpPr/>
          <p:nvPr/>
        </p:nvSpPr>
        <p:spPr>
          <a:xfrm>
            <a:off x="2514600" y="3108960"/>
            <a:ext cx="1965960" cy="365760"/>
          </a:xfrm>
          <a:prstGeom prst="rect">
            <a:avLst/>
          </a:prstGeom>
          <a:noFill/>
          <a:ln/>
        </p:spPr>
        <p:txBody>
          <a:bodyPr wrap="square"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M06</a:t>
            </a:r>
            <a:endParaRPr lang="en-US" sz="1100" dirty="0"/>
          </a:p>
        </p:txBody>
      </p:sp>
      <p:sp>
        <p:nvSpPr>
          <p:cNvPr id="26" name="Text 24"/>
          <p:cNvSpPr/>
          <p:nvPr/>
        </p:nvSpPr>
        <p:spPr>
          <a:xfrm>
            <a:off x="2514600" y="3429000"/>
            <a:ext cx="1965960" cy="457200"/>
          </a:xfrm>
          <a:prstGeom prst="rect">
            <a:avLst/>
          </a:prstGeom>
          <a:noFill/>
          <a:ln/>
        </p:spPr>
        <p:txBody>
          <a:bodyPr wrap="square"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Git</a:t>
            </a:r>
            <a:endParaRPr lang="en-US" sz="1600" dirty="0"/>
          </a:p>
        </p:txBody>
      </p:sp>
      <p:sp>
        <p:nvSpPr>
          <p:cNvPr id="27" name="Text 25"/>
          <p:cNvSpPr/>
          <p:nvPr/>
        </p:nvSpPr>
        <p:spPr>
          <a:xfrm>
            <a:off x="2606040" y="3931920"/>
            <a:ext cx="1783080" cy="548640"/>
          </a:xfrm>
          <a:prstGeom prst="rect">
            <a:avLst/>
          </a:prstGeom>
          <a:noFill/>
          <a:ln/>
        </p:spPr>
        <p:txBody>
          <a:bodyPr wrap="square"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add, commit, push, branches</a:t>
            </a:r>
            <a:endParaRPr lang="en-US" sz="900" dirty="0"/>
          </a:p>
        </p:txBody>
      </p:sp>
      <p:sp>
        <p:nvSpPr>
          <p:cNvPr id="28" name="Shape 26"/>
          <p:cNvSpPr/>
          <p:nvPr/>
        </p:nvSpPr>
        <p:spPr>
          <a:xfrm>
            <a:off x="4663440" y="3017520"/>
            <a:ext cx="1965960" cy="1554480"/>
          </a:xfrm>
          <a:prstGeom prst="rect">
            <a:avLst/>
          </a:prstGeom>
          <a:solidFill>
            <a:srgbClr val="EF4444"/>
          </a:solidFill>
          <a:ln/>
          <a:effectLst>
            <a:outerShdw sx="100000" sy="100000" kx="0" ky="0" algn="bl" rotWithShape="0" blurRad="101600" dist="38100" dir="8100000">
              <a:srgbClr val="000000">
                <a:alpha val="12000"/>
              </a:srgbClr>
            </a:outerShdw>
          </a:effectLst>
        </p:spPr>
      </p:sp>
      <p:sp>
        <p:nvSpPr>
          <p:cNvPr id="29" name="Text 27"/>
          <p:cNvSpPr/>
          <p:nvPr/>
        </p:nvSpPr>
        <p:spPr>
          <a:xfrm>
            <a:off x="4663440" y="3108960"/>
            <a:ext cx="1965960" cy="365760"/>
          </a:xfrm>
          <a:prstGeom prst="rect">
            <a:avLst/>
          </a:prstGeom>
          <a:noFill/>
          <a:ln/>
        </p:spPr>
        <p:txBody>
          <a:bodyPr wrap="square"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M07</a:t>
            </a:r>
            <a:endParaRPr lang="en-US" sz="1100" dirty="0"/>
          </a:p>
        </p:txBody>
      </p:sp>
      <p:sp>
        <p:nvSpPr>
          <p:cNvPr id="30" name="Text 28"/>
          <p:cNvSpPr/>
          <p:nvPr/>
        </p:nvSpPr>
        <p:spPr>
          <a:xfrm>
            <a:off x="4663440" y="3429000"/>
            <a:ext cx="1965960" cy="457200"/>
          </a:xfrm>
          <a:prstGeom prst="rect">
            <a:avLst/>
          </a:prstGeom>
          <a:noFill/>
          <a:ln/>
        </p:spPr>
        <p:txBody>
          <a:bodyPr wrap="square"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Sécurité</a:t>
            </a:r>
            <a:endParaRPr lang="en-US" sz="1600" dirty="0"/>
          </a:p>
        </p:txBody>
      </p:sp>
      <p:sp>
        <p:nvSpPr>
          <p:cNvPr id="31" name="Text 29"/>
          <p:cNvSpPr/>
          <p:nvPr/>
        </p:nvSpPr>
        <p:spPr>
          <a:xfrm>
            <a:off x="4754880" y="3931920"/>
            <a:ext cx="1783080" cy="548640"/>
          </a:xfrm>
          <a:prstGeom prst="rect">
            <a:avLst/>
          </a:prstGeom>
          <a:noFill/>
          <a:ln/>
        </p:spPr>
        <p:txBody>
          <a:bodyPr wrap="square"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try/catch, validation, null</a:t>
            </a:r>
            <a:endParaRPr lang="en-US" sz="900" dirty="0"/>
          </a:p>
        </p:txBody>
      </p:sp>
      <p:sp>
        <p:nvSpPr>
          <p:cNvPr id="32" name="Shape 30"/>
          <p:cNvSpPr/>
          <p:nvPr/>
        </p:nvSpPr>
        <p:spPr>
          <a:xfrm>
            <a:off x="6812280" y="3017520"/>
            <a:ext cx="1965960" cy="1554480"/>
          </a:xfrm>
          <a:prstGeom prst="rect">
            <a:avLst/>
          </a:prstGeom>
          <a:solidFill>
            <a:srgbClr val="10B981"/>
          </a:solidFill>
          <a:ln/>
          <a:effectLst>
            <a:outerShdw sx="100000" sy="100000" kx="0" ky="0" algn="bl" rotWithShape="0" blurRad="101600" dist="38100" dir="8100000">
              <a:srgbClr val="000000">
                <a:alpha val="12000"/>
              </a:srgbClr>
            </a:outerShdw>
          </a:effectLst>
        </p:spPr>
      </p:sp>
      <p:sp>
        <p:nvSpPr>
          <p:cNvPr id="33" name="Text 31"/>
          <p:cNvSpPr/>
          <p:nvPr/>
        </p:nvSpPr>
        <p:spPr>
          <a:xfrm>
            <a:off x="6812280" y="3108960"/>
            <a:ext cx="1965960" cy="365760"/>
          </a:xfrm>
          <a:prstGeom prst="rect">
            <a:avLst/>
          </a:prstGeom>
          <a:noFill/>
          <a:ln/>
        </p:spPr>
        <p:txBody>
          <a:bodyPr wrap="square"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M08</a:t>
            </a:r>
            <a:endParaRPr lang="en-US" sz="1100" dirty="0"/>
          </a:p>
        </p:txBody>
      </p:sp>
      <p:sp>
        <p:nvSpPr>
          <p:cNvPr id="34" name="Text 32"/>
          <p:cNvSpPr/>
          <p:nvPr/>
        </p:nvSpPr>
        <p:spPr>
          <a:xfrm>
            <a:off x="6812280" y="3429000"/>
            <a:ext cx="1965960" cy="457200"/>
          </a:xfrm>
          <a:prstGeom prst="rect">
            <a:avLst/>
          </a:prstGeom>
          <a:noFill/>
          <a:ln/>
        </p:spPr>
        <p:txBody>
          <a:bodyPr wrap="square"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Build</a:t>
            </a:r>
            <a:endParaRPr lang="en-US" sz="1600" dirty="0"/>
          </a:p>
        </p:txBody>
      </p:sp>
      <p:sp>
        <p:nvSpPr>
          <p:cNvPr id="35" name="Text 33"/>
          <p:cNvSpPr/>
          <p:nvPr/>
        </p:nvSpPr>
        <p:spPr>
          <a:xfrm>
            <a:off x="6903720" y="3931920"/>
            <a:ext cx="1783080" cy="548640"/>
          </a:xfrm>
          <a:prstGeom prst="rect">
            <a:avLst/>
          </a:prstGeom>
          <a:noFill/>
          <a:ln/>
        </p:spPr>
        <p:txBody>
          <a:bodyPr wrap="square"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JAR, manifest, release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CodeQuest — Guide Enseignant M01-M08</dc:title>
  <dc:subject>PptxGenJS Presentation</dc:subject>
  <dc:creator>CodeQuest — Le Labo de l'Inventeur</dc:creator>
  <cp:lastModifiedBy>CodeQuest — Le Labo de l'Inventeur</cp:lastModifiedBy>
  <cp:revision>1</cp:revision>
  <dcterms:created xsi:type="dcterms:W3CDTF">2026-03-22T03:44:47Z</dcterms:created>
  <dcterms:modified xsi:type="dcterms:W3CDTF">2026-03-22T03:44:47Z</dcterms:modified>
</cp:coreProperties>
</file>