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Suite du PPT enseignant. Couvre M09-M14.
M09-M11 = LO4 (Debugging + Standards)
M12-M13 = Modules avancés
M14 = Event-driven Swing (LO2 Essential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09 — DEBUGGING
Objectif : l'élève sait utiliser le debugger Eclipse
LO4 : P5 (expliquer le debugging) + M4 (debugging pour la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1. Écrire un programme avec une boucle for
2. Poser un breakpoint sur la première ligne de la boucle
3. Lancer en mode Debug (icône insecte)
4. F6 pour avancer, montrer la Watch List
5. Les élèves DOIVENT reproduire sur leur poste
Provoquer erreurs : montrer ce qui se passe quand on debug un NullPointerException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MÉTHODOLOGIE : pas de changement au hasard.
1. LIRE le message
2. REPRODUIRE
3. ISOLER
4. BREAKPOINT
5. OBSERVER
6. CORRIGER
Exercice : Escape Room du Code — 6 bugs cachés, 5 minutes chrono.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 STANDARDS
Objectif : écrire du code conforme aux conventions
LO4 : P6 (expliquer les standards) + D4 (évaluer leur rôle en équipe et individuel)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montrer du code 'sale' vs 'propre' côte à côte.
Faire deviner aux élèves ce qui ne va pas.
Ctrl+Shift+F dans Eclipse = formatage automatique → à utiliser AVANT chaque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Javadoc : /** ... */ sur chaque classe et méthode publique.
@param, @return, @throws sont les 3 tags essentiels.
Exercice : récrire du code 'sale' en 'propre' + STYLE_GUIDE.md d'équipe.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11 — ESCAPE ROOM
Boss Fight intégratif de LO4.
5 salles : Compilation, Runtime, Logique, Sécurité, Standards
Couvre P5, P6, M4, D4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DÉROULEMENT :
1. Distribuer le fichier Java bugué (5 classes)
2. Timer 10 minutes visible
3. Les binômes DOIVENT utiliser le debugger (pas juste lire)
4. Pour chaque bug : noter ligne, type, explication, correction
5. Débriefing collectif
C'est l'évaluation formative de LO4. Le rapport de debugging avec captures = 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12 — FICHIERS &amp; CRYPTO
Module avancé. Persistance des données.
File I/O avec try-with-resources, CSV parsing, SHA-256 hashing.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
1. Écrire un fichier simple
2. Le lire et afficher
3. Montrer le format CSV
4. Lire le CSV et créer des objets Invention
5. Ajouter au Catalogue existant
SHA-256 : montrer que le même texte donne toujours le même hash, mais changer 1 lettre change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13 — BASE DE DONNÉES
Module avancé. Connexion Java → MySQL.
CRUD avec PreparedStatement (anti-injection SQL).
Pattern DAO.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PRÉREQUIS : MySQL installé + base créée + mysql-connector-j.jar dans Build Path.
LIVE CODING :
1. Créer la base dans phpMyAdmin
2. Classe ConnexionDB
3. Classe InventionDAO avec getTout() et ajouter()
4. Main qui utilise le DAO
Insister sur PreparedStatement : JAMAIS de concaténation SQL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14 — SWING &amp; EVENT-DRIVEN
Essential Content LO2 : Events.
Les 3 paradigmes : procédural, OOP, EVENT-DRIVEN.
Indispensable pour P3, M2, D2.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module qui comble le gap event-driven.
Sans ce module, les étudiants ne peuvent pas faire P3 (discuter les 3 paradigmes).
LIVE CODING PROGRESSIF :
1. JFrame vide → setVisible(true)
2. Ajouter JButton + JLabel
3. Ajouter ActionListener → réagir au clic
4. Construire une mini-calculatrice
5. Exercice : Panneau de contrôle du Labo (CRUD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les deux syntaxes :
1. Classe anonyme : new ActionListener() { ... }
2. Lambda : e -&gt; { ... }
Les élèves utilisent la lambda (plus courte, Java 8+).
Exercice final : même programme en 3 paradigmes (procédural, OOP, Swing) pour P3/D2.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M09-M14 complètent le cours.
Avec M00-M14 = 15 modules, tout le Essential Content BTEC est couvert.
P1-P6, M1-M4, D1-D4 tous mappés.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274320"/>
            <a:ext cx="3657600" cy="45720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CODEQUEST</a:t>
            </a:r>
            <a:endParaRPr lang="en-US" sz="1200" dirty="0"/>
          </a:p>
        </p:txBody>
      </p:sp>
      <p:sp>
        <p:nvSpPr>
          <p:cNvPr id="4" name="Text 2"/>
          <p:cNvSpPr/>
          <p:nvPr/>
        </p:nvSpPr>
        <p:spPr>
          <a:xfrm>
            <a:off x="548640" y="594360"/>
            <a:ext cx="3657600" cy="320040"/>
          </a:xfrm>
          <a:prstGeom prst="rect">
            <a:avLst/>
          </a:prstGeom>
          <a:noFill/>
          <a:ln/>
        </p:spPr>
        <p:txBody>
          <a:bodyPr wrap="square" rtlCol="0" anchor="ctr"/>
          <a:lstStyle/>
          <a:p>
            <a:pPr indent="0" marL="0">
              <a:buNone/>
            </a:pPr>
            <a:r>
              <a:rPr lang="en-US" sz="900" spc="300" kern="0" dirty="0">
                <a:solidFill>
                  <a:srgbClr val="94A3B8"/>
                </a:solidFill>
                <a:latin typeface="Calibri" pitchFamily="34" charset="0"/>
                <a:ea typeface="Calibri" pitchFamily="34" charset="-122"/>
                <a:cs typeface="Calibri" pitchFamily="34" charset="-120"/>
              </a:rPr>
              <a:t>LE LABO DE L'INVENTEUR</a:t>
            </a:r>
            <a:endParaRPr lang="en-US" sz="900" dirty="0"/>
          </a:p>
        </p:txBody>
      </p:sp>
      <p:sp>
        <p:nvSpPr>
          <p:cNvPr id="5" name="Text 3"/>
          <p:cNvSpPr/>
          <p:nvPr/>
        </p:nvSpPr>
        <p:spPr>
          <a:xfrm>
            <a:off x="548640" y="1463040"/>
            <a:ext cx="8046720" cy="1371600"/>
          </a:xfrm>
          <a:prstGeom prst="rect">
            <a:avLst/>
          </a:prstGeom>
          <a:noFill/>
          <a:ln/>
        </p:spPr>
        <p:txBody>
          <a:bodyPr wrap="square"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Guide Enseignant</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Modules M09 — M14</a:t>
            </a:r>
            <a:endParaRPr lang="en-US" sz="4000" dirty="0"/>
          </a:p>
        </p:txBody>
      </p:sp>
      <p:sp>
        <p:nvSpPr>
          <p:cNvPr id="6" name="Text 4"/>
          <p:cNvSpPr/>
          <p:nvPr/>
        </p:nvSpPr>
        <p:spPr>
          <a:xfrm>
            <a:off x="548640" y="2834640"/>
            <a:ext cx="8046720" cy="731520"/>
          </a:xfrm>
          <a:prstGeom prst="rect">
            <a:avLst/>
          </a:prstGeom>
          <a:noFill/>
          <a:ln/>
        </p:spPr>
        <p:txBody>
          <a:bodyPr wrap="square" rtlCol="0" anchor="ctr"/>
          <a:lstStyle/>
          <a:p>
            <a:pPr indent="0" marL="0">
              <a:buNone/>
            </a:pPr>
            <a:r>
              <a:rPr lang="en-US" sz="1800" dirty="0">
                <a:solidFill>
                  <a:srgbClr val="32E0C4"/>
                </a:solidFill>
                <a:latin typeface="Calibri" pitchFamily="34" charset="0"/>
                <a:ea typeface="Calibri" pitchFamily="34" charset="-122"/>
                <a:cs typeface="Calibri" pitchFamily="34" charset="-120"/>
              </a:rPr>
              <a:t>Phase 3 (LO4) + Modules avancés (Fichiers, BDD, Swing)</a:t>
            </a:r>
            <a:endParaRPr lang="en-US" sz="1800" dirty="0"/>
          </a:p>
        </p:txBody>
      </p:sp>
      <p:sp>
        <p:nvSpPr>
          <p:cNvPr id="7" name="Shape 5"/>
          <p:cNvSpPr/>
          <p:nvPr/>
        </p:nvSpPr>
        <p:spPr>
          <a:xfrm>
            <a:off x="0" y="4754880"/>
            <a:ext cx="9144000" cy="388620"/>
          </a:xfrm>
          <a:prstGeom prst="rect">
            <a:avLst/>
          </a:prstGeom>
          <a:solidFill>
            <a:srgbClr val="0D7377"/>
          </a:solidFill>
          <a:ln/>
        </p:spPr>
      </p:sp>
      <p:sp>
        <p:nvSpPr>
          <p:cNvPr id="8" name="Text 6"/>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Guide Enseignant — BTEC HND Unit 1: Programming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09</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Debugging</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Breakpoints · Watch · Step Over/Into · Tracing</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M09 — Debugging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Les outils du debugger Eclipse</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M09 — Debugging</a:t>
            </a:r>
            <a:endParaRPr lang="en-US" sz="900" dirty="0"/>
          </a:p>
        </p:txBody>
      </p:sp>
      <p:sp>
        <p:nvSpPr>
          <p:cNvPr id="7" name="Shape 5"/>
          <p:cNvSpPr/>
          <p:nvPr/>
        </p:nvSpPr>
        <p:spPr>
          <a:xfrm>
            <a:off x="365760" y="100584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65760" y="1005840"/>
            <a:ext cx="54864" cy="1280160"/>
          </a:xfrm>
          <a:prstGeom prst="rect">
            <a:avLst/>
          </a:prstGeom>
          <a:solidFill>
            <a:srgbClr val="EF4444"/>
          </a:solidFill>
          <a:ln/>
        </p:spPr>
      </p:sp>
      <p:sp>
        <p:nvSpPr>
          <p:cNvPr id="9" name="Text 7"/>
          <p:cNvSpPr/>
          <p:nvPr/>
        </p:nvSpPr>
        <p:spPr>
          <a:xfrm>
            <a:off x="548640" y="1097280"/>
            <a:ext cx="365760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Breakpoint</a:t>
            </a:r>
            <a:endParaRPr lang="en-US" sz="1300" dirty="0"/>
          </a:p>
        </p:txBody>
      </p:sp>
      <p:sp>
        <p:nvSpPr>
          <p:cNvPr id="10" name="Text 8"/>
          <p:cNvSpPr/>
          <p:nvPr/>
        </p:nvSpPr>
        <p:spPr>
          <a:xfrm>
            <a:off x="548640" y="141732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Double-clic marge gauche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Point bleu = le programme s'arrête ici</a:t>
            </a:r>
            <a:endParaRPr lang="en-US" sz="1000" dirty="0"/>
          </a:p>
        </p:txBody>
      </p:sp>
      <p:sp>
        <p:nvSpPr>
          <p:cNvPr id="11" name="Shape 9"/>
          <p:cNvSpPr/>
          <p:nvPr/>
        </p:nvSpPr>
        <p:spPr>
          <a:xfrm>
            <a:off x="4663440" y="100584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663440" y="1005840"/>
            <a:ext cx="54864" cy="1280160"/>
          </a:xfrm>
          <a:prstGeom prst="rect">
            <a:avLst/>
          </a:prstGeom>
          <a:solidFill>
            <a:srgbClr val="0D7377"/>
          </a:solidFill>
          <a:ln/>
        </p:spPr>
      </p:sp>
      <p:sp>
        <p:nvSpPr>
          <p:cNvPr id="13" name="Text 11"/>
          <p:cNvSpPr/>
          <p:nvPr/>
        </p:nvSpPr>
        <p:spPr>
          <a:xfrm>
            <a:off x="4846320" y="1097280"/>
            <a:ext cx="365760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Step Over (F6)</a:t>
            </a:r>
            <a:endParaRPr lang="en-US" sz="1300" dirty="0"/>
          </a:p>
        </p:txBody>
      </p:sp>
      <p:sp>
        <p:nvSpPr>
          <p:cNvPr id="14" name="Text 12"/>
          <p:cNvSpPr/>
          <p:nvPr/>
        </p:nvSpPr>
        <p:spPr>
          <a:xfrm>
            <a:off x="4846320" y="141732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Exécute la ligne actuelle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Passe à la suivante</a:t>
            </a:r>
            <a:endParaRPr lang="en-US" sz="1000" dirty="0"/>
          </a:p>
        </p:txBody>
      </p:sp>
      <p:sp>
        <p:nvSpPr>
          <p:cNvPr id="15" name="Shape 13"/>
          <p:cNvSpPr/>
          <p:nvPr/>
        </p:nvSpPr>
        <p:spPr>
          <a:xfrm>
            <a:off x="365760" y="256032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365760" y="2560320"/>
            <a:ext cx="54864" cy="1280160"/>
          </a:xfrm>
          <a:prstGeom prst="rect">
            <a:avLst/>
          </a:prstGeom>
          <a:solidFill>
            <a:srgbClr val="14A3C7"/>
          </a:solidFill>
          <a:ln/>
        </p:spPr>
      </p:sp>
      <p:sp>
        <p:nvSpPr>
          <p:cNvPr id="17" name="Text 15"/>
          <p:cNvSpPr/>
          <p:nvPr/>
        </p:nvSpPr>
        <p:spPr>
          <a:xfrm>
            <a:off x="548640" y="2651760"/>
            <a:ext cx="3657600" cy="320040"/>
          </a:xfrm>
          <a:prstGeom prst="rect">
            <a:avLst/>
          </a:prstGeom>
          <a:noFill/>
          <a:ln/>
        </p:spPr>
        <p:txBody>
          <a:bodyPr wrap="square" lIns="0" tIns="0" rIns="0" bIns="0" rtlCol="0" anchor="ctr"/>
          <a:lstStyle/>
          <a:p>
            <a:pPr indent="0" marL="0">
              <a:buNone/>
            </a:pPr>
            <a:r>
              <a:rPr lang="en-US" sz="1300" b="1" dirty="0">
                <a:solidFill>
                  <a:srgbClr val="14A3C7"/>
                </a:solidFill>
                <a:latin typeface="Calibri" pitchFamily="34" charset="0"/>
                <a:ea typeface="Calibri" pitchFamily="34" charset="-122"/>
                <a:cs typeface="Calibri" pitchFamily="34" charset="-120"/>
              </a:rPr>
              <a:t>Step Into (F5)</a:t>
            </a:r>
            <a:endParaRPr lang="en-US" sz="1300" dirty="0"/>
          </a:p>
        </p:txBody>
      </p:sp>
      <p:sp>
        <p:nvSpPr>
          <p:cNvPr id="18" name="Text 16"/>
          <p:cNvSpPr/>
          <p:nvPr/>
        </p:nvSpPr>
        <p:spPr>
          <a:xfrm>
            <a:off x="548640" y="297180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Entre DANS la méthode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appelée sur cette ligne</a:t>
            </a:r>
            <a:endParaRPr lang="en-US" sz="1000" dirty="0"/>
          </a:p>
        </p:txBody>
      </p:sp>
      <p:sp>
        <p:nvSpPr>
          <p:cNvPr id="19" name="Shape 17"/>
          <p:cNvSpPr/>
          <p:nvPr/>
        </p:nvSpPr>
        <p:spPr>
          <a:xfrm>
            <a:off x="4663440" y="256032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4663440" y="2560320"/>
            <a:ext cx="54864" cy="1280160"/>
          </a:xfrm>
          <a:prstGeom prst="rect">
            <a:avLst/>
          </a:prstGeom>
          <a:solidFill>
            <a:srgbClr val="F59E0B"/>
          </a:solidFill>
          <a:ln/>
        </p:spPr>
      </p:sp>
      <p:sp>
        <p:nvSpPr>
          <p:cNvPr id="21" name="Text 19"/>
          <p:cNvSpPr/>
          <p:nvPr/>
        </p:nvSpPr>
        <p:spPr>
          <a:xfrm>
            <a:off x="4846320" y="2651760"/>
            <a:ext cx="365760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Watch List</a:t>
            </a:r>
            <a:endParaRPr lang="en-US" sz="1300" dirty="0"/>
          </a:p>
        </p:txBody>
      </p:sp>
      <p:sp>
        <p:nvSpPr>
          <p:cNvPr id="22" name="Text 20"/>
          <p:cNvSpPr/>
          <p:nvPr/>
        </p:nvSpPr>
        <p:spPr>
          <a:xfrm>
            <a:off x="4846320" y="297180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Clic-droit variable → Watch</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Voir sa valeur en temps réel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Méthodologie de debugging structuré</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M09 — Debugging</a:t>
            </a:r>
            <a:endParaRPr lang="en-US" sz="900" dirty="0"/>
          </a:p>
        </p:txBody>
      </p:sp>
      <p:sp>
        <p:nvSpPr>
          <p:cNvPr id="7" name="Shape 5"/>
          <p:cNvSpPr/>
          <p:nvPr/>
        </p:nvSpPr>
        <p:spPr>
          <a:xfrm>
            <a:off x="457200" y="1005840"/>
            <a:ext cx="457200" cy="457200"/>
          </a:xfrm>
          <a:prstGeom prst="rect">
            <a:avLst/>
          </a:prstGeom>
          <a:solidFill>
            <a:srgbClr val="EF4444"/>
          </a:solidFill>
          <a:ln/>
          <a:effectLst>
            <a:outerShdw sx="100000" sy="100000" kx="0" ky="0" algn="bl" rotWithShape="0" blurRad="101600" dist="38100" dir="8100000">
              <a:srgbClr val="000000">
                <a:alpha val="12000"/>
              </a:srgbClr>
            </a:outerShdw>
          </a:effectLst>
        </p:spPr>
      </p:sp>
      <p:sp>
        <p:nvSpPr>
          <p:cNvPr id="8" name="Text 6"/>
          <p:cNvSpPr/>
          <p:nvPr/>
        </p:nvSpPr>
        <p:spPr>
          <a:xfrm>
            <a:off x="457200" y="1005840"/>
            <a:ext cx="45720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9" name="Text 7"/>
          <p:cNvSpPr/>
          <p:nvPr/>
        </p:nvSpPr>
        <p:spPr>
          <a:xfrm>
            <a:off x="1097280" y="1005840"/>
            <a:ext cx="4572000" cy="4572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Lire le message d'erreur</a:t>
            </a:r>
            <a:endParaRPr lang="en-US" sz="1400" dirty="0"/>
          </a:p>
        </p:txBody>
      </p:sp>
      <p:sp>
        <p:nvSpPr>
          <p:cNvPr id="10" name="Shape 8"/>
          <p:cNvSpPr/>
          <p:nvPr/>
        </p:nvSpPr>
        <p:spPr>
          <a:xfrm>
            <a:off x="457200" y="1572768"/>
            <a:ext cx="457200" cy="457200"/>
          </a:xfrm>
          <a:prstGeom prst="rect">
            <a:avLst/>
          </a:prstGeom>
          <a:solidFill>
            <a:srgbClr val="F97316"/>
          </a:solidFill>
          <a:ln/>
          <a:effectLst>
            <a:outerShdw sx="100000" sy="100000" kx="0" ky="0" algn="bl" rotWithShape="0" blurRad="101600" dist="38100" dir="8100000">
              <a:srgbClr val="000000">
                <a:alpha val="12000"/>
              </a:srgbClr>
            </a:outerShdw>
          </a:effectLst>
        </p:spPr>
      </p:sp>
      <p:sp>
        <p:nvSpPr>
          <p:cNvPr id="11" name="Text 9"/>
          <p:cNvSpPr/>
          <p:nvPr/>
        </p:nvSpPr>
        <p:spPr>
          <a:xfrm>
            <a:off x="457200" y="1572768"/>
            <a:ext cx="45720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2" name="Text 10"/>
          <p:cNvSpPr/>
          <p:nvPr/>
        </p:nvSpPr>
        <p:spPr>
          <a:xfrm>
            <a:off x="1097280" y="1572768"/>
            <a:ext cx="4572000" cy="4572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Reproduire systématiquement</a:t>
            </a:r>
            <a:endParaRPr lang="en-US" sz="1400" dirty="0"/>
          </a:p>
        </p:txBody>
      </p:sp>
      <p:sp>
        <p:nvSpPr>
          <p:cNvPr id="13" name="Shape 11"/>
          <p:cNvSpPr/>
          <p:nvPr/>
        </p:nvSpPr>
        <p:spPr>
          <a:xfrm>
            <a:off x="457200" y="2139696"/>
            <a:ext cx="457200" cy="457200"/>
          </a:xfrm>
          <a:prstGeom prst="rect">
            <a:avLst/>
          </a:prstGeom>
          <a:solidFill>
            <a:srgbClr val="F59E0B"/>
          </a:solidFill>
          <a:ln/>
          <a:effectLst>
            <a:outerShdw sx="100000" sy="100000" kx="0" ky="0" algn="bl" rotWithShape="0" blurRad="101600" dist="38100" dir="8100000">
              <a:srgbClr val="000000">
                <a:alpha val="12000"/>
              </a:srgbClr>
            </a:outerShdw>
          </a:effectLst>
        </p:spPr>
      </p:sp>
      <p:sp>
        <p:nvSpPr>
          <p:cNvPr id="14" name="Text 12"/>
          <p:cNvSpPr/>
          <p:nvPr/>
        </p:nvSpPr>
        <p:spPr>
          <a:xfrm>
            <a:off x="457200" y="2139696"/>
            <a:ext cx="45720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5" name="Text 13"/>
          <p:cNvSpPr/>
          <p:nvPr/>
        </p:nvSpPr>
        <p:spPr>
          <a:xfrm>
            <a:off x="1097280" y="2139696"/>
            <a:ext cx="4572000" cy="4572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Isoler (diviser et conquérir)</a:t>
            </a:r>
            <a:endParaRPr lang="en-US" sz="1400" dirty="0"/>
          </a:p>
        </p:txBody>
      </p:sp>
      <p:sp>
        <p:nvSpPr>
          <p:cNvPr id="16" name="Shape 14"/>
          <p:cNvSpPr/>
          <p:nvPr/>
        </p:nvSpPr>
        <p:spPr>
          <a:xfrm>
            <a:off x="457200" y="2706624"/>
            <a:ext cx="457200" cy="457200"/>
          </a:xfrm>
          <a:prstGeom prst="rect">
            <a:avLst/>
          </a:prstGeom>
          <a:solidFill>
            <a:srgbClr val="0D7377"/>
          </a:solidFill>
          <a:ln/>
          <a:effectLst>
            <a:outerShdw sx="100000" sy="100000" kx="0" ky="0" algn="bl" rotWithShape="0" blurRad="101600" dist="38100" dir="8100000">
              <a:srgbClr val="000000">
                <a:alpha val="12000"/>
              </a:srgbClr>
            </a:outerShdw>
          </a:effectLst>
        </p:spPr>
      </p:sp>
      <p:sp>
        <p:nvSpPr>
          <p:cNvPr id="17" name="Text 15"/>
          <p:cNvSpPr/>
          <p:nvPr/>
        </p:nvSpPr>
        <p:spPr>
          <a:xfrm>
            <a:off x="457200" y="2706624"/>
            <a:ext cx="45720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18" name="Text 16"/>
          <p:cNvSpPr/>
          <p:nvPr/>
        </p:nvSpPr>
        <p:spPr>
          <a:xfrm>
            <a:off x="1097280" y="2706624"/>
            <a:ext cx="4572000" cy="4572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Breakpoint AVANT le crash</a:t>
            </a:r>
            <a:endParaRPr lang="en-US" sz="1400" dirty="0"/>
          </a:p>
        </p:txBody>
      </p:sp>
      <p:sp>
        <p:nvSpPr>
          <p:cNvPr id="19" name="Shape 17"/>
          <p:cNvSpPr/>
          <p:nvPr/>
        </p:nvSpPr>
        <p:spPr>
          <a:xfrm>
            <a:off x="457200" y="3273552"/>
            <a:ext cx="457200" cy="457200"/>
          </a:xfrm>
          <a:prstGeom prst="rect">
            <a:avLst/>
          </a:prstGeom>
          <a:solidFill>
            <a:srgbClr val="14A3C7"/>
          </a:solidFill>
          <a:ln/>
          <a:effectLst>
            <a:outerShdw sx="100000" sy="100000" kx="0" ky="0" algn="bl" rotWithShape="0" blurRad="101600" dist="38100" dir="8100000">
              <a:srgbClr val="000000">
                <a:alpha val="12000"/>
              </a:srgbClr>
            </a:outerShdw>
          </a:effectLst>
        </p:spPr>
      </p:sp>
      <p:sp>
        <p:nvSpPr>
          <p:cNvPr id="20" name="Text 18"/>
          <p:cNvSpPr/>
          <p:nvPr/>
        </p:nvSpPr>
        <p:spPr>
          <a:xfrm>
            <a:off x="457200" y="3273552"/>
            <a:ext cx="45720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5</a:t>
            </a:r>
            <a:endParaRPr lang="en-US" sz="1800" dirty="0"/>
          </a:p>
        </p:txBody>
      </p:sp>
      <p:sp>
        <p:nvSpPr>
          <p:cNvPr id="21" name="Text 19"/>
          <p:cNvSpPr/>
          <p:nvPr/>
        </p:nvSpPr>
        <p:spPr>
          <a:xfrm>
            <a:off x="1097280" y="3273552"/>
            <a:ext cx="4572000" cy="4572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Observer (Step Over + Watch)</a:t>
            </a:r>
            <a:endParaRPr lang="en-US" sz="1400" dirty="0"/>
          </a:p>
        </p:txBody>
      </p:sp>
      <p:sp>
        <p:nvSpPr>
          <p:cNvPr id="22" name="Shape 20"/>
          <p:cNvSpPr/>
          <p:nvPr/>
        </p:nvSpPr>
        <p:spPr>
          <a:xfrm>
            <a:off x="457200" y="3840480"/>
            <a:ext cx="457200" cy="457200"/>
          </a:xfrm>
          <a:prstGeom prst="rect">
            <a:avLst/>
          </a:prstGeom>
          <a:solidFill>
            <a:srgbClr val="10B981"/>
          </a:solidFill>
          <a:ln/>
          <a:effectLst>
            <a:outerShdw sx="100000" sy="100000" kx="0" ky="0" algn="bl" rotWithShape="0" blurRad="101600" dist="38100" dir="8100000">
              <a:srgbClr val="000000">
                <a:alpha val="12000"/>
              </a:srgbClr>
            </a:outerShdw>
          </a:effectLst>
        </p:spPr>
      </p:sp>
      <p:sp>
        <p:nvSpPr>
          <p:cNvPr id="23" name="Text 21"/>
          <p:cNvSpPr/>
          <p:nvPr/>
        </p:nvSpPr>
        <p:spPr>
          <a:xfrm>
            <a:off x="457200" y="3840480"/>
            <a:ext cx="45720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6</a:t>
            </a:r>
            <a:endParaRPr lang="en-US" sz="1800" dirty="0"/>
          </a:p>
        </p:txBody>
      </p:sp>
      <p:sp>
        <p:nvSpPr>
          <p:cNvPr id="24" name="Text 22"/>
          <p:cNvSpPr/>
          <p:nvPr/>
        </p:nvSpPr>
        <p:spPr>
          <a:xfrm>
            <a:off x="1097280" y="3840480"/>
            <a:ext cx="4572000" cy="45720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Corriger et re-tester</a:t>
            </a:r>
            <a:endParaRPr lang="en-US" sz="1400" dirty="0"/>
          </a:p>
        </p:txBody>
      </p:sp>
      <p:sp>
        <p:nvSpPr>
          <p:cNvPr id="25" name="Shape 23"/>
          <p:cNvSpPr/>
          <p:nvPr/>
        </p:nvSpPr>
        <p:spPr>
          <a:xfrm>
            <a:off x="5943600" y="1005840"/>
            <a:ext cx="274320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5943600" y="1005840"/>
            <a:ext cx="54864" cy="1828800"/>
          </a:xfrm>
          <a:prstGeom prst="rect">
            <a:avLst/>
          </a:prstGeom>
          <a:solidFill>
            <a:srgbClr val="F59E0B"/>
          </a:solidFill>
          <a:ln/>
        </p:spPr>
      </p:sp>
      <p:sp>
        <p:nvSpPr>
          <p:cNvPr id="27" name="Text 25"/>
          <p:cNvSpPr/>
          <p:nvPr/>
        </p:nvSpPr>
        <p:spPr>
          <a:xfrm>
            <a:off x="6126480" y="1097280"/>
            <a:ext cx="246888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Rubber Duck</a:t>
            </a:r>
            <a:endParaRPr lang="en-US" sz="1300" dirty="0"/>
          </a:p>
        </p:txBody>
      </p:sp>
      <p:sp>
        <p:nvSpPr>
          <p:cNvPr id="28" name="Text 26"/>
          <p:cNvSpPr/>
          <p:nvPr/>
        </p:nvSpPr>
        <p:spPr>
          <a:xfrm>
            <a:off x="6126480" y="1417320"/>
            <a:ext cx="2468880" cy="13258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Expliquer le code à voix haute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(ou à un canard en plastique).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Le fait de verbaliser révèle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souvent le bug.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10</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Standards de Codage</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Conventions Java · Javadoc · Clean Code</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M10 — Standards de Codage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Conventions de nommage Java</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M10 — Standards</a:t>
            </a:r>
            <a:endParaRPr lang="en-US" sz="900" dirty="0"/>
          </a:p>
        </p:txBody>
      </p:sp>
      <p:sp>
        <p:nvSpPr>
          <p:cNvPr id="7" name="Shape 5"/>
          <p:cNvSpPr/>
          <p:nvPr/>
        </p:nvSpPr>
        <p:spPr>
          <a:xfrm>
            <a:off x="365760" y="100584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65760" y="1005840"/>
            <a:ext cx="54864" cy="1280160"/>
          </a:xfrm>
          <a:prstGeom prst="rect">
            <a:avLst/>
          </a:prstGeom>
          <a:solidFill>
            <a:srgbClr val="0D7377"/>
          </a:solidFill>
          <a:ln/>
        </p:spPr>
      </p:sp>
      <p:sp>
        <p:nvSpPr>
          <p:cNvPr id="9" name="Text 7"/>
          <p:cNvSpPr/>
          <p:nvPr/>
        </p:nvSpPr>
        <p:spPr>
          <a:xfrm>
            <a:off x="548640" y="1097280"/>
            <a:ext cx="365760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Classe : PascalCase</a:t>
            </a:r>
            <a:endParaRPr lang="en-US" sz="1300" dirty="0"/>
          </a:p>
        </p:txBody>
      </p:sp>
      <p:sp>
        <p:nvSpPr>
          <p:cNvPr id="10" name="Text 8"/>
          <p:cNvSpPr/>
          <p:nvPr/>
        </p:nvSpPr>
        <p:spPr>
          <a:xfrm>
            <a:off x="548640" y="141732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InventionManager</a:t>
            </a:r>
            <a:endParaRPr lang="en-US" sz="1000" dirty="0"/>
          </a:p>
        </p:txBody>
      </p:sp>
      <p:sp>
        <p:nvSpPr>
          <p:cNvPr id="11" name="Shape 9"/>
          <p:cNvSpPr/>
          <p:nvPr/>
        </p:nvSpPr>
        <p:spPr>
          <a:xfrm>
            <a:off x="4663440" y="100584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663440" y="1005840"/>
            <a:ext cx="54864" cy="1280160"/>
          </a:xfrm>
          <a:prstGeom prst="rect">
            <a:avLst/>
          </a:prstGeom>
          <a:solidFill>
            <a:srgbClr val="14A3C7"/>
          </a:solidFill>
          <a:ln/>
        </p:spPr>
      </p:sp>
      <p:sp>
        <p:nvSpPr>
          <p:cNvPr id="13" name="Text 11"/>
          <p:cNvSpPr/>
          <p:nvPr/>
        </p:nvSpPr>
        <p:spPr>
          <a:xfrm>
            <a:off x="4846320" y="1097280"/>
            <a:ext cx="3657600" cy="320040"/>
          </a:xfrm>
          <a:prstGeom prst="rect">
            <a:avLst/>
          </a:prstGeom>
          <a:noFill/>
          <a:ln/>
        </p:spPr>
        <p:txBody>
          <a:bodyPr wrap="square" lIns="0" tIns="0" rIns="0" bIns="0" rtlCol="0" anchor="ctr"/>
          <a:lstStyle/>
          <a:p>
            <a:pPr indent="0" marL="0">
              <a:buNone/>
            </a:pPr>
            <a:r>
              <a:rPr lang="en-US" sz="1300" b="1" dirty="0">
                <a:solidFill>
                  <a:srgbClr val="14A3C7"/>
                </a:solidFill>
                <a:latin typeface="Calibri" pitchFamily="34" charset="0"/>
                <a:ea typeface="Calibri" pitchFamily="34" charset="-122"/>
                <a:cs typeface="Calibri" pitchFamily="34" charset="-120"/>
              </a:rPr>
              <a:t>Méthode / Variable : camelCase</a:t>
            </a:r>
            <a:endParaRPr lang="en-US" sz="1300" dirty="0"/>
          </a:p>
        </p:txBody>
      </p:sp>
      <p:sp>
        <p:nvSpPr>
          <p:cNvPr id="14" name="Text 12"/>
          <p:cNvSpPr/>
          <p:nvPr/>
        </p:nvSpPr>
        <p:spPr>
          <a:xfrm>
            <a:off x="4846320" y="141732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calculerPrix, nomComplet</a:t>
            </a:r>
            <a:endParaRPr lang="en-US" sz="1000" dirty="0"/>
          </a:p>
        </p:txBody>
      </p:sp>
      <p:sp>
        <p:nvSpPr>
          <p:cNvPr id="15" name="Shape 13"/>
          <p:cNvSpPr/>
          <p:nvPr/>
        </p:nvSpPr>
        <p:spPr>
          <a:xfrm>
            <a:off x="365760" y="256032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365760" y="2560320"/>
            <a:ext cx="54864" cy="1280160"/>
          </a:xfrm>
          <a:prstGeom prst="rect">
            <a:avLst/>
          </a:prstGeom>
          <a:solidFill>
            <a:srgbClr val="F59E0B"/>
          </a:solidFill>
          <a:ln/>
        </p:spPr>
      </p:sp>
      <p:sp>
        <p:nvSpPr>
          <p:cNvPr id="17" name="Text 15"/>
          <p:cNvSpPr/>
          <p:nvPr/>
        </p:nvSpPr>
        <p:spPr>
          <a:xfrm>
            <a:off x="548640" y="2651760"/>
            <a:ext cx="365760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Constante : UPPER_SNAKE_CASE + final</a:t>
            </a:r>
            <a:endParaRPr lang="en-US" sz="1300" dirty="0"/>
          </a:p>
        </p:txBody>
      </p:sp>
      <p:sp>
        <p:nvSpPr>
          <p:cNvPr id="18" name="Text 16"/>
          <p:cNvSpPr/>
          <p:nvPr/>
        </p:nvSpPr>
        <p:spPr>
          <a:xfrm>
            <a:off x="548640" y="297180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MAX_SIZE, TVA_RATE</a:t>
            </a:r>
            <a:endParaRPr lang="en-US" sz="1000" dirty="0"/>
          </a:p>
        </p:txBody>
      </p:sp>
      <p:sp>
        <p:nvSpPr>
          <p:cNvPr id="19" name="Shape 17"/>
          <p:cNvSpPr/>
          <p:nvPr/>
        </p:nvSpPr>
        <p:spPr>
          <a:xfrm>
            <a:off x="4663440" y="2560320"/>
            <a:ext cx="3931920" cy="12801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4663440" y="2560320"/>
            <a:ext cx="54864" cy="1280160"/>
          </a:xfrm>
          <a:prstGeom prst="rect">
            <a:avLst/>
          </a:prstGeom>
          <a:solidFill>
            <a:srgbClr val="32E0C4"/>
          </a:solidFill>
          <a:ln/>
        </p:spPr>
      </p:sp>
      <p:sp>
        <p:nvSpPr>
          <p:cNvPr id="21" name="Text 19"/>
          <p:cNvSpPr/>
          <p:nvPr/>
        </p:nvSpPr>
        <p:spPr>
          <a:xfrm>
            <a:off x="4846320" y="2651760"/>
            <a:ext cx="3657600" cy="320040"/>
          </a:xfrm>
          <a:prstGeom prst="rect">
            <a:avLst/>
          </a:prstGeom>
          <a:noFill/>
          <a:ln/>
        </p:spPr>
        <p:txBody>
          <a:bodyPr wrap="square" lIns="0" tIns="0" rIns="0" bIns="0" rtlCol="0" anchor="ctr"/>
          <a:lstStyle/>
          <a:p>
            <a:pPr indent="0" marL="0">
              <a:buNone/>
            </a:pPr>
            <a:r>
              <a:rPr lang="en-US" sz="1300" b="1" dirty="0">
                <a:solidFill>
                  <a:srgbClr val="32E0C4"/>
                </a:solidFill>
                <a:latin typeface="Calibri" pitchFamily="34" charset="0"/>
                <a:ea typeface="Calibri" pitchFamily="34" charset="-122"/>
                <a:cs typeface="Calibri" pitchFamily="34" charset="-120"/>
              </a:rPr>
              <a:t>Package : tout en minuscules</a:t>
            </a:r>
            <a:endParaRPr lang="en-US" sz="1300" dirty="0"/>
          </a:p>
        </p:txBody>
      </p:sp>
      <p:sp>
        <p:nvSpPr>
          <p:cNvPr id="22" name="Text 20"/>
          <p:cNvSpPr/>
          <p:nvPr/>
        </p:nvSpPr>
        <p:spPr>
          <a:xfrm>
            <a:off x="4846320" y="2971800"/>
            <a:ext cx="3657600" cy="7772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com.labo.inventions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Javadoc — Documenter le code</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M10 — Standards</a:t>
            </a:r>
            <a:endParaRPr lang="en-US" sz="900" dirty="0"/>
          </a:p>
        </p:txBody>
      </p:sp>
      <p:sp>
        <p:nvSpPr>
          <p:cNvPr id="7" name="Shape 5"/>
          <p:cNvSpPr/>
          <p:nvPr/>
        </p:nvSpPr>
        <p:spPr>
          <a:xfrm>
            <a:off x="457200" y="1005840"/>
            <a:ext cx="4572000" cy="25603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297680" cy="237744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Recherche une invention par nom.</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@param nom le nom à chercher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@return l'invention, ou null</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@throws IllegalArgumentException si nom vide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public Invention rechercher(String nom)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303520" y="1005840"/>
            <a:ext cx="33832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303520" y="1005840"/>
            <a:ext cx="54864" cy="1097280"/>
          </a:xfrm>
          <a:prstGeom prst="rect">
            <a:avLst/>
          </a:prstGeom>
          <a:solidFill>
            <a:srgbClr val="10B981"/>
          </a:solidFill>
          <a:ln/>
        </p:spPr>
      </p:sp>
      <p:sp>
        <p:nvSpPr>
          <p:cNvPr id="11" name="Text 9"/>
          <p:cNvSpPr/>
          <p:nvPr/>
        </p:nvSpPr>
        <p:spPr>
          <a:xfrm>
            <a:off x="5486400" y="1097280"/>
            <a:ext cx="3108960" cy="32004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Bons commentaires</a:t>
            </a:r>
            <a:endParaRPr lang="en-US" sz="1300" dirty="0"/>
          </a:p>
        </p:txBody>
      </p:sp>
      <p:sp>
        <p:nvSpPr>
          <p:cNvPr id="12" name="Text 10"/>
          <p:cNvSpPr/>
          <p:nvPr/>
        </p:nvSpPr>
        <p:spPr>
          <a:xfrm>
            <a:off x="5486400" y="1417320"/>
            <a:ext cx="31089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Expliquent POURQUOI</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Javadoc sur les classes et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méthodes publiques</a:t>
            </a:r>
            <a:endParaRPr lang="en-US" sz="1000" dirty="0"/>
          </a:p>
        </p:txBody>
      </p:sp>
      <p:sp>
        <p:nvSpPr>
          <p:cNvPr id="13" name="Shape 11"/>
          <p:cNvSpPr/>
          <p:nvPr/>
        </p:nvSpPr>
        <p:spPr>
          <a:xfrm>
            <a:off x="5303520" y="2286000"/>
            <a:ext cx="33832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303520" y="2286000"/>
            <a:ext cx="54864" cy="1097280"/>
          </a:xfrm>
          <a:prstGeom prst="rect">
            <a:avLst/>
          </a:prstGeom>
          <a:solidFill>
            <a:srgbClr val="EF4444"/>
          </a:solidFill>
          <a:ln/>
        </p:spPr>
      </p:sp>
      <p:sp>
        <p:nvSpPr>
          <p:cNvPr id="15" name="Text 13"/>
          <p:cNvSpPr/>
          <p:nvPr/>
        </p:nvSpPr>
        <p:spPr>
          <a:xfrm>
            <a:off x="5486400" y="2377440"/>
            <a:ext cx="31089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Mauvais commentaires</a:t>
            </a:r>
            <a:endParaRPr lang="en-US" sz="1300" dirty="0"/>
          </a:p>
        </p:txBody>
      </p:sp>
      <p:sp>
        <p:nvSpPr>
          <p:cNvPr id="16" name="Text 14"/>
          <p:cNvSpPr/>
          <p:nvPr/>
        </p:nvSpPr>
        <p:spPr>
          <a:xfrm>
            <a:off x="5486400" y="2697480"/>
            <a:ext cx="31089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Expliquent l'évident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incrémente i de 1</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Code commenté laissé en place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11</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Escape Room du Code</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Boss Fight LO4 · 5 salles · Debugging + Sécurité + Standards</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M11 — Escape Room du Code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5 salles, 5 types de bugs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M11 — Escape Room</a:t>
            </a:r>
            <a:endParaRPr lang="en-US" sz="900" dirty="0"/>
          </a:p>
        </p:txBody>
      </p:sp>
      <p:sp>
        <p:nvSpPr>
          <p:cNvPr id="7" name="Shape 5"/>
          <p:cNvSpPr/>
          <p:nvPr/>
        </p:nvSpPr>
        <p:spPr>
          <a:xfrm>
            <a:off x="365760" y="1097280"/>
            <a:ext cx="1554480" cy="2286000"/>
          </a:xfrm>
          <a:prstGeom prst="rect">
            <a:avLst/>
          </a:prstGeom>
          <a:solidFill>
            <a:srgbClr val="EF4444"/>
          </a:solidFill>
          <a:ln/>
          <a:effectLst>
            <a:outerShdw sx="100000" sy="100000" kx="0" ky="0" algn="bl" rotWithShape="0" blurRad="101600" dist="38100" dir="8100000">
              <a:srgbClr val="000000">
                <a:alpha val="12000"/>
              </a:srgbClr>
            </a:outerShdw>
          </a:effectLst>
        </p:spPr>
      </p:sp>
      <p:sp>
        <p:nvSpPr>
          <p:cNvPr id="8" name="Text 6"/>
          <p:cNvSpPr/>
          <p:nvPr/>
        </p:nvSpPr>
        <p:spPr>
          <a:xfrm>
            <a:off x="365760" y="1188720"/>
            <a:ext cx="1554480" cy="365760"/>
          </a:xfrm>
          <a:prstGeom prst="rect">
            <a:avLst/>
          </a:prstGeom>
          <a:noFill/>
          <a:ln/>
        </p:spPr>
        <p:txBody>
          <a:bodyPr wrap="square"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Salle 1</a:t>
            </a:r>
            <a:endParaRPr lang="en-US" sz="1000" dirty="0"/>
          </a:p>
        </p:txBody>
      </p:sp>
      <p:sp>
        <p:nvSpPr>
          <p:cNvPr id="9" name="Text 7"/>
          <p:cNvSpPr/>
          <p:nvPr/>
        </p:nvSpPr>
        <p:spPr>
          <a:xfrm>
            <a:off x="365760" y="1554480"/>
            <a:ext cx="155448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Compilation</a:t>
            </a:r>
            <a:endParaRPr lang="en-US" sz="1600" dirty="0"/>
          </a:p>
        </p:txBody>
      </p:sp>
      <p:sp>
        <p:nvSpPr>
          <p:cNvPr id="10" name="Text 8"/>
          <p:cNvSpPr/>
          <p:nvPr/>
        </p:nvSpPr>
        <p:spPr>
          <a:xfrm>
            <a:off x="457200" y="210312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Syntaxe, types, ;</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manquants</a:t>
            </a:r>
            <a:endParaRPr lang="en-US" sz="1000" dirty="0"/>
          </a:p>
        </p:txBody>
      </p:sp>
      <p:sp>
        <p:nvSpPr>
          <p:cNvPr id="11" name="Shape 9"/>
          <p:cNvSpPr/>
          <p:nvPr/>
        </p:nvSpPr>
        <p:spPr>
          <a:xfrm>
            <a:off x="2084832" y="1097280"/>
            <a:ext cx="1554480" cy="2286000"/>
          </a:xfrm>
          <a:prstGeom prst="rect">
            <a:avLst/>
          </a:prstGeom>
          <a:solidFill>
            <a:srgbClr val="F97316"/>
          </a:solidFill>
          <a:ln/>
          <a:effectLst>
            <a:outerShdw sx="100000" sy="100000" kx="0" ky="0" algn="bl" rotWithShape="0" blurRad="101600" dist="38100" dir="8100000">
              <a:srgbClr val="000000">
                <a:alpha val="12000"/>
              </a:srgbClr>
            </a:outerShdw>
          </a:effectLst>
        </p:spPr>
      </p:sp>
      <p:sp>
        <p:nvSpPr>
          <p:cNvPr id="12" name="Text 10"/>
          <p:cNvSpPr/>
          <p:nvPr/>
        </p:nvSpPr>
        <p:spPr>
          <a:xfrm>
            <a:off x="2084832" y="1188720"/>
            <a:ext cx="1554480" cy="365760"/>
          </a:xfrm>
          <a:prstGeom prst="rect">
            <a:avLst/>
          </a:prstGeom>
          <a:noFill/>
          <a:ln/>
        </p:spPr>
        <p:txBody>
          <a:bodyPr wrap="square"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Salle 2</a:t>
            </a:r>
            <a:endParaRPr lang="en-US" sz="1000" dirty="0"/>
          </a:p>
        </p:txBody>
      </p:sp>
      <p:sp>
        <p:nvSpPr>
          <p:cNvPr id="13" name="Text 11"/>
          <p:cNvSpPr/>
          <p:nvPr/>
        </p:nvSpPr>
        <p:spPr>
          <a:xfrm>
            <a:off x="2084832" y="1554480"/>
            <a:ext cx="155448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Runtime</a:t>
            </a:r>
            <a:endParaRPr lang="en-US" sz="1600" dirty="0"/>
          </a:p>
        </p:txBody>
      </p:sp>
      <p:sp>
        <p:nvSpPr>
          <p:cNvPr id="14" name="Text 12"/>
          <p:cNvSpPr/>
          <p:nvPr/>
        </p:nvSpPr>
        <p:spPr>
          <a:xfrm>
            <a:off x="2176272" y="210312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NullPointer, IndexOutOf</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Bounds, ClassCast</a:t>
            </a:r>
            <a:endParaRPr lang="en-US" sz="1000" dirty="0"/>
          </a:p>
        </p:txBody>
      </p:sp>
      <p:sp>
        <p:nvSpPr>
          <p:cNvPr id="15" name="Shape 13"/>
          <p:cNvSpPr/>
          <p:nvPr/>
        </p:nvSpPr>
        <p:spPr>
          <a:xfrm>
            <a:off x="3803904" y="1097280"/>
            <a:ext cx="1554480" cy="2286000"/>
          </a:xfrm>
          <a:prstGeom prst="rect">
            <a:avLst/>
          </a:prstGeom>
          <a:solidFill>
            <a:srgbClr val="F59E0B"/>
          </a:solidFill>
          <a:ln/>
          <a:effectLst>
            <a:outerShdw sx="100000" sy="100000" kx="0" ky="0" algn="bl" rotWithShape="0" blurRad="101600" dist="38100" dir="8100000">
              <a:srgbClr val="000000">
                <a:alpha val="12000"/>
              </a:srgbClr>
            </a:outerShdw>
          </a:effectLst>
        </p:spPr>
      </p:sp>
      <p:sp>
        <p:nvSpPr>
          <p:cNvPr id="16" name="Text 14"/>
          <p:cNvSpPr/>
          <p:nvPr/>
        </p:nvSpPr>
        <p:spPr>
          <a:xfrm>
            <a:off x="3803904" y="1188720"/>
            <a:ext cx="1554480" cy="365760"/>
          </a:xfrm>
          <a:prstGeom prst="rect">
            <a:avLst/>
          </a:prstGeom>
          <a:noFill/>
          <a:ln/>
        </p:spPr>
        <p:txBody>
          <a:bodyPr wrap="square"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Salle 3</a:t>
            </a:r>
            <a:endParaRPr lang="en-US" sz="1000" dirty="0"/>
          </a:p>
        </p:txBody>
      </p:sp>
      <p:sp>
        <p:nvSpPr>
          <p:cNvPr id="17" name="Text 15"/>
          <p:cNvSpPr/>
          <p:nvPr/>
        </p:nvSpPr>
        <p:spPr>
          <a:xfrm>
            <a:off x="3803904" y="1554480"/>
            <a:ext cx="155448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Logique</a:t>
            </a:r>
            <a:endParaRPr lang="en-US" sz="1600" dirty="0"/>
          </a:p>
        </p:txBody>
      </p:sp>
      <p:sp>
        <p:nvSpPr>
          <p:cNvPr id="18" name="Text 16"/>
          <p:cNvSpPr/>
          <p:nvPr/>
        </p:nvSpPr>
        <p:spPr>
          <a:xfrm>
            <a:off x="3895344" y="210312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Off-by-one, == vs =</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Division entière</a:t>
            </a:r>
            <a:endParaRPr lang="en-US" sz="1000" dirty="0"/>
          </a:p>
        </p:txBody>
      </p:sp>
      <p:sp>
        <p:nvSpPr>
          <p:cNvPr id="19" name="Shape 17"/>
          <p:cNvSpPr/>
          <p:nvPr/>
        </p:nvSpPr>
        <p:spPr>
          <a:xfrm>
            <a:off x="5522976" y="1097280"/>
            <a:ext cx="1554480" cy="2286000"/>
          </a:xfrm>
          <a:prstGeom prst="rect">
            <a:avLst/>
          </a:prstGeom>
          <a:solidFill>
            <a:srgbClr val="8B5CF6"/>
          </a:solidFill>
          <a:ln/>
          <a:effectLst>
            <a:outerShdw sx="100000" sy="100000" kx="0" ky="0" algn="bl" rotWithShape="0" blurRad="101600" dist="38100" dir="8100000">
              <a:srgbClr val="000000">
                <a:alpha val="12000"/>
              </a:srgbClr>
            </a:outerShdw>
          </a:effectLst>
        </p:spPr>
      </p:sp>
      <p:sp>
        <p:nvSpPr>
          <p:cNvPr id="20" name="Text 18"/>
          <p:cNvSpPr/>
          <p:nvPr/>
        </p:nvSpPr>
        <p:spPr>
          <a:xfrm>
            <a:off x="5522976" y="1188720"/>
            <a:ext cx="1554480" cy="365760"/>
          </a:xfrm>
          <a:prstGeom prst="rect">
            <a:avLst/>
          </a:prstGeom>
          <a:noFill/>
          <a:ln/>
        </p:spPr>
        <p:txBody>
          <a:bodyPr wrap="square"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Salle 4</a:t>
            </a:r>
            <a:endParaRPr lang="en-US" sz="1000" dirty="0"/>
          </a:p>
        </p:txBody>
      </p:sp>
      <p:sp>
        <p:nvSpPr>
          <p:cNvPr id="21" name="Text 19"/>
          <p:cNvSpPr/>
          <p:nvPr/>
        </p:nvSpPr>
        <p:spPr>
          <a:xfrm>
            <a:off x="5522976" y="1554480"/>
            <a:ext cx="155448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Sécurité</a:t>
            </a:r>
            <a:endParaRPr lang="en-US" sz="1600" dirty="0"/>
          </a:p>
        </p:txBody>
      </p:sp>
      <p:sp>
        <p:nvSpPr>
          <p:cNvPr id="22" name="Text 20"/>
          <p:cNvSpPr/>
          <p:nvPr/>
        </p:nvSpPr>
        <p:spPr>
          <a:xfrm>
            <a:off x="5614416" y="210312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Validation manquante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Injection, mdp en dur</a:t>
            </a:r>
            <a:endParaRPr lang="en-US" sz="1000" dirty="0"/>
          </a:p>
        </p:txBody>
      </p:sp>
      <p:sp>
        <p:nvSpPr>
          <p:cNvPr id="23" name="Shape 21"/>
          <p:cNvSpPr/>
          <p:nvPr/>
        </p:nvSpPr>
        <p:spPr>
          <a:xfrm>
            <a:off x="7242048" y="1097280"/>
            <a:ext cx="1554480" cy="2286000"/>
          </a:xfrm>
          <a:prstGeom prst="rect">
            <a:avLst/>
          </a:prstGeom>
          <a:solidFill>
            <a:srgbClr val="14A3C7"/>
          </a:solidFill>
          <a:ln/>
          <a:effectLst>
            <a:outerShdw sx="100000" sy="100000" kx="0" ky="0" algn="bl" rotWithShape="0" blurRad="101600" dist="38100" dir="8100000">
              <a:srgbClr val="000000">
                <a:alpha val="12000"/>
              </a:srgbClr>
            </a:outerShdw>
          </a:effectLst>
        </p:spPr>
      </p:sp>
      <p:sp>
        <p:nvSpPr>
          <p:cNvPr id="24" name="Text 22"/>
          <p:cNvSpPr/>
          <p:nvPr/>
        </p:nvSpPr>
        <p:spPr>
          <a:xfrm>
            <a:off x="7242048" y="1188720"/>
            <a:ext cx="1554480" cy="365760"/>
          </a:xfrm>
          <a:prstGeom prst="rect">
            <a:avLst/>
          </a:prstGeom>
          <a:noFill/>
          <a:ln/>
        </p:spPr>
        <p:txBody>
          <a:bodyPr wrap="square"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Salle 5</a:t>
            </a:r>
            <a:endParaRPr lang="en-US" sz="1000" dirty="0"/>
          </a:p>
        </p:txBody>
      </p:sp>
      <p:sp>
        <p:nvSpPr>
          <p:cNvPr id="25" name="Text 23"/>
          <p:cNvSpPr/>
          <p:nvPr/>
        </p:nvSpPr>
        <p:spPr>
          <a:xfrm>
            <a:off x="7242048" y="1554480"/>
            <a:ext cx="1554480" cy="45720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Standards</a:t>
            </a:r>
            <a:endParaRPr lang="en-US" sz="1600" dirty="0"/>
          </a:p>
        </p:txBody>
      </p:sp>
      <p:sp>
        <p:nvSpPr>
          <p:cNvPr id="26" name="Text 24"/>
          <p:cNvSpPr/>
          <p:nvPr/>
        </p:nvSpPr>
        <p:spPr>
          <a:xfrm>
            <a:off x="7333488" y="210312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Nommage, visibilité</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Pas de Javadoc</a:t>
            </a:r>
            <a:endParaRPr lang="en-US" sz="1000" dirty="0"/>
          </a:p>
        </p:txBody>
      </p:sp>
      <p:sp>
        <p:nvSpPr>
          <p:cNvPr id="27" name="Text 25"/>
          <p:cNvSpPr/>
          <p:nvPr/>
        </p:nvSpPr>
        <p:spPr>
          <a:xfrm>
            <a:off x="457200" y="3749040"/>
            <a:ext cx="8229600" cy="457200"/>
          </a:xfrm>
          <a:prstGeom prst="rect">
            <a:avLst/>
          </a:prstGeom>
          <a:noFill/>
          <a:ln/>
        </p:spPr>
        <p:txBody>
          <a:bodyPr wrap="square"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10 minutes chrono · ~15 bugs à trouver · En binôme dans Eclipse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12</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Fichiers &amp; Crypto</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File I/O · CSV · SHA-256 · try-with-resources</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M12 — Fichiers &amp; Crypto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Lire et écrire des fichiers</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M12 — Fichiers &amp; Crypto</a:t>
            </a:r>
            <a:endParaRPr lang="en-US" sz="900" dirty="0"/>
          </a:p>
        </p:txBody>
      </p:sp>
      <p:sp>
        <p:nvSpPr>
          <p:cNvPr id="7" name="Shape 5"/>
          <p:cNvSpPr/>
          <p:nvPr/>
        </p:nvSpPr>
        <p:spPr>
          <a:xfrm>
            <a:off x="457200" y="1005840"/>
            <a:ext cx="4114800" cy="164592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3840480" cy="146304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ÉCRIRE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try (PrintWriter pw = new PrintWriter(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new FileWriter("data.txt")))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pw.println("Telephone;1876;Bell");</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457200" y="2834640"/>
            <a:ext cx="4114800" cy="18288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0" name="Text 8"/>
          <p:cNvSpPr/>
          <p:nvPr/>
        </p:nvSpPr>
        <p:spPr>
          <a:xfrm>
            <a:off x="594360" y="2926080"/>
            <a:ext cx="3840480" cy="16459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LIRE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try (BufferedReader br = new BufferedReader(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new FileReader("data.txt")))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String ligne;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while ((ligne = br.readLine()) != null)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System.out.println(ligne);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4846320" y="1005840"/>
            <a:ext cx="38404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846320" y="1005840"/>
            <a:ext cx="54864" cy="1371600"/>
          </a:xfrm>
          <a:prstGeom prst="rect">
            <a:avLst/>
          </a:prstGeom>
          <a:solidFill>
            <a:srgbClr val="0D7377"/>
          </a:solidFill>
          <a:ln/>
        </p:spPr>
      </p:sp>
      <p:sp>
        <p:nvSpPr>
          <p:cNvPr id="13" name="Text 11"/>
          <p:cNvSpPr/>
          <p:nvPr/>
        </p:nvSpPr>
        <p:spPr>
          <a:xfrm>
            <a:off x="5029200" y="1097280"/>
            <a:ext cx="35661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try-with-resources</a:t>
            </a:r>
            <a:endParaRPr lang="en-US" sz="1300" dirty="0"/>
          </a:p>
        </p:txBody>
      </p:sp>
      <p:sp>
        <p:nvSpPr>
          <p:cNvPr id="14" name="Text 12"/>
          <p:cNvSpPr/>
          <p:nvPr/>
        </p:nvSpPr>
        <p:spPr>
          <a:xfrm>
            <a:off x="5029200" y="1417320"/>
            <a:ext cx="3566160" cy="8686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Le fichier se FERME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automatiquement.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Plus besoin de finally.</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C'est la façon moderne.</a:t>
            </a:r>
            <a:endParaRPr lang="en-US" sz="1000" dirty="0"/>
          </a:p>
        </p:txBody>
      </p:sp>
      <p:sp>
        <p:nvSpPr>
          <p:cNvPr id="15" name="Shape 13"/>
          <p:cNvSpPr/>
          <p:nvPr/>
        </p:nvSpPr>
        <p:spPr>
          <a:xfrm>
            <a:off x="4846320" y="2560320"/>
            <a:ext cx="3840480" cy="1371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4846320" y="2560320"/>
            <a:ext cx="54864" cy="1371600"/>
          </a:xfrm>
          <a:prstGeom prst="rect">
            <a:avLst/>
          </a:prstGeom>
          <a:solidFill>
            <a:srgbClr val="F59E0B"/>
          </a:solidFill>
          <a:ln/>
        </p:spPr>
      </p:sp>
      <p:sp>
        <p:nvSpPr>
          <p:cNvPr id="17" name="Text 15"/>
          <p:cNvSpPr/>
          <p:nvPr/>
        </p:nvSpPr>
        <p:spPr>
          <a:xfrm>
            <a:off x="5029200" y="2651760"/>
            <a:ext cx="35661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CSV = lignes + split</a:t>
            </a:r>
            <a:endParaRPr lang="en-US" sz="1300" dirty="0"/>
          </a:p>
        </p:txBody>
      </p:sp>
      <p:sp>
        <p:nvSpPr>
          <p:cNvPr id="18" name="Text 16"/>
          <p:cNvSpPr/>
          <p:nvPr/>
        </p:nvSpPr>
        <p:spPr>
          <a:xfrm>
            <a:off x="5029200" y="2971800"/>
            <a:ext cx="3566160" cy="8686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Chaque ligne = 1 enregistrement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split(";") = découper en colonnes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Première ligne = en-tête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13</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Base de Données</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JDBC · MySQL · PreparedStatement · DAO</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M13 — Base de Données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JDBC — Connexion et CRUD</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M13 — Base de Données</a:t>
            </a:r>
            <a:endParaRPr lang="en-US" sz="900" dirty="0"/>
          </a:p>
        </p:txBody>
      </p:sp>
      <p:sp>
        <p:nvSpPr>
          <p:cNvPr id="7" name="Shape 5"/>
          <p:cNvSpPr/>
          <p:nvPr/>
        </p:nvSpPr>
        <p:spPr>
          <a:xfrm>
            <a:off x="457200" y="1005840"/>
            <a:ext cx="4114800" cy="128016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3840480" cy="109728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Connexion</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String url = "jdbc:mysql://localhost:3306/labo";</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Connection conn = DriverManager</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.getConnection(url, "root", "");</a:t>
            </a:r>
            <a:endParaRPr lang="en-US" sz="1000" dirty="0"/>
          </a:p>
        </p:txBody>
      </p:sp>
      <p:sp>
        <p:nvSpPr>
          <p:cNvPr id="9" name="Shape 7"/>
          <p:cNvSpPr/>
          <p:nvPr/>
        </p:nvSpPr>
        <p:spPr>
          <a:xfrm>
            <a:off x="457200" y="2468880"/>
            <a:ext cx="4114800" cy="182880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0" name="Text 8"/>
          <p:cNvSpPr/>
          <p:nvPr/>
        </p:nvSpPr>
        <p:spPr>
          <a:xfrm>
            <a:off x="594360" y="2560320"/>
            <a:ext cx="3840480" cy="164592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INSERT avec PreparedStatement</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String sql = "INSERT INTO inventions</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(nom, annee) VALUES (?,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PreparedStatement ps = conn.prepareStatement(sql);</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ps.setString(1, "Telephone");</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ps.setInt(2, 1876);</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ps.executeUpdate();</a:t>
            </a:r>
            <a:endParaRPr lang="en-US" sz="1000" dirty="0"/>
          </a:p>
        </p:txBody>
      </p:sp>
      <p:sp>
        <p:nvSpPr>
          <p:cNvPr id="11" name="Shape 9"/>
          <p:cNvSpPr/>
          <p:nvPr/>
        </p:nvSpPr>
        <p:spPr>
          <a:xfrm>
            <a:off x="4846320" y="1005840"/>
            <a:ext cx="38404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846320" y="1005840"/>
            <a:ext cx="54864" cy="1097280"/>
          </a:xfrm>
          <a:prstGeom prst="rect">
            <a:avLst/>
          </a:prstGeom>
          <a:solidFill>
            <a:srgbClr val="EF4444"/>
          </a:solidFill>
          <a:ln/>
        </p:spPr>
      </p:sp>
      <p:sp>
        <p:nvSpPr>
          <p:cNvPr id="13" name="Text 11"/>
          <p:cNvSpPr/>
          <p:nvPr/>
        </p:nvSpPr>
        <p:spPr>
          <a:xfrm>
            <a:off x="5029200" y="1097280"/>
            <a:ext cx="35661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PreparedStatement</a:t>
            </a:r>
            <a:endParaRPr lang="en-US" sz="1300" dirty="0"/>
          </a:p>
        </p:txBody>
      </p:sp>
      <p:sp>
        <p:nvSpPr>
          <p:cNvPr id="14" name="Text 12"/>
          <p:cNvSpPr/>
          <p:nvPr/>
        </p:nvSpPr>
        <p:spPr>
          <a:xfrm>
            <a:off x="5029200" y="1417320"/>
            <a:ext cx="35661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TOUJOURS utiliser des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JAMAIS concaténer les entrées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dans le SQL → injection SQL !</a:t>
            </a:r>
            <a:endParaRPr lang="en-US" sz="1000" dirty="0"/>
          </a:p>
        </p:txBody>
      </p:sp>
      <p:sp>
        <p:nvSpPr>
          <p:cNvPr id="15" name="Shape 13"/>
          <p:cNvSpPr/>
          <p:nvPr/>
        </p:nvSpPr>
        <p:spPr>
          <a:xfrm>
            <a:off x="4846320" y="2286000"/>
            <a:ext cx="38404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4846320" y="2286000"/>
            <a:ext cx="54864" cy="1097280"/>
          </a:xfrm>
          <a:prstGeom prst="rect">
            <a:avLst/>
          </a:prstGeom>
          <a:solidFill>
            <a:srgbClr val="0D7377"/>
          </a:solidFill>
          <a:ln/>
        </p:spPr>
      </p:sp>
      <p:sp>
        <p:nvSpPr>
          <p:cNvPr id="17" name="Text 15"/>
          <p:cNvSpPr/>
          <p:nvPr/>
        </p:nvSpPr>
        <p:spPr>
          <a:xfrm>
            <a:off x="5029200" y="2377440"/>
            <a:ext cx="35661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Pattern DAO</a:t>
            </a:r>
            <a:endParaRPr lang="en-US" sz="1300" dirty="0"/>
          </a:p>
        </p:txBody>
      </p:sp>
      <p:sp>
        <p:nvSpPr>
          <p:cNvPr id="18" name="Text 16"/>
          <p:cNvSpPr/>
          <p:nvPr/>
        </p:nvSpPr>
        <p:spPr>
          <a:xfrm>
            <a:off x="5029200" y="2697480"/>
            <a:ext cx="35661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1 classe = 1 accès données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InventionDAO.getTout()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InventionDAO.ajouter(inv)</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Le Main n'écrit JAMAIS de SQL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737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548640"/>
            <a:ext cx="3657600" cy="365760"/>
          </a:xfrm>
          <a:prstGeom prst="rect">
            <a:avLst/>
          </a:prstGeom>
          <a:noFill/>
          <a:ln/>
        </p:spPr>
        <p:txBody>
          <a:bodyPr wrap="square" rtlCol="0" anchor="ctr"/>
          <a:lstStyle/>
          <a:p>
            <a:pPr indent="0" marL="0">
              <a:buNone/>
            </a:pPr>
            <a:r>
              <a:rPr lang="en-US" sz="1200" b="1" spc="600" kern="0" dirty="0">
                <a:solidFill>
                  <a:srgbClr val="32E0C4"/>
                </a:solidFill>
                <a:latin typeface="Consolas" pitchFamily="34" charset="0"/>
                <a:ea typeface="Consolas" pitchFamily="34" charset="-122"/>
                <a:cs typeface="Consolas" pitchFamily="34" charset="-120"/>
              </a:rPr>
              <a:t>MODULE 14</a:t>
            </a:r>
            <a:endParaRPr lang="en-US" sz="1200" dirty="0"/>
          </a:p>
        </p:txBody>
      </p:sp>
      <p:pic>
        <p:nvPicPr>
          <p:cNvPr id="4" name="Image 0" descr="preencoded.png">    </p:cNvPr>
          <p:cNvPicPr>
            <a:picLocks noChangeAspect="1"/>
          </p:cNvPicPr>
          <p:nvPr/>
        </p:nvPicPr>
        <p:blipFill>
          <a:blip r:embed="rId1"/>
          <a:stretch>
            <a:fillRect/>
          </a:stretch>
        </p:blipFill>
        <p:spPr>
          <a:xfrm>
            <a:off x="7772400" y="731520"/>
            <a:ext cx="914400" cy="914400"/>
          </a:xfrm>
          <a:prstGeom prst="rect">
            <a:avLst/>
          </a:prstGeom>
        </p:spPr>
      </p:pic>
      <p:sp>
        <p:nvSpPr>
          <p:cNvPr id="5" name="Text 2"/>
          <p:cNvSpPr/>
          <p:nvPr/>
        </p:nvSpPr>
        <p:spPr>
          <a:xfrm>
            <a:off x="548640" y="1371600"/>
            <a:ext cx="6858000" cy="10972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Swing &amp; Events</a:t>
            </a:r>
            <a:endParaRPr lang="en-US" sz="3600" dirty="0"/>
          </a:p>
        </p:txBody>
      </p:sp>
      <p:sp>
        <p:nvSpPr>
          <p:cNvPr id="6" name="Text 3"/>
          <p:cNvSpPr/>
          <p:nvPr/>
        </p:nvSpPr>
        <p:spPr>
          <a:xfrm>
            <a:off x="548640" y="2560320"/>
            <a:ext cx="6858000" cy="640080"/>
          </a:xfrm>
          <a:prstGeom prst="rect">
            <a:avLst/>
          </a:prstGeom>
          <a:noFill/>
          <a:ln/>
        </p:spPr>
        <p:txBody>
          <a:bodyPr wrap="square" rtlCol="0" anchor="ctr"/>
          <a:lstStyle/>
          <a:p>
            <a:pPr indent="0" marL="0">
              <a:buNone/>
            </a:pPr>
            <a:r>
              <a:rPr lang="en-US" sz="1600" dirty="0">
                <a:solidFill>
                  <a:srgbClr val="E8F8F5"/>
                </a:solidFill>
                <a:latin typeface="Calibri" pitchFamily="34" charset="0"/>
                <a:ea typeface="Calibri" pitchFamily="34" charset="-122"/>
                <a:cs typeface="Calibri" pitchFamily="34" charset="-120"/>
              </a:rPr>
              <a:t>JFrame · JButton · ActionListener · Layouts · GUI</a:t>
            </a:r>
            <a:endParaRPr lang="en-US" sz="1600" dirty="0"/>
          </a:p>
        </p:txBody>
      </p:sp>
      <p:sp>
        <p:nvSpPr>
          <p:cNvPr id="7" name="Shape 4"/>
          <p:cNvSpPr/>
          <p:nvPr/>
        </p:nvSpPr>
        <p:spPr>
          <a:xfrm>
            <a:off x="0" y="4754880"/>
            <a:ext cx="9144000" cy="388620"/>
          </a:xfrm>
          <a:prstGeom prst="rect">
            <a:avLst/>
          </a:prstGeom>
          <a:solidFill>
            <a:srgbClr val="0F172A"/>
          </a:solidFill>
          <a:ln/>
        </p:spPr>
      </p:sp>
      <p:sp>
        <p:nvSpPr>
          <p:cNvPr id="8" name="Text 5"/>
          <p:cNvSpPr/>
          <p:nvPr/>
        </p:nvSpPr>
        <p:spPr>
          <a:xfrm>
            <a:off x="548640" y="4754880"/>
            <a:ext cx="7315200" cy="3886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M14 — Swing &amp; Events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Paradigme event-driven vs procédural vs OOP</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M14 — Swing &amp; Events</a:t>
            </a:r>
            <a:endParaRPr lang="en-US" sz="900" dirty="0"/>
          </a:p>
        </p:txBody>
      </p:sp>
      <p:sp>
        <p:nvSpPr>
          <p:cNvPr id="7" name="Shape 5"/>
          <p:cNvSpPr/>
          <p:nvPr/>
        </p:nvSpPr>
        <p:spPr>
          <a:xfrm>
            <a:off x="365760" y="1097280"/>
            <a:ext cx="2651760" cy="1828800"/>
          </a:xfrm>
          <a:prstGeom prst="rect">
            <a:avLst/>
          </a:prstGeom>
          <a:solidFill>
            <a:srgbClr val="0D7377"/>
          </a:solidFill>
          <a:ln/>
          <a:effectLst>
            <a:outerShdw sx="100000" sy="100000" kx="0" ky="0" algn="bl" rotWithShape="0" blurRad="101600" dist="38100" dir="8100000">
              <a:srgbClr val="000000">
                <a:alpha val="12000"/>
              </a:srgbClr>
            </a:outerShdw>
          </a:effectLst>
        </p:spPr>
      </p:sp>
      <p:sp>
        <p:nvSpPr>
          <p:cNvPr id="8" name="Text 6"/>
          <p:cNvSpPr/>
          <p:nvPr/>
        </p:nvSpPr>
        <p:spPr>
          <a:xfrm>
            <a:off x="365760" y="118872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Procédural</a:t>
            </a:r>
            <a:endParaRPr lang="en-US" sz="1800" dirty="0"/>
          </a:p>
        </p:txBody>
      </p:sp>
      <p:sp>
        <p:nvSpPr>
          <p:cNvPr id="9" name="Text 7"/>
          <p:cNvSpPr/>
          <p:nvPr/>
        </p:nvSpPr>
        <p:spPr>
          <a:xfrm>
            <a:off x="502920" y="1645920"/>
            <a:ext cx="2377440" cy="10972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Le programme dicte l'ordre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Ligne 1 → 2 → 3</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Fonctions séquentielles</a:t>
            </a:r>
            <a:endParaRPr lang="en-US" sz="1100" dirty="0"/>
          </a:p>
        </p:txBody>
      </p:sp>
      <p:sp>
        <p:nvSpPr>
          <p:cNvPr id="10" name="Shape 8"/>
          <p:cNvSpPr/>
          <p:nvPr/>
        </p:nvSpPr>
        <p:spPr>
          <a:xfrm>
            <a:off x="3246120" y="1097280"/>
            <a:ext cx="2651760" cy="1828800"/>
          </a:xfrm>
          <a:prstGeom prst="rect">
            <a:avLst/>
          </a:prstGeom>
          <a:solidFill>
            <a:srgbClr val="14A3C7"/>
          </a:solidFill>
          <a:ln/>
          <a:effectLst>
            <a:outerShdw sx="100000" sy="100000" kx="0" ky="0" algn="bl" rotWithShape="0" blurRad="101600" dist="38100" dir="8100000">
              <a:srgbClr val="000000">
                <a:alpha val="12000"/>
              </a:srgbClr>
            </a:outerShdw>
          </a:effectLst>
        </p:spPr>
      </p:sp>
      <p:sp>
        <p:nvSpPr>
          <p:cNvPr id="11" name="Text 9"/>
          <p:cNvSpPr/>
          <p:nvPr/>
        </p:nvSpPr>
        <p:spPr>
          <a:xfrm>
            <a:off x="3246120" y="118872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OOP</a:t>
            </a:r>
            <a:endParaRPr lang="en-US" sz="1800" dirty="0"/>
          </a:p>
        </p:txBody>
      </p:sp>
      <p:sp>
        <p:nvSpPr>
          <p:cNvPr id="12" name="Text 10"/>
          <p:cNvSpPr/>
          <p:nvPr/>
        </p:nvSpPr>
        <p:spPr>
          <a:xfrm>
            <a:off x="3383280" y="1645920"/>
            <a:ext cx="2377440" cy="10972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Objets qui interagissent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Attributs + méthodes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Encapsulation, héritage</a:t>
            </a:r>
            <a:endParaRPr lang="en-US" sz="1100" dirty="0"/>
          </a:p>
        </p:txBody>
      </p:sp>
      <p:sp>
        <p:nvSpPr>
          <p:cNvPr id="13" name="Shape 11"/>
          <p:cNvSpPr/>
          <p:nvPr/>
        </p:nvSpPr>
        <p:spPr>
          <a:xfrm>
            <a:off x="6126480" y="1097280"/>
            <a:ext cx="2651760" cy="1828800"/>
          </a:xfrm>
          <a:prstGeom prst="rect">
            <a:avLst/>
          </a:prstGeom>
          <a:solidFill>
            <a:srgbClr val="EF4444"/>
          </a:solidFill>
          <a:ln/>
          <a:effectLst>
            <a:outerShdw sx="100000" sy="100000" kx="0" ky="0" algn="bl" rotWithShape="0" blurRad="101600" dist="38100" dir="8100000">
              <a:srgbClr val="000000">
                <a:alpha val="12000"/>
              </a:srgbClr>
            </a:outerShdw>
          </a:effectLst>
        </p:spPr>
      </p:sp>
      <p:sp>
        <p:nvSpPr>
          <p:cNvPr id="14" name="Text 12"/>
          <p:cNvSpPr/>
          <p:nvPr/>
        </p:nvSpPr>
        <p:spPr>
          <a:xfrm>
            <a:off x="6126480" y="118872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Event-driven</a:t>
            </a:r>
            <a:endParaRPr lang="en-US" sz="1800" dirty="0"/>
          </a:p>
        </p:txBody>
      </p:sp>
      <p:sp>
        <p:nvSpPr>
          <p:cNvPr id="15" name="Text 13"/>
          <p:cNvSpPr/>
          <p:nvPr/>
        </p:nvSpPr>
        <p:spPr>
          <a:xfrm>
            <a:off x="6263640" y="1645920"/>
            <a:ext cx="2377440" cy="10972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Le programme ATTEND</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L'utilisateur AGIT (clic)</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Le Listener RÉAGIT</a:t>
            </a:r>
            <a:endParaRPr lang="en-US" sz="1100" dirty="0"/>
          </a:p>
        </p:txBody>
      </p:sp>
      <p:sp>
        <p:nvSpPr>
          <p:cNvPr id="16" name="Text 14"/>
          <p:cNvSpPr/>
          <p:nvPr/>
        </p:nvSpPr>
        <p:spPr>
          <a:xfrm>
            <a:off x="457200" y="3291840"/>
            <a:ext cx="8229600" cy="457200"/>
          </a:xfrm>
          <a:prstGeom prst="rect">
            <a:avLst/>
          </a:prstGeom>
          <a:noFill/>
          <a:ln/>
        </p:spPr>
        <p:txBody>
          <a:bodyPr wrap="square"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P3 exige de discuter les 3 paradigmes avec du code. M14 fournit le code event-driven.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Shape 1"/>
          <p:cNvSpPr/>
          <p:nvPr/>
        </p:nvSpPr>
        <p:spPr>
          <a:xfrm>
            <a:off x="0" y="54864"/>
            <a:ext cx="9144000" cy="685800"/>
          </a:xfrm>
          <a:prstGeom prst="rect">
            <a:avLst/>
          </a:prstGeom>
          <a:solidFill>
            <a:srgbClr val="F1F5F9"/>
          </a:solidFill>
          <a:ln/>
        </p:spPr>
      </p:sp>
      <p:sp>
        <p:nvSpPr>
          <p:cNvPr id="4" name="Text 2"/>
          <p:cNvSpPr/>
          <p:nvPr/>
        </p:nvSpPr>
        <p:spPr>
          <a:xfrm>
            <a:off x="548640" y="109728"/>
            <a:ext cx="7315200" cy="59436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ActionListener — Le cœur de l'event-driven</a:t>
            </a:r>
            <a:endParaRPr lang="en-US" sz="2200" dirty="0"/>
          </a:p>
        </p:txBody>
      </p:sp>
      <p:sp>
        <p:nvSpPr>
          <p:cNvPr id="5" name="Shape 3"/>
          <p:cNvSpPr/>
          <p:nvPr/>
        </p:nvSpPr>
        <p:spPr>
          <a:xfrm>
            <a:off x="0" y="4754880"/>
            <a:ext cx="9144000" cy="388620"/>
          </a:xfrm>
          <a:prstGeom prst="rect">
            <a:avLst/>
          </a:prstGeom>
          <a:solidFill>
            <a:srgbClr val="0F172A"/>
          </a:solidFill>
          <a:ln/>
        </p:spPr>
      </p:sp>
      <p:sp>
        <p:nvSpPr>
          <p:cNvPr id="6" name="Text 4"/>
          <p:cNvSpPr/>
          <p:nvPr/>
        </p:nvSpPr>
        <p:spPr>
          <a:xfrm>
            <a:off x="548640" y="4754880"/>
            <a:ext cx="7315200" cy="3886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M14 — Swing &amp; Events</a:t>
            </a:r>
            <a:endParaRPr lang="en-US" sz="900" dirty="0"/>
          </a:p>
        </p:txBody>
      </p:sp>
      <p:sp>
        <p:nvSpPr>
          <p:cNvPr id="7" name="Shape 5"/>
          <p:cNvSpPr/>
          <p:nvPr/>
        </p:nvSpPr>
        <p:spPr>
          <a:xfrm>
            <a:off x="457200" y="1005840"/>
            <a:ext cx="4572000" cy="23774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097280"/>
            <a:ext cx="4297680" cy="2194560"/>
          </a:xfrm>
          <a:prstGeom prst="rect">
            <a:avLst/>
          </a:prstGeom>
          <a:noFill/>
          <a:ln/>
        </p:spPr>
        <p:txBody>
          <a:bodyPr wrap="square" rtlCol="0" anchor="t"/>
          <a:lstStyle/>
          <a:p>
            <a:pPr indent="0" marL="0">
              <a:buNone/>
            </a:pPr>
            <a:r>
              <a:rPr lang="en-US" sz="1000" dirty="0">
                <a:solidFill>
                  <a:srgbClr val="32E0C4"/>
                </a:solidFill>
                <a:latin typeface="Consolas" pitchFamily="34" charset="0"/>
                <a:ea typeface="Consolas" pitchFamily="34" charset="-122"/>
                <a:cs typeface="Consolas" pitchFamily="34" charset="-120"/>
              </a:rPr>
              <a:t>// Compteur avec bouton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JButton btnPlus = new JButton(" +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JLabel lblCount = new JLabel("0");</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int[] count = {0};</a:t>
            </a:r>
            <a:endParaRPr lang="en-US" sz="1000" dirty="0"/>
          </a:p>
          <a:p>
            <a:pPr indent="0" marL="0">
              <a:buNone/>
            </a:pP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btnPlus.addActionListener(e -&gt; {</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count[0]++;</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    lblCount.setText(String.valueOf(count[0]));</a:t>
            </a:r>
            <a:endParaRPr lang="en-US" sz="1000" dirty="0"/>
          </a:p>
          <a:p>
            <a:pPr indent="0" marL="0">
              <a:buNone/>
            </a:pPr>
            <a:r>
              <a:rPr lang="en-US" sz="1000" dirty="0">
                <a:solidFill>
                  <a:srgbClr val="32E0C4"/>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5303520" y="1005840"/>
            <a:ext cx="33832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5303520" y="1005840"/>
            <a:ext cx="54864" cy="1097280"/>
          </a:xfrm>
          <a:prstGeom prst="rect">
            <a:avLst/>
          </a:prstGeom>
          <a:solidFill>
            <a:srgbClr val="0D7377"/>
          </a:solidFill>
          <a:ln/>
        </p:spPr>
      </p:sp>
      <p:sp>
        <p:nvSpPr>
          <p:cNvPr id="11" name="Text 9"/>
          <p:cNvSpPr/>
          <p:nvPr/>
        </p:nvSpPr>
        <p:spPr>
          <a:xfrm>
            <a:off x="5486400" y="1097280"/>
            <a:ext cx="3108960" cy="320040"/>
          </a:xfrm>
          <a:prstGeom prst="rect">
            <a:avLst/>
          </a:prstGeom>
          <a:noFill/>
          <a:ln/>
        </p:spPr>
        <p:txBody>
          <a:bodyPr wrap="square" lIns="0" tIns="0" rIns="0" bIns="0" rtlCol="0" anchor="ctr"/>
          <a:lstStyle/>
          <a:p>
            <a:pPr indent="0" marL="0">
              <a:buNone/>
            </a:pPr>
            <a:r>
              <a:rPr lang="en-US" sz="1300" b="1" dirty="0">
                <a:solidFill>
                  <a:srgbClr val="0D7377"/>
                </a:solidFill>
                <a:latin typeface="Calibri" pitchFamily="34" charset="0"/>
                <a:ea typeface="Calibri" pitchFamily="34" charset="-122"/>
                <a:cs typeface="Calibri" pitchFamily="34" charset="-120"/>
              </a:rPr>
              <a:t>ActionListener</a:t>
            </a:r>
            <a:endParaRPr lang="en-US" sz="1300" dirty="0"/>
          </a:p>
        </p:txBody>
      </p:sp>
      <p:sp>
        <p:nvSpPr>
          <p:cNvPr id="12" name="Text 10"/>
          <p:cNvSpPr/>
          <p:nvPr/>
        </p:nvSpPr>
        <p:spPr>
          <a:xfrm>
            <a:off x="5486400" y="1417320"/>
            <a:ext cx="31089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Interface avec 1 méthode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actionPerformed(ActionEvent e)</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Lambda = version courte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 -&gt; { ... }</a:t>
            </a:r>
            <a:endParaRPr lang="en-US" sz="1000" dirty="0"/>
          </a:p>
        </p:txBody>
      </p:sp>
      <p:sp>
        <p:nvSpPr>
          <p:cNvPr id="13" name="Shape 11"/>
          <p:cNvSpPr/>
          <p:nvPr/>
        </p:nvSpPr>
        <p:spPr>
          <a:xfrm>
            <a:off x="5303520" y="2286000"/>
            <a:ext cx="3383280" cy="1097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5303520" y="2286000"/>
            <a:ext cx="54864" cy="1097280"/>
          </a:xfrm>
          <a:prstGeom prst="rect">
            <a:avLst/>
          </a:prstGeom>
          <a:solidFill>
            <a:srgbClr val="F59E0B"/>
          </a:solidFill>
          <a:ln/>
        </p:spPr>
      </p:sp>
      <p:sp>
        <p:nvSpPr>
          <p:cNvPr id="15" name="Text 13"/>
          <p:cNvSpPr/>
          <p:nvPr/>
        </p:nvSpPr>
        <p:spPr>
          <a:xfrm>
            <a:off x="5486400" y="2377440"/>
            <a:ext cx="310896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Layouts</a:t>
            </a:r>
            <a:endParaRPr lang="en-US" sz="1300" dirty="0"/>
          </a:p>
        </p:txBody>
      </p:sp>
      <p:sp>
        <p:nvSpPr>
          <p:cNvPr id="16" name="Text 14"/>
          <p:cNvSpPr/>
          <p:nvPr/>
        </p:nvSpPr>
        <p:spPr>
          <a:xfrm>
            <a:off x="5486400" y="2697480"/>
            <a:ext cx="3108960" cy="59436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FlowLayout : gauche → droite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BorderLayout : N, S, E, W, C</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GridLayout : grille régulière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E0C4"/>
          </a:solidFill>
          <a:ln/>
        </p:spPr>
      </p:sp>
      <p:sp>
        <p:nvSpPr>
          <p:cNvPr id="3" name="Text 1"/>
          <p:cNvSpPr/>
          <p:nvPr/>
        </p:nvSpPr>
        <p:spPr>
          <a:xfrm>
            <a:off x="548640" y="274320"/>
            <a:ext cx="7315200" cy="64008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Récapitulatif M09-M14</a:t>
            </a:r>
            <a:endParaRPr lang="en-US" sz="2800" dirty="0"/>
          </a:p>
        </p:txBody>
      </p:sp>
      <p:sp>
        <p:nvSpPr>
          <p:cNvPr id="4" name="Shape 2"/>
          <p:cNvSpPr/>
          <p:nvPr/>
        </p:nvSpPr>
        <p:spPr>
          <a:xfrm>
            <a:off x="365760" y="1188720"/>
            <a:ext cx="2651760" cy="1554480"/>
          </a:xfrm>
          <a:prstGeom prst="rect">
            <a:avLst/>
          </a:prstGeom>
          <a:solidFill>
            <a:srgbClr val="EF4444"/>
          </a:solidFill>
          <a:ln/>
          <a:effectLst>
            <a:outerShdw sx="100000" sy="100000" kx="0" ky="0" algn="bl" rotWithShape="0" blurRad="101600" dist="38100" dir="8100000">
              <a:srgbClr val="000000">
                <a:alpha val="12000"/>
              </a:srgbClr>
            </a:outerShdw>
          </a:effectLst>
        </p:spPr>
      </p:sp>
      <p:sp>
        <p:nvSpPr>
          <p:cNvPr id="5" name="Text 3"/>
          <p:cNvSpPr/>
          <p:nvPr/>
        </p:nvSpPr>
        <p:spPr>
          <a:xfrm>
            <a:off x="365760" y="1280160"/>
            <a:ext cx="2651760" cy="32004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M09</a:t>
            </a:r>
            <a:endParaRPr lang="en-US" sz="1100" dirty="0"/>
          </a:p>
        </p:txBody>
      </p:sp>
      <p:sp>
        <p:nvSpPr>
          <p:cNvPr id="6" name="Text 4"/>
          <p:cNvSpPr/>
          <p:nvPr/>
        </p:nvSpPr>
        <p:spPr>
          <a:xfrm>
            <a:off x="365760" y="160020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Debugging</a:t>
            </a:r>
            <a:endParaRPr lang="en-US" sz="1800" dirty="0"/>
          </a:p>
        </p:txBody>
      </p:sp>
      <p:sp>
        <p:nvSpPr>
          <p:cNvPr id="7" name="Text 5"/>
          <p:cNvSpPr/>
          <p:nvPr/>
        </p:nvSpPr>
        <p:spPr>
          <a:xfrm>
            <a:off x="365760" y="2148840"/>
            <a:ext cx="265176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LO4 P5 M4</a:t>
            </a:r>
            <a:endParaRPr lang="en-US" sz="1000" dirty="0"/>
          </a:p>
        </p:txBody>
      </p:sp>
      <p:sp>
        <p:nvSpPr>
          <p:cNvPr id="8" name="Shape 6"/>
          <p:cNvSpPr/>
          <p:nvPr/>
        </p:nvSpPr>
        <p:spPr>
          <a:xfrm>
            <a:off x="3246120" y="1188720"/>
            <a:ext cx="2651760" cy="1554480"/>
          </a:xfrm>
          <a:prstGeom prst="rect">
            <a:avLst/>
          </a:prstGeom>
          <a:solidFill>
            <a:srgbClr val="0D7377"/>
          </a:solidFill>
          <a:ln/>
          <a:effectLst>
            <a:outerShdw sx="100000" sy="100000" kx="0" ky="0" algn="bl" rotWithShape="0" blurRad="101600" dist="38100" dir="8100000">
              <a:srgbClr val="000000">
                <a:alpha val="12000"/>
              </a:srgbClr>
            </a:outerShdw>
          </a:effectLst>
        </p:spPr>
      </p:sp>
      <p:sp>
        <p:nvSpPr>
          <p:cNvPr id="9" name="Text 7"/>
          <p:cNvSpPr/>
          <p:nvPr/>
        </p:nvSpPr>
        <p:spPr>
          <a:xfrm>
            <a:off x="3246120" y="1280160"/>
            <a:ext cx="2651760" cy="32004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M10</a:t>
            </a:r>
            <a:endParaRPr lang="en-US" sz="1100" dirty="0"/>
          </a:p>
        </p:txBody>
      </p:sp>
      <p:sp>
        <p:nvSpPr>
          <p:cNvPr id="10" name="Text 8"/>
          <p:cNvSpPr/>
          <p:nvPr/>
        </p:nvSpPr>
        <p:spPr>
          <a:xfrm>
            <a:off x="3246120" y="160020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Standards</a:t>
            </a:r>
            <a:endParaRPr lang="en-US" sz="1800" dirty="0"/>
          </a:p>
        </p:txBody>
      </p:sp>
      <p:sp>
        <p:nvSpPr>
          <p:cNvPr id="11" name="Text 9"/>
          <p:cNvSpPr/>
          <p:nvPr/>
        </p:nvSpPr>
        <p:spPr>
          <a:xfrm>
            <a:off x="3246120" y="2148840"/>
            <a:ext cx="265176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LO4 P6 D4</a:t>
            </a:r>
            <a:endParaRPr lang="en-US" sz="1000" dirty="0"/>
          </a:p>
        </p:txBody>
      </p:sp>
      <p:sp>
        <p:nvSpPr>
          <p:cNvPr id="12" name="Shape 10"/>
          <p:cNvSpPr/>
          <p:nvPr/>
        </p:nvSpPr>
        <p:spPr>
          <a:xfrm>
            <a:off x="6126480" y="1188720"/>
            <a:ext cx="2651760" cy="1554480"/>
          </a:xfrm>
          <a:prstGeom prst="rect">
            <a:avLst/>
          </a:prstGeom>
          <a:solidFill>
            <a:srgbClr val="8B5CF6"/>
          </a:solidFill>
          <a:ln/>
          <a:effectLst>
            <a:outerShdw sx="100000" sy="100000" kx="0" ky="0" algn="bl" rotWithShape="0" blurRad="101600" dist="38100" dir="8100000">
              <a:srgbClr val="000000">
                <a:alpha val="12000"/>
              </a:srgbClr>
            </a:outerShdw>
          </a:effectLst>
        </p:spPr>
      </p:sp>
      <p:sp>
        <p:nvSpPr>
          <p:cNvPr id="13" name="Text 11"/>
          <p:cNvSpPr/>
          <p:nvPr/>
        </p:nvSpPr>
        <p:spPr>
          <a:xfrm>
            <a:off x="6126480" y="1280160"/>
            <a:ext cx="2651760" cy="32004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M11</a:t>
            </a:r>
            <a:endParaRPr lang="en-US" sz="1100" dirty="0"/>
          </a:p>
        </p:txBody>
      </p:sp>
      <p:sp>
        <p:nvSpPr>
          <p:cNvPr id="14" name="Text 12"/>
          <p:cNvSpPr/>
          <p:nvPr/>
        </p:nvSpPr>
        <p:spPr>
          <a:xfrm>
            <a:off x="6126480" y="160020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Escape Room</a:t>
            </a:r>
            <a:endParaRPr lang="en-US" sz="1800" dirty="0"/>
          </a:p>
        </p:txBody>
      </p:sp>
      <p:sp>
        <p:nvSpPr>
          <p:cNvPr id="15" name="Text 13"/>
          <p:cNvSpPr/>
          <p:nvPr/>
        </p:nvSpPr>
        <p:spPr>
          <a:xfrm>
            <a:off x="6126480" y="2148840"/>
            <a:ext cx="265176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LO4 complet</a:t>
            </a:r>
            <a:endParaRPr lang="en-US" sz="1000" dirty="0"/>
          </a:p>
        </p:txBody>
      </p:sp>
      <p:sp>
        <p:nvSpPr>
          <p:cNvPr id="16" name="Shape 14"/>
          <p:cNvSpPr/>
          <p:nvPr/>
        </p:nvSpPr>
        <p:spPr>
          <a:xfrm>
            <a:off x="365760" y="3017520"/>
            <a:ext cx="2651760" cy="1554480"/>
          </a:xfrm>
          <a:prstGeom prst="rect">
            <a:avLst/>
          </a:prstGeom>
          <a:solidFill>
            <a:srgbClr val="F59E0B"/>
          </a:solidFill>
          <a:ln/>
          <a:effectLst>
            <a:outerShdw sx="100000" sy="100000" kx="0" ky="0" algn="bl" rotWithShape="0" blurRad="101600" dist="38100" dir="8100000">
              <a:srgbClr val="000000">
                <a:alpha val="12000"/>
              </a:srgbClr>
            </a:outerShdw>
          </a:effectLst>
        </p:spPr>
      </p:sp>
      <p:sp>
        <p:nvSpPr>
          <p:cNvPr id="17" name="Text 15"/>
          <p:cNvSpPr/>
          <p:nvPr/>
        </p:nvSpPr>
        <p:spPr>
          <a:xfrm>
            <a:off x="365760" y="3108960"/>
            <a:ext cx="2651760" cy="32004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M12</a:t>
            </a:r>
            <a:endParaRPr lang="en-US" sz="1100" dirty="0"/>
          </a:p>
        </p:txBody>
      </p:sp>
      <p:sp>
        <p:nvSpPr>
          <p:cNvPr id="18" name="Text 16"/>
          <p:cNvSpPr/>
          <p:nvPr/>
        </p:nvSpPr>
        <p:spPr>
          <a:xfrm>
            <a:off x="365760" y="342900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Fichiers</a:t>
            </a:r>
            <a:endParaRPr lang="en-US" sz="1800" dirty="0"/>
          </a:p>
        </p:txBody>
      </p:sp>
      <p:sp>
        <p:nvSpPr>
          <p:cNvPr id="19" name="Text 17"/>
          <p:cNvSpPr/>
          <p:nvPr/>
        </p:nvSpPr>
        <p:spPr>
          <a:xfrm>
            <a:off x="365760" y="3977640"/>
            <a:ext cx="265176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LO3+</a:t>
            </a:r>
            <a:endParaRPr lang="en-US" sz="1000" dirty="0"/>
          </a:p>
        </p:txBody>
      </p:sp>
      <p:sp>
        <p:nvSpPr>
          <p:cNvPr id="20" name="Shape 18"/>
          <p:cNvSpPr/>
          <p:nvPr/>
        </p:nvSpPr>
        <p:spPr>
          <a:xfrm>
            <a:off x="3246120" y="3017520"/>
            <a:ext cx="2651760" cy="1554480"/>
          </a:xfrm>
          <a:prstGeom prst="rect">
            <a:avLst/>
          </a:prstGeom>
          <a:solidFill>
            <a:srgbClr val="14A3C7"/>
          </a:solidFill>
          <a:ln/>
          <a:effectLst>
            <a:outerShdw sx="100000" sy="100000" kx="0" ky="0" algn="bl" rotWithShape="0" blurRad="101600" dist="38100" dir="8100000">
              <a:srgbClr val="000000">
                <a:alpha val="12000"/>
              </a:srgbClr>
            </a:outerShdw>
          </a:effectLst>
        </p:spPr>
      </p:sp>
      <p:sp>
        <p:nvSpPr>
          <p:cNvPr id="21" name="Text 19"/>
          <p:cNvSpPr/>
          <p:nvPr/>
        </p:nvSpPr>
        <p:spPr>
          <a:xfrm>
            <a:off x="3246120" y="3108960"/>
            <a:ext cx="2651760" cy="32004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M13</a:t>
            </a:r>
            <a:endParaRPr lang="en-US" sz="1100" dirty="0"/>
          </a:p>
        </p:txBody>
      </p:sp>
      <p:sp>
        <p:nvSpPr>
          <p:cNvPr id="22" name="Text 20"/>
          <p:cNvSpPr/>
          <p:nvPr/>
        </p:nvSpPr>
        <p:spPr>
          <a:xfrm>
            <a:off x="3246120" y="342900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BDD</a:t>
            </a:r>
            <a:endParaRPr lang="en-US" sz="1800" dirty="0"/>
          </a:p>
        </p:txBody>
      </p:sp>
      <p:sp>
        <p:nvSpPr>
          <p:cNvPr id="23" name="Text 21"/>
          <p:cNvSpPr/>
          <p:nvPr/>
        </p:nvSpPr>
        <p:spPr>
          <a:xfrm>
            <a:off x="3246120" y="3977640"/>
            <a:ext cx="265176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LO3+</a:t>
            </a:r>
            <a:endParaRPr lang="en-US" sz="1000" dirty="0"/>
          </a:p>
        </p:txBody>
      </p:sp>
      <p:sp>
        <p:nvSpPr>
          <p:cNvPr id="24" name="Shape 22"/>
          <p:cNvSpPr/>
          <p:nvPr/>
        </p:nvSpPr>
        <p:spPr>
          <a:xfrm>
            <a:off x="6126480" y="3017520"/>
            <a:ext cx="2651760" cy="1554480"/>
          </a:xfrm>
          <a:prstGeom prst="rect">
            <a:avLst/>
          </a:prstGeom>
          <a:solidFill>
            <a:srgbClr val="32E0C4"/>
          </a:solidFill>
          <a:ln/>
          <a:effectLst>
            <a:outerShdw sx="100000" sy="100000" kx="0" ky="0" algn="bl" rotWithShape="0" blurRad="101600" dist="38100" dir="8100000">
              <a:srgbClr val="000000">
                <a:alpha val="12000"/>
              </a:srgbClr>
            </a:outerShdw>
          </a:effectLst>
        </p:spPr>
      </p:sp>
      <p:sp>
        <p:nvSpPr>
          <p:cNvPr id="25" name="Text 23"/>
          <p:cNvSpPr/>
          <p:nvPr/>
        </p:nvSpPr>
        <p:spPr>
          <a:xfrm>
            <a:off x="6126480" y="3108960"/>
            <a:ext cx="2651760" cy="32004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M14</a:t>
            </a:r>
            <a:endParaRPr lang="en-US" sz="1100" dirty="0"/>
          </a:p>
        </p:txBody>
      </p:sp>
      <p:sp>
        <p:nvSpPr>
          <p:cNvPr id="26" name="Text 24"/>
          <p:cNvSpPr/>
          <p:nvPr/>
        </p:nvSpPr>
        <p:spPr>
          <a:xfrm>
            <a:off x="6126480" y="3429000"/>
            <a:ext cx="2651760" cy="457200"/>
          </a:xfrm>
          <a:prstGeom prst="rect">
            <a:avLst/>
          </a:prstGeom>
          <a:noFill/>
          <a:ln/>
        </p:spPr>
        <p:txBody>
          <a:bodyPr wrap="square"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Swing</a:t>
            </a:r>
            <a:endParaRPr lang="en-US" sz="1800" dirty="0"/>
          </a:p>
        </p:txBody>
      </p:sp>
      <p:sp>
        <p:nvSpPr>
          <p:cNvPr id="27" name="Text 25"/>
          <p:cNvSpPr/>
          <p:nvPr/>
        </p:nvSpPr>
        <p:spPr>
          <a:xfrm>
            <a:off x="6126480" y="3977640"/>
            <a:ext cx="265176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LO2 Events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Enseignant M09-M14</dc:title>
  <dc:subject>PptxGenJS Presentation</dc:subject>
  <dc:creator>CodeQuest</dc:creator>
  <cp:lastModifiedBy>CodeQuest</cp:lastModifiedBy>
  <cp:revision>1</cp:revision>
  <dcterms:created xsi:type="dcterms:W3CDTF">2026-03-22T05:09:54Z</dcterms:created>
  <dcterms:modified xsi:type="dcterms:W3CDTF">2026-03-22T05:09:54Z</dcterms:modified>
</cp:coreProperties>
</file>